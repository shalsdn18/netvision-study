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54" y="13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727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LLM 응용 개발 입문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249631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DDEA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Ollama · Python · Flask · LangChain · RAG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13232" y="5897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김완석 </a:t>
            </a:r>
            <a:r>
              <a:rPr lang="en-US" sz="1600" dirty="0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 </a:t>
            </a:r>
            <a:r>
              <a:rPr lang="en-US" sz="1600" dirty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|  </a:t>
            </a:r>
            <a:r>
              <a:rPr lang="ko-KR" altLang="en-US" sz="1600" dirty="0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㈜</a:t>
            </a:r>
            <a:r>
              <a:rPr lang="ko-KR" altLang="en-US" sz="1600" dirty="0" err="1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넷비젼텔레콤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4198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LLM을 “쓸 수 있는 서비스”로 연결하는 첫 단계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LLM 응용 개발이란?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fontScale="85000" lnSpcReduction="10000"/>
          </a:bodyPr>
          <a:lstStyle/>
          <a:p>
            <a:pPr marL="0" lvl="0" indent="0" algn="l">
              <a:buNone/>
              <a:defRPr/>
            </a:pP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모델을 새로 만드는 일이 아</a:t>
            </a:r>
            <a:r>
              <a:rPr lang="ko-KR" alt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니고</a:t>
            </a:r>
            <a:r>
              <a:rPr lang="en-US" altLang="ko-KR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, </a:t>
            </a: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이미 있는 LLM을 코드·데이터·웹 API와 연결하는 작업입니다.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298448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입력 제어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298448" y="3062665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77500" lnSpcReduction="2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사용자 질문을 정리하고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위험한 입력을 걸러낸다.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11880" y="233172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178808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모델 호출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178808" y="3062665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Ollama 또는 API로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LLM에게 지시한다.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059168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문서 보강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059168" y="3062665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내 자료를 검색해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근거로 제공한다.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372600" y="233172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939528" y="2322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응답 검증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939528" y="3062665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형식·길이·오류를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서비스에 맞게 고친다.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645152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2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개발자의 핵심 역할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3291840" y="4517136"/>
            <a:ext cx="79552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3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모델을 믿고 방치하지 않는다</a:t>
            </a:r>
            <a:endParaRPr lang="en-US" sz="23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3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입력·프롬프트·출력 형식을 제어한다</a:t>
            </a:r>
            <a:endParaRPr lang="en-US" sz="23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3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필요한 지식을 문서로 보강한다</a:t>
            </a:r>
            <a:endParaRPr lang="en-US" sz="2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개발</a:t>
            </a: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자 학습 순서</a:t>
            </a:r>
            <a:endParaRPr lang="en-US" sz="3100" b="1">
              <a:solidFill>
                <a:srgbClr val="12314f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4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한 번에 큰 챗봇을 만들지 말고, 성공 지점을 하나씩 쌓아갑니다.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252728" y="21396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Python 단독 호출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252728" y="2805648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가장 작은 함수로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 응답 받기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178808" y="21396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Flask API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178808" y="2805648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/chat 주소로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질문·답변 주고받기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104888" y="21396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LangChain Chain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104888" y="2805648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Prompt와 LLM을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표준 흐름으로 연결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464040" y="214884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0030968" y="21396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RAG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10030967" y="2805648"/>
            <a:ext cx="1905659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내 문서를 검색해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근거 기반 답변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424160" cy="658368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8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권장 실습 결과물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1143000" y="5468112"/>
            <a:ext cx="9784080" cy="438912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“내가 넣은 txt 문서만 근거로 답하는 간단한 웹 API”</a:t>
            </a:r>
            <a:endParaRPr lang="en-US" sz="2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개발 환경 준비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5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자는 먼저 로컬에서 실행되는 최소 환경을 맞춥니다.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22960" y="2310765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38988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Python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38988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가상환경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pip 설치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11880" y="2310765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17880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Ollama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17880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로컬 LLM 서버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11434 포트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00800" y="2310765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696772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모델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696772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qwen2.5:7b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nomic-embed-text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189720" y="2310765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75664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라이브러리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75664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requests · flask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langchain · faiss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596765"/>
            <a:ext cx="2743200" cy="347472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가장 먼저 확인할 것</a:t>
            </a:r>
            <a:endParaRPr lang="en-US" sz="2300"/>
          </a:p>
        </p:txBody>
      </p:sp>
      <p:sp>
        <p:nvSpPr>
          <p:cNvPr id="21" name="Text 19"/>
          <p:cNvSpPr/>
          <p:nvPr/>
        </p:nvSpPr>
        <p:spPr>
          <a:xfrm>
            <a:off x="3657600" y="4413885"/>
            <a:ext cx="74066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Ollama가 실행 중인가?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코드의 model 이름이 실제 모델명과 같은가?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data 폴더에 .txt 문서가 있는가?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인덱싱을 먼저 실행했는가?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1단계: Ollama API 호출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6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LLM은 “함수처럼 호출하는 웹 API”로 생각하면 쉽습니다.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5727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입력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5727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prompt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사용자 질문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749040" y="233172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3159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요청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3159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POST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/api/generate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0591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모델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0591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qwen2.5:7b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로컬 추론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235440" y="233172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8023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출력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8023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response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답변 텍스트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자 핵심</a:t>
            </a:r>
            <a:endParaRPr lang="en-US" sz="2300" b="1">
              <a:solidFill>
                <a:srgbClr val="246bfe"/>
              </a:solidFill>
              <a:latin typeface="NanumBarunGothic"/>
              <a:ea typeface="NanumBarunGothic"/>
              <a:cs typeface="NanumBarunGothic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46120" y="4389120"/>
            <a:ext cx="78638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model은 사용할 LLM 이름이다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prompt는 질문 또는 지시문이다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stream=False는 답변을 한 번에 받는 설정이다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timeout과 오류 처리는 반드시 둔다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Ollama 호출 코드의 핵심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OLLAMA_API = "http://localhost:11434/api/generate"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def call_ollama(prompt: str) -&gt; str: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payload = {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    "model": "qwen2.5:7b-instruct-q4_K_M",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    "prompt": prompt,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    "stream": False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}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response = requests.post(OLLAMA_API, json=payload, timeout=60)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response.raise_for_status()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return response.json().get("response", "")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60920" y="1581912"/>
            <a:ext cx="13716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읽는 법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60920" y="2148840"/>
            <a:ext cx="416052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입력은 prompt 문자열이다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Ollama는 localhost:11434에서 대기한다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모델 이름이 맞아야 실행된다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반환값은 response 텍스트다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60919" y="4800600"/>
            <a:ext cx="4485091" cy="841248"/>
          </a:xfrm>
          <a:prstGeom prst="rect">
            <a:avLst/>
          </a:prstGeom>
          <a:solidFill>
            <a:srgbClr val="FFF4D6"/>
          </a:solidFill>
          <a:ln w="10160">
            <a:solidFill>
              <a:srgbClr val="FFF4D6"/>
            </a:solidFill>
          </a:ln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실습 질문 예시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“</a:t>
            </a:r>
            <a:r>
              <a:rPr lang="en-US" sz="2300" b="1" dirty="0" err="1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RAG를</a:t>
            </a: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 </a:t>
            </a:r>
            <a:r>
              <a:rPr lang="ko-KR" altLang="en-US" sz="2300" b="1" dirty="0" smtClean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개발</a:t>
            </a:r>
            <a:r>
              <a:rPr lang="en-US" sz="2300" b="1" dirty="0" err="1" smtClean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자에게</a:t>
            </a:r>
            <a:r>
              <a:rPr lang="en-US" sz="2300" b="1" dirty="0" smtClean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 </a:t>
            </a: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쉽게 설명해줘.”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2단계: Flask는 중간 제어 레이어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Flask는 사용자와 LLM 사이에서 입력과 출력을 통제합니다.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89888" y="2946514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브라우저 또는 앱에서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질문을 보낸다.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7880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Flask /chat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178808" y="294651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JSON 입력 수신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LLM 요청 생성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6772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Ollama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67728" y="294651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모델 실행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답변 생성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224028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5664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응답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56648" y="294651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answer 필드로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JSON 반환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4590288"/>
            <a:ext cx="3840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실무에서 Flask 레이어에 추가할 것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4709160" y="4389120"/>
            <a:ext cx="6766560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인증 · 접근권한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입력 길이 제한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로그 저장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금칙어와 응답 형식 검증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Flask /chat 엔드포인트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9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6492240" cy="461772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@app.route("/chat", methods=["POST"])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def chat():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prompt = request.json.get("prompt", "")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payload = {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    "model": "qwen2.5:7b-instruct-q4_K_M",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    "prompt": prompt,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    "stream": False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}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response = requests.post(OLLAMA_API, json=payload, timeout=60)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return jsonify({"answer": response.json().get("response", "")})</a:t>
            </a:r>
            <a:endParaRPr lang="en-US" sz="1520"/>
          </a:p>
        </p:txBody>
      </p:sp>
      <p:sp>
        <p:nvSpPr>
          <p:cNvPr id="8" name="Text 6"/>
          <p:cNvSpPr/>
          <p:nvPr/>
        </p:nvSpPr>
        <p:spPr>
          <a:xfrm>
            <a:off x="7388352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한 줄 요약</a:t>
            </a:r>
            <a:endParaRPr lang="en-US" sz="2300"/>
          </a:p>
        </p:txBody>
      </p:sp>
      <p:sp>
        <p:nvSpPr>
          <p:cNvPr id="9" name="Text 7"/>
          <p:cNvSpPr/>
          <p:nvPr/>
        </p:nvSpPr>
        <p:spPr>
          <a:xfrm>
            <a:off x="7388352" y="2240280"/>
            <a:ext cx="4114800" cy="1097280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ctr">
              <a:buNone/>
              <a:defRPr/>
            </a:pPr>
            <a:r>
              <a:rPr lang="en-US" sz="24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사용자의 prompt를 받아</a:t>
            </a:r>
            <a:endParaRPr lang="en-US" sz="2400" b="1">
              <a:solidFill>
                <a:srgbClr val="12314f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 algn="ctr">
              <a:buNone/>
              <a:defRPr/>
            </a:pPr>
            <a:r>
              <a:rPr lang="en-US" sz="24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Ollama에 전달하고,</a:t>
            </a:r>
            <a:endParaRPr lang="en-US" sz="2400" b="1">
              <a:solidFill>
                <a:srgbClr val="12314f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 algn="ctr">
              <a:buNone/>
              <a:defRPr/>
            </a:pPr>
            <a:r>
              <a:rPr lang="en-US" sz="24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answer JSON으로 돌려준다.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7388352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2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POST 요청 예시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7388352" y="4480560"/>
            <a:ext cx="4114800" cy="804672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160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{</a:t>
            </a:r>
            <a:endParaRPr lang="en-US" sz="160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60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"prompt": "LangChain을 쉽게 설명해줘"</a:t>
            </a:r>
            <a:endParaRPr lang="en-US" sz="160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60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}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3단계: LangChain 기본 구조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10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LangChain은 Prompt, LLM, 실행 단계를 일정한 흐름으로 묶어줍니다.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43560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Prompt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435607" y="2897088"/>
            <a:ext cx="2493569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역할·질문·답변 규칙을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문장으로 정의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57600" y="224028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22452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LLM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224528" y="288885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ChatOllama로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모델 객체 생성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01344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Chain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013448" y="288885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prompt | llm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연결 파이프라인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235440" y="224028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80236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Invoke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802368" y="288885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입력값을 넣어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결과 실행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219456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자 관점</a:t>
            </a:r>
            <a:endParaRPr lang="en-US" sz="2300" b="1">
              <a:solidFill>
                <a:srgbClr val="246bfe"/>
              </a:solidFill>
              <a:latin typeface="NanumBarunGothic"/>
              <a:ea typeface="NanumBarunGothic"/>
              <a:cs typeface="NanumBarunGothic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46120" y="4434840"/>
            <a:ext cx="81381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LangChain은 “마법”이 아니라 연결 규칙이다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코드 흐름을 표준화해 반복 실습이 쉬워진다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나중에 Retriever, RAG, Tool과 연결하기 좋다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Basic QA: 가장 작은 LLM 앱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6492240" cy="4645152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llm = ChatOllama(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model="qwen2.5:7b-instruct-q4_K_M",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temperature=0.2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prompt = ChatPromptTemplate.from_messages([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("system", "You are a friendly tutor."),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("human", "Explain LangChain in simple terms.")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])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chain = prompt | llm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result = chain.invoke({})</a:t>
            </a:r>
            <a:endParaRPr lang="en-US" sz="1520"/>
          </a:p>
        </p:txBody>
      </p:sp>
      <p:sp>
        <p:nvSpPr>
          <p:cNvPr id="8" name="Text 6"/>
          <p:cNvSpPr/>
          <p:nvPr/>
        </p:nvSpPr>
        <p:spPr>
          <a:xfrm>
            <a:off x="7406640" y="1737360"/>
            <a:ext cx="164592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성공 기준</a:t>
            </a:r>
            <a:endParaRPr lang="en-US" sz="2300"/>
          </a:p>
        </p:txBody>
      </p:sp>
      <p:sp>
        <p:nvSpPr>
          <p:cNvPr id="9" name="Text 7"/>
          <p:cNvSpPr/>
          <p:nvPr/>
        </p:nvSpPr>
        <p:spPr>
          <a:xfrm>
            <a:off x="7406640" y="2240280"/>
            <a:ext cx="41605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터미널에 답변이 출력된다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temperature를 낮추면 답변이 안정적이다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system 메시지로 말투와 역할을 정한다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human 메시지에 실제 질문을 넣는다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7406640" y="4800600"/>
            <a:ext cx="4160520" cy="777240"/>
          </a:xfrm>
          <a:prstGeom prst="rect">
            <a:avLst/>
          </a:prstGeom>
          <a:solidFill>
            <a:srgbClr val="fff4d6"/>
          </a:solidFill>
          <a:ln w="10160">
            <a:solidFill>
              <a:srgbClr val="fff4d6"/>
            </a:solidFill>
          </a:ln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처음 목표는 “챗봇 완성”이 아니라</a:t>
            </a:r>
            <a:endParaRPr lang="en-US" sz="2200" b="1">
              <a:solidFill>
                <a:srgbClr val="12314f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한 번의 질문-답변 성공입니다.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4단계: RAG는 왜 필요한가?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12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LLM이 모르는 내 문서를 검색해서, 답변의 근거로 붙여주는 방식입니다.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ef4444"/>
                </a:solidFill>
                <a:latin typeface="NanumSquare"/>
                <a:ea typeface="NanumSquare"/>
                <a:cs typeface="NanumSquare"/>
              </a:rPr>
              <a:t>일반 LLM 답변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822960" y="2762562"/>
            <a:ext cx="33832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사전 학습 지식에 의존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최신 자료·사내 문서에 약함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그럴듯한 오답 위험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00a7a5"/>
                </a:solidFill>
                <a:latin typeface="NanumSquare"/>
                <a:ea typeface="NanumSquare"/>
                <a:cs typeface="NanumSquare"/>
              </a:rPr>
              <a:t>RAG 답변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4526280" y="2762562"/>
            <a:ext cx="33832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관련 문서 조각을 먼저 검색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그 문서만 근거로 답변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출처와 통제가 쉬움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8229600" y="2148840"/>
            <a:ext cx="3200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2100" b="1">
                <a:solidFill>
                  <a:srgbClr val="246bfe"/>
                </a:solidFill>
                <a:latin typeface="NanumSquare"/>
                <a:ea typeface="NanumSquare"/>
                <a:cs typeface="NanumSquare"/>
              </a:rPr>
              <a:t>개발</a:t>
            </a:r>
            <a:r>
              <a:rPr lang="en-US" sz="2100" b="1">
                <a:solidFill>
                  <a:srgbClr val="246bfe"/>
                </a:solidFill>
                <a:latin typeface="NanumSquare"/>
                <a:ea typeface="NanumSquare"/>
                <a:cs typeface="NanumSquare"/>
              </a:rPr>
              <a:t>자 이해</a:t>
            </a:r>
            <a:endParaRPr lang="en-US" sz="2100" b="1">
              <a:solidFill>
                <a:srgbClr val="246bfe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0" y="2762562"/>
            <a:ext cx="3200400" cy="14630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“책을 펴놓고 답하는 LLM”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문서에 없으면 없다고 답하게 함</a:t>
            </a:r>
            <a:endParaRPr lang="en-US" sz="210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10515600" cy="530352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5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핵심 규칙: “제공된 문서에 근거해서만 답하라. 없으면 없다고 말하라.”</a:t>
            </a:r>
            <a:endParaRPr lang="en-US" sz="2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RAG 전체 흐름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RAG는 Retrieve → Augment → Generate 세 단계로 이해하면 됩니다.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481328" y="236829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Retrieve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481328" y="3124859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질문과 관련된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문서 조각 검색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138928" y="236829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Augment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5138928" y="3124859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검색된 내용을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프롬프트에 추가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8229600" y="237744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8796528" y="236829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Generate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8796528" y="3124859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LLM이 문서를 근거로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답변 생성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09728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RAG의 본질</a:t>
            </a:r>
            <a:endParaRPr lang="en-US" sz="2300"/>
          </a:p>
        </p:txBody>
      </p:sp>
      <p:sp>
        <p:nvSpPr>
          <p:cNvPr id="18" name="Text 16"/>
          <p:cNvSpPr/>
          <p:nvPr/>
        </p:nvSpPr>
        <p:spPr>
          <a:xfrm>
            <a:off x="3246120" y="4599432"/>
            <a:ext cx="7589520" cy="566928"/>
          </a:xfrm>
          <a:prstGeom prst="rect">
            <a:avLst/>
          </a:prstGeom>
          <a:solidFill>
            <a:srgbClr val="fff4d6"/>
          </a:solidFill>
          <a:ln w="10160">
            <a:solidFill>
              <a:srgbClr val="fff4d6"/>
            </a:solidFill>
          </a:ln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9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검색 결과를 “프롬프트 재료”로 넣는 것</a:t>
            </a:r>
            <a:endParaRPr lang="en-US" sz="2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RAG ① Ingestion: 문서를 인덱스로 만들기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문서를 읽고, 작은 조각으로 나눈 뒤, 벡터 DB에 저장합니다.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2203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Loader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4168" y="29190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data/*.txt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 읽기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212848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203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Splitter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38728" y="29190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500자 단위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50자 겹침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212848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33288" y="22037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Embedding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33288" y="291908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nomic-embed-text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숫자 벡터화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26680" y="2212848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3608" y="2203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FAISS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93608" y="29190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검색 가능한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인덱스 저장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21240" y="2212848"/>
            <a:ext cx="438912" cy="438912"/>
          </a:xfrm>
          <a:prstGeom prst="rect">
            <a:avLst/>
          </a:prstGeom>
          <a:solidFill>
            <a:srgbClr val="12314F"/>
          </a:solidFill>
          <a:ln>
            <a:solidFill>
              <a:srgbClr val="12314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88168" y="220370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Index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88168" y="29190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faiss_index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폴더 생성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10424160" cy="109728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documents = loader.load()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chunks = splitter.split_documents(documents)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embeddings = OllamaEmbeddings(model="nomic-embed-text")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db = FAISS.from_documents(chunks, embeddings)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db.save_local(str(INDEX_DIR))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RAG ② QA: 문서를 근거로 답하기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질문을 검색어처럼 사용해 관련 문서 조각을 찾고, 그 조각만 LLM에 제공합니다.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Question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416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사용자 질문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24028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Retriever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3872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관련 문서 검색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24028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3328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Context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3328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 조각 결합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60920" y="224028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2784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Prompt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92784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문서만 사용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55480" y="2240280"/>
            <a:ext cx="438912" cy="438912"/>
          </a:xfrm>
          <a:prstGeom prst="rect">
            <a:avLst/>
          </a:prstGeom>
          <a:solidFill>
            <a:srgbClr val="12314F"/>
          </a:solidFill>
          <a:ln>
            <a:solidFill>
              <a:srgbClr val="12314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2240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Answer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12240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근거 답변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5760720" cy="141732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docs = retriever.invoke(question)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context = "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".join(doc.page_content for doc in docs)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answer = (prompt | llm).invoke({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"context": context,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"question": question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})</a:t>
            </a:r>
            <a:endParaRPr lang="en-US" sz="162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프롬프트 규칙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4617720"/>
            <a:ext cx="4297680" cy="960120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Answer using ONLY the context.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If not in context, say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“Not found in document.”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실습 실행 순서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아래 순서대로 하면 어디에서 막혔는지 쉽게 찾을 수 있습니다.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272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Ollama 실행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52728" y="269031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ollama serve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모델 pull 확인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2452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Basic QA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24528" y="269031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01_basic_qa.py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단독 실행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632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문서 준비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96328" y="269031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data/*.txt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학습자료 넣기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2728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인덱싱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52728" y="4543830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02_ingest.py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faiss_index 생성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0" y="3977640"/>
            <a:ext cx="438912" cy="438912"/>
          </a:xfrm>
          <a:prstGeom prst="rect">
            <a:avLst/>
          </a:prstGeom>
          <a:solidFill>
            <a:srgbClr val="12314F"/>
          </a:solidFill>
          <a:ln>
            <a:solidFill>
              <a:srgbClr val="12314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24528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RAG 질의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224528" y="4543830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03_rag_qa.py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 기반 답변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3977640"/>
            <a:ext cx="438912" cy="4389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96328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웹 API화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196328" y="4543830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Flask /chat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POST 테스트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주의: RAG QA 전에 반드시 Ingestion을 먼저 실행해야 합니다.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개발</a:t>
            </a: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자가 자주 만나는 오류</a:t>
            </a:r>
            <a:endParaRPr lang="en-US" sz="3100" b="1">
              <a:solidFill>
                <a:srgbClr val="12314f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17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오류는 대부분 서버 상태, 모델 이름, 파일 경로에서 발생합니다.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ef4444"/>
                </a:solidFill>
                <a:latin typeface="NanumSquare"/>
                <a:ea typeface="NanumSquare"/>
                <a:cs typeface="NanumSquare"/>
              </a:rPr>
              <a:t>연결 실패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777240" y="2621694"/>
            <a:ext cx="3429000" cy="91440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Ollama 실행 여부 확인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11434 포트 확인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4434840" y="205740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모델 없음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4434840" y="2621694"/>
            <a:ext cx="3429000" cy="91440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코드의 model 이름과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ollama list 결과 비교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8092440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00a7a5"/>
                </a:solidFill>
                <a:latin typeface="NanumSquare"/>
                <a:ea typeface="NanumSquare"/>
                <a:cs typeface="NanumSquare"/>
              </a:rPr>
              <a:t>문서 없음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8092440" y="2621694"/>
            <a:ext cx="3246120" cy="91440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data 폴더 위치와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.txt 파일 존재 확인</a:t>
            </a:r>
            <a:endParaRPr lang="en-US" sz="210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246bfe"/>
                </a:solidFill>
                <a:latin typeface="NanumSquare"/>
                <a:ea typeface="NanumSquare"/>
                <a:cs typeface="NanumSquare"/>
              </a:rPr>
              <a:t>FAISS 오류</a:t>
            </a:r>
            <a:endParaRPr lang="en-US" sz="2100"/>
          </a:p>
        </p:txBody>
      </p:sp>
      <p:sp>
        <p:nvSpPr>
          <p:cNvPr id="15" name="Text 13"/>
          <p:cNvSpPr/>
          <p:nvPr/>
        </p:nvSpPr>
        <p:spPr>
          <a:xfrm>
            <a:off x="777240" y="4816254"/>
            <a:ext cx="3429000" cy="7772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인덱싱을 먼저 실행했는지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faiss_index 폴더 확인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4434840" y="425196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7c3aed"/>
                </a:solidFill>
                <a:latin typeface="NanumSquare"/>
                <a:ea typeface="NanumSquare"/>
                <a:cs typeface="NanumSquare"/>
              </a:rPr>
              <a:t>응답 느림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4434840" y="4816254"/>
            <a:ext cx="3429000" cy="7772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모델 크기 축소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timeout 증가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입력 길이 축소</a:t>
            </a:r>
            <a:endParaRPr lang="en-US" sz="2100"/>
          </a:p>
        </p:txBody>
      </p:sp>
      <p:sp>
        <p:nvSpPr>
          <p:cNvPr id="18" name="Text 16"/>
          <p:cNvSpPr/>
          <p:nvPr/>
        </p:nvSpPr>
        <p:spPr>
          <a:xfrm>
            <a:off x="8092440" y="4251960"/>
            <a:ext cx="3246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엉뚱한 답변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8092440" y="4816254"/>
            <a:ext cx="3246120" cy="7772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system prompt 강화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“문서만 사용” 규칙 강화</a:t>
            </a:r>
            <a:endParaRPr lang="en-US" sz="2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미니 프로젝트: 수업자료 Q&amp;A API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최종 산출물은 “내 자료를 읽고 답하는 간단한 웹 API”입니다.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3560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강의안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매뉴얼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FAQ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9592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인덱스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99592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분할·임베딩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FAISS 저장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89320" y="233172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5624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질의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5624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질문 입력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관련 문서 검색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33172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65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답변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1656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근거 기반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요약·안내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800600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완성 판단 기준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3337560" y="4645152"/>
            <a:ext cx="7589520" cy="621792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웹 API가 JSON 답변을 반환하고, 답변이 내가 넣은 문서 내용에 근거한다.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8603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정리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19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7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LLM 응용 개발은 “모델 + 코드 + 데이터 + API”를 연결하는 작업입니다.</a:t>
            </a:r>
            <a:endParaRPr lang="en-US" sz="270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100584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Ollama: 로컬 LLM을 API처럼 호출한다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Flask: 사용자 요청과 LLM 응답을 제어한다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LangChain: Prompt와 LLM 흐름을 표준화한다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RAG: 내 문서를 검색해 근거 기반 답변을 만든다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</a:t>
            </a:r>
            <a:r>
              <a:rPr lang="ko-KR" alt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자는 Basic QA → Flask → RAG 순서로 확장한다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005840" y="5559552"/>
            <a:ext cx="201168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en-US" sz="31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Q &amp; A</a:t>
            </a:r>
            <a:endParaRPr lang="en-US" sz="3100"/>
          </a:p>
        </p:txBody>
      </p:sp>
      <p:sp>
        <p:nvSpPr>
          <p:cNvPr id="10" name="Text 8"/>
          <p:cNvSpPr/>
          <p:nvPr/>
        </p:nvSpPr>
        <p:spPr>
          <a:xfrm>
            <a:off x="8869680" y="5577840"/>
            <a:ext cx="2377440" cy="347472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r">
              <a:buNone/>
              <a:defRPr/>
            </a:pPr>
            <a:r>
              <a:rPr lang="en-US" sz="2400" b="1"/>
              <a:t>Thank for you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BarunGothic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OpenAI</ep:Company>
  <ep:Words>1008</ep:Words>
  <ep:PresentationFormat>와이드스크린</ep:PresentationFormat>
  <ep:Paragraphs>389</ep:Paragraphs>
  <ep:Slides>18</ep:Slides>
  <ep:Notes>18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2026-08-19T02:51:55.000</dcterms:created>
  <dc:creator>OpenAI</dc:creator>
  <cp:lastModifiedBy>김완석</cp:lastModifiedBy>
  <dcterms:modified xsi:type="dcterms:W3CDTF">2026-09-01T01:39:52.512</dcterms:modified>
  <cp:revision>8</cp:revision>
  <dc:subject>초보자용 LLM 응용 개발 교육자료</dc:subject>
  <dc:title>초보자용 LLM 응용 개발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