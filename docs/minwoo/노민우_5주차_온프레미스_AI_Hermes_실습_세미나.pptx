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32"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extLst>
      <p:ext uri="{BB962C8B-B14F-4D97-AF65-F5344CB8AC3E}">
        <p14:creationId xmlns:p14="http://schemas.microsoft.com/office/powerpoint/2010/main" val="39884337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자료 기준: 사용자가 제공한 기업 조사 4개 DOCX, Hermes Agent 실습 결과 정리.docx, 간단한 PoC 구현 결과.docx. 실습 결과는 문서 기록을 요약했으며 코드 또는 서버를 재실행해 검증하지 않았습니다. 기업 조사 자료의 모든 주장을 사실로 전제하지 않습니다.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93061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자료 기준: 사용자가 제공한 기업 조사 4개 DOCX, Hermes Agent 실습 결과 정리.docx, 간단한 PoC 구현 결과.docx. 실습 결과는 문서 기록을 요약했으며 코드 또는 서버를 재실행해 검증하지 않았습니다. 기업 조사 자료의 모든 주장을 사실로 전제하지 않습니다.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441813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자료 기준: 사용자가 제공한 기업 조사 4개 DOCX, Hermes Agent 실습 결과 정리.docx, 간단한 PoC 구현 결과.docx. 실습 결과는 문서 기록을 요약했으며 코드 또는 서버를 재실행해 검증하지 않았습니다. 기업 조사 자료의 모든 주장을 사실로 전제하지 않습니다.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027874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검증한 1차 출처</a:t>
            </a:r>
          </a:p>
          <a:p>
            <a:r>
              <a:t>미래에셋증권: https://navercorp.com/media/pressReleasesDetail?seq=32047 (2024-09-19). 금융 특화 sLLM 온프레미스 구축 완료 발표이며 정량 ROI를 입증하는 자료는 아닙니다.</a:t>
            </a:r>
          </a:p>
          <a:p>
            <a:r>
              <a:t>Lockheed Martin: https://www.nvidia.com/en-gb/case-studies/lockheed-martin-ai-factory-with-dgx-superpod/ . 공급사 고객 사례의 규모 설명이며 독립 평가 결과는 아닙니다. 확인일 2026-09-08.</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91275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자료 기준: 사용자가 제공한 기업 조사 4개 DOCX, Hermes Agent 실습 결과 정리.docx, 간단한 PoC 구현 결과.docx. 실습 결과는 문서 기록을 요약했으며 코드 또는 서버를 재실행해 검증하지 않았습니다. 기업 조사 자료의 모든 주장을 사실로 전제하지 않습니다.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691027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자료 기준: 사용자가 제공한 기업 조사 4개 DOCX, Hermes Agent 실습 결과 정리.docx, 간단한 PoC 구현 결과.docx. 실습 결과는 문서 기록을 요약했으며 코드 또는 서버를 재실행해 검증하지 않았습니다. 기업 조사 자료의 모든 주장을 사실로 전제하지 않습니다.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90580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자료 기준: 사용자가 제공한 기업 조사 4개 DOCX, Hermes Agent 실습 결과 정리.docx, 간단한 PoC 구현 결과.docx. 실습 결과는 문서 기록을 요약했으며 코드 또는 서버를 재실행해 검증하지 않았습니다. 기업 조사 자료의 모든 주장을 사실로 전제하지 않습니다.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206105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자료 기준: 사용자가 제공한 기업 조사 4개 DOCX, Hermes Agent 실습 결과 정리.docx, 간단한 PoC 구현 결과.docx. 실습 결과는 문서 기록을 요약했으며 코드 또는 서버를 재실행해 검증하지 않았습니다. 기업 조사 자료의 모든 주장을 사실로 전제하지 않습니다.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898702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자료 기준: 사용자가 제공한 기업 조사 4개 DOCX, Hermes Agent 실습 결과 정리.docx, 간단한 PoC 구현 결과.docx. 실습 결과는 문서 기록을 요약했으며 코드 또는 서버를 재실행해 검증하지 않았습니다. 기업 조사 자료의 모든 주장을 사실로 전제하지 않습니다.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462675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자료 기준: 사용자가 제공한 기업 조사 4개 DOCX, Hermes Agent 실습 결과 정리.docx, 간단한 PoC 구현 결과.docx. 실습 결과는 문서 기록을 요약했으며 코드 또는 서버를 재실행해 검증하지 않았습니다. 기업 조사 자료의 모든 주장을 사실로 전제하지 않습니다.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355306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자료 기준: 사용자가 제공한 기업 조사 4개 DOCX, Hermes Agent 실습 결과 정리.docx, 간단한 PoC 구현 결과.docx. 실습 결과는 문서 기록을 요약했으며 코드 또는 서버를 재실행해 검증하지 않았습니다. 기업 조사 자료의 모든 주장을 사실로 전제하지 않습니다.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035055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자료 기준: 사용자가 제공한 기업 조사 4개 DOCX, Hermes Agent 실습 결과 정리.docx, 간단한 PoC 구현 결과.docx. 실습 결과는 문서 기록을 요약했으며 코드 또는 서버를 재실행해 검증하지 않았습니다. 기업 조사 자료의 모든 주장을 사실로 전제하지 않습니다.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169223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D29"/>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52E6761F-C682-4F4A-A2E5-FF130FE264AE}"/>
              </a:ext>
            </a:extLst>
          </p:cNvPr>
          <p:cNvSpPr>
            <a:spLocks noGrp="1"/>
          </p:cNvSpPr>
          <p:nvPr/>
        </p:nvSpPr>
        <p:spPr>
          <a:xfrm>
            <a:off x="685800" y="685800"/>
            <a:ext cx="5905500" cy="266700"/>
          </a:xfrm>
          <a:prstGeom prst="rect">
            <a:avLst/>
          </a:prstGeom>
          <a:noFill/>
          <a:ln w="0">
            <a:noFill/>
            <a:prstDash val="solid"/>
          </a:ln>
        </p:spPr>
        <p:txBody>
          <a:bodyPr anchor="ctr"/>
          <a:lstStyle/>
          <a:p>
            <a:pPr algn="l"/>
            <a:r>
              <a:rPr sz="1125" b="1">
                <a:solidFill>
                  <a:srgbClr val="F59B23"/>
                </a:solidFill>
              </a:rPr>
              <a:t>주간 기술 세미나 · 조사와 실습</a:t>
            </a:r>
          </a:p>
        </p:txBody>
      </p:sp>
      <p:sp>
        <p:nvSpPr>
          <p:cNvPr id="2" name="직사각형 1">
            <a:extLst>
              <a:ext uri="{FF2B5EF4-FFF2-40B4-BE49-F238E27FC236}">
                <a16:creationId xmlns:a16="http://schemas.microsoft.com/office/drawing/2014/main" xmlns="" id="{24477D30-8146-47AF-958A-4C10BB3CC1D1}"/>
              </a:ext>
            </a:extLst>
          </p:cNvPr>
          <p:cNvSpPr>
            <a:spLocks noGrp="1"/>
          </p:cNvSpPr>
          <p:nvPr/>
        </p:nvSpPr>
        <p:spPr>
          <a:xfrm>
            <a:off x="685800" y="1428750"/>
            <a:ext cx="7239000" cy="1428750"/>
          </a:xfrm>
          <a:prstGeom prst="rect">
            <a:avLst/>
          </a:prstGeom>
          <a:noFill/>
          <a:ln w="0">
            <a:noFill/>
            <a:prstDash val="solid"/>
          </a:ln>
        </p:spPr>
        <p:txBody>
          <a:bodyPr anchor="ctr"/>
          <a:lstStyle/>
          <a:p>
            <a:pPr algn="l"/>
            <a:r>
              <a:rPr sz="4050" b="1">
                <a:solidFill>
                  <a:srgbClr val="FFFFFF"/>
                </a:solidFill>
              </a:rPr>
              <a:t>기업 온프레미스 AI</a:t>
            </a:r>
          </a:p>
          <a:p>
            <a:pPr algn="l"/>
            <a:r>
              <a:rPr sz="4050" b="1">
                <a:solidFill>
                  <a:srgbClr val="FFFFFF"/>
                </a:solidFill>
              </a:rPr>
              <a:t>Hermes 실습과 PoC</a:t>
            </a:r>
          </a:p>
        </p:txBody>
      </p:sp>
      <p:sp>
        <p:nvSpPr>
          <p:cNvPr id="3" name="직사각형 2">
            <a:extLst>
              <a:ext uri="{FF2B5EF4-FFF2-40B4-BE49-F238E27FC236}">
                <a16:creationId xmlns:a16="http://schemas.microsoft.com/office/drawing/2014/main" xmlns="" id="{57E5E1BC-4254-4AB8-ADD1-093E4671A1B0}"/>
              </a:ext>
            </a:extLst>
          </p:cNvPr>
          <p:cNvSpPr>
            <a:spLocks noGrp="1"/>
          </p:cNvSpPr>
          <p:nvPr/>
        </p:nvSpPr>
        <p:spPr>
          <a:xfrm>
            <a:off x="723900" y="3105150"/>
            <a:ext cx="6477000" cy="400050"/>
          </a:xfrm>
          <a:prstGeom prst="rect">
            <a:avLst/>
          </a:prstGeom>
          <a:noFill/>
          <a:ln w="0">
            <a:noFill/>
            <a:prstDash val="solid"/>
          </a:ln>
        </p:spPr>
        <p:txBody>
          <a:bodyPr anchor="ctr"/>
          <a:lstStyle/>
          <a:p>
            <a:pPr algn="l"/>
            <a:r>
              <a:rPr sz="1875" b="0">
                <a:solidFill>
                  <a:srgbClr val="9FC7E0"/>
                </a:solidFill>
              </a:rPr>
              <a:t>기업 도입 사례 → Agent 실습 → 검증 결과</a:t>
            </a:r>
          </a:p>
        </p:txBody>
      </p:sp>
      <p:sp>
        <p:nvSpPr>
          <p:cNvPr id="4" name="직사각형 3">
            <a:extLst>
              <a:ext uri="{FF2B5EF4-FFF2-40B4-BE49-F238E27FC236}">
                <a16:creationId xmlns:a16="http://schemas.microsoft.com/office/drawing/2014/main" xmlns="" id="{6A3D899B-42BC-484D-BC1A-D525DFC1E098}"/>
              </a:ext>
            </a:extLst>
          </p:cNvPr>
          <p:cNvSpPr>
            <a:spLocks noGrp="1"/>
          </p:cNvSpPr>
          <p:nvPr/>
        </p:nvSpPr>
        <p:spPr>
          <a:xfrm>
            <a:off x="723900" y="3781425"/>
            <a:ext cx="2857500" cy="38100"/>
          </a:xfrm>
          <a:prstGeom prst="rect">
            <a:avLst/>
          </a:prstGeom>
          <a:solidFill>
            <a:srgbClr val="3BB7A0"/>
          </a:solidFill>
          <a:ln w="0">
            <a:solidFill>
              <a:srgbClr val="3BB7A0"/>
            </a:solidFill>
            <a:prstDash val="solid"/>
          </a:ln>
        </p:spPr>
      </p:sp>
      <p:sp>
        <p:nvSpPr>
          <p:cNvPr id="5" name="직사각형 4">
            <a:extLst>
              <a:ext uri="{FF2B5EF4-FFF2-40B4-BE49-F238E27FC236}">
                <a16:creationId xmlns:a16="http://schemas.microsoft.com/office/drawing/2014/main" xmlns="" id="{94E1A8BA-267F-4FD8-B324-88D347712452}"/>
              </a:ext>
            </a:extLst>
          </p:cNvPr>
          <p:cNvSpPr>
            <a:spLocks noGrp="1"/>
          </p:cNvSpPr>
          <p:nvPr/>
        </p:nvSpPr>
        <p:spPr>
          <a:xfrm>
            <a:off x="723900" y="4095750"/>
            <a:ext cx="6858000" cy="857250"/>
          </a:xfrm>
          <a:prstGeom prst="rect">
            <a:avLst/>
          </a:prstGeom>
          <a:noFill/>
          <a:ln w="0">
            <a:noFill/>
            <a:prstDash val="solid"/>
          </a:ln>
        </p:spPr>
        <p:txBody>
          <a:bodyPr anchor="ctr"/>
          <a:lstStyle/>
          <a:p>
            <a:pPr algn="l"/>
            <a:r>
              <a:rPr sz="1650" b="0">
                <a:solidFill>
                  <a:srgbClr val="D4E1EA"/>
                </a:solidFill>
              </a:rPr>
              <a:t>AI를 어디에 배치하고, 어떤 일을 맡길 것인가?</a:t>
            </a:r>
          </a:p>
          <a:p>
            <a:pPr algn="l"/>
            <a:r>
              <a:rPr sz="1650" b="0">
                <a:solidFill>
                  <a:srgbClr val="D4E1EA"/>
                </a:solidFill>
              </a:rPr>
              <a:t>기업 조사와 직접 실습한 결과를 구분해 살펴본다.</a:t>
            </a:r>
          </a:p>
        </p:txBody>
      </p:sp>
      <p:sp>
        <p:nvSpPr>
          <p:cNvPr id="6" name="모서리가 둥근 직사각형 5">
            <a:extLst>
              <a:ext uri="{FF2B5EF4-FFF2-40B4-BE49-F238E27FC236}">
                <a16:creationId xmlns:a16="http://schemas.microsoft.com/office/drawing/2014/main" xmlns="" id="{6C61662B-966E-41FC-AFF4-0AA2C8065081}"/>
              </a:ext>
            </a:extLst>
          </p:cNvPr>
          <p:cNvSpPr>
            <a:spLocks noGrp="1"/>
          </p:cNvSpPr>
          <p:nvPr/>
        </p:nvSpPr>
        <p:spPr>
          <a:xfrm>
            <a:off x="8334375" y="1676400"/>
            <a:ext cx="1619250" cy="361950"/>
          </a:xfrm>
          <a:prstGeom prst="roundRect">
            <a:avLst>
              <a:gd name="adj" fmla="val 31579"/>
            </a:avLst>
          </a:prstGeom>
          <a:solidFill>
            <a:srgbClr val="17293A"/>
          </a:solidFill>
          <a:ln w="9525">
            <a:solidFill>
              <a:srgbClr val="17293A"/>
            </a:solidFill>
            <a:prstDash val="solid"/>
          </a:ln>
        </p:spPr>
      </p:sp>
      <p:sp>
        <p:nvSpPr>
          <p:cNvPr id="7" name="직사각형 6">
            <a:extLst>
              <a:ext uri="{FF2B5EF4-FFF2-40B4-BE49-F238E27FC236}">
                <a16:creationId xmlns:a16="http://schemas.microsoft.com/office/drawing/2014/main" xmlns="" id="{31DBAF66-075E-476B-8950-803336507C88}"/>
              </a:ext>
            </a:extLst>
          </p:cNvPr>
          <p:cNvSpPr>
            <a:spLocks noGrp="1"/>
          </p:cNvSpPr>
          <p:nvPr/>
        </p:nvSpPr>
        <p:spPr>
          <a:xfrm>
            <a:off x="8410575" y="1704975"/>
            <a:ext cx="1466850" cy="285750"/>
          </a:xfrm>
          <a:prstGeom prst="rect">
            <a:avLst/>
          </a:prstGeom>
          <a:noFill/>
          <a:ln w="0">
            <a:noFill/>
            <a:prstDash val="solid"/>
          </a:ln>
        </p:spPr>
        <p:txBody>
          <a:bodyPr anchor="ctr"/>
          <a:lstStyle/>
          <a:p>
            <a:pPr algn="ctr"/>
            <a:r>
              <a:rPr sz="1125" b="1">
                <a:solidFill>
                  <a:srgbClr val="3BB7A0"/>
                </a:solidFill>
              </a:rPr>
              <a:t>온프레미스 AI</a:t>
            </a:r>
          </a:p>
        </p:txBody>
      </p:sp>
      <p:sp>
        <p:nvSpPr>
          <p:cNvPr id="8" name="모서리가 둥근 직사각형 7">
            <a:extLst>
              <a:ext uri="{FF2B5EF4-FFF2-40B4-BE49-F238E27FC236}">
                <a16:creationId xmlns:a16="http://schemas.microsoft.com/office/drawing/2014/main" xmlns="" id="{8B9D5C80-39BD-4E9A-8C96-581CA6714956}"/>
              </a:ext>
            </a:extLst>
          </p:cNvPr>
          <p:cNvSpPr>
            <a:spLocks noGrp="1"/>
          </p:cNvSpPr>
          <p:nvPr/>
        </p:nvSpPr>
        <p:spPr>
          <a:xfrm>
            <a:off x="10048875" y="1676400"/>
            <a:ext cx="1619250" cy="361950"/>
          </a:xfrm>
          <a:prstGeom prst="roundRect">
            <a:avLst>
              <a:gd name="adj" fmla="val 31579"/>
            </a:avLst>
          </a:prstGeom>
          <a:solidFill>
            <a:srgbClr val="17293A"/>
          </a:solidFill>
          <a:ln w="9525">
            <a:solidFill>
              <a:srgbClr val="17293A"/>
            </a:solidFill>
            <a:prstDash val="solid"/>
          </a:ln>
        </p:spPr>
      </p:sp>
      <p:sp>
        <p:nvSpPr>
          <p:cNvPr id="9" name="직사각형 8">
            <a:extLst>
              <a:ext uri="{FF2B5EF4-FFF2-40B4-BE49-F238E27FC236}">
                <a16:creationId xmlns:a16="http://schemas.microsoft.com/office/drawing/2014/main" xmlns="" id="{A6828C4F-A686-47FA-B76B-83F3CA8C6468}"/>
              </a:ext>
            </a:extLst>
          </p:cNvPr>
          <p:cNvSpPr>
            <a:spLocks noGrp="1"/>
          </p:cNvSpPr>
          <p:nvPr/>
        </p:nvSpPr>
        <p:spPr>
          <a:xfrm>
            <a:off x="10125075" y="1704975"/>
            <a:ext cx="1466850" cy="285750"/>
          </a:xfrm>
          <a:prstGeom prst="rect">
            <a:avLst/>
          </a:prstGeom>
          <a:noFill/>
          <a:ln w="0">
            <a:noFill/>
            <a:prstDash val="solid"/>
          </a:ln>
        </p:spPr>
        <p:txBody>
          <a:bodyPr anchor="ctr"/>
          <a:lstStyle/>
          <a:p>
            <a:pPr algn="ctr"/>
            <a:r>
              <a:rPr sz="1125" b="1">
                <a:solidFill>
                  <a:srgbClr val="8FD12D"/>
                </a:solidFill>
              </a:rPr>
              <a:t>Agent · PoC</a:t>
            </a:r>
          </a:p>
        </p:txBody>
      </p:sp>
      <p:sp>
        <p:nvSpPr>
          <p:cNvPr id="10" name="모서리가 둥근 직사각형 9">
            <a:extLst>
              <a:ext uri="{FF2B5EF4-FFF2-40B4-BE49-F238E27FC236}">
                <a16:creationId xmlns:a16="http://schemas.microsoft.com/office/drawing/2014/main" xmlns="" id="{058D4F5D-680A-44C8-9D8F-1E3D7B216C6A}"/>
              </a:ext>
            </a:extLst>
          </p:cNvPr>
          <p:cNvSpPr>
            <a:spLocks noGrp="1"/>
          </p:cNvSpPr>
          <p:nvPr/>
        </p:nvSpPr>
        <p:spPr>
          <a:xfrm>
            <a:off x="8334375" y="2286000"/>
            <a:ext cx="3333750" cy="2190750"/>
          </a:xfrm>
          <a:prstGeom prst="roundRect">
            <a:avLst>
              <a:gd name="adj" fmla="val 5217"/>
            </a:avLst>
          </a:prstGeom>
          <a:solidFill>
            <a:srgbClr val="17293A"/>
          </a:solidFill>
          <a:ln w="9525">
            <a:solidFill>
              <a:srgbClr val="345067"/>
            </a:solidFill>
            <a:prstDash val="solid"/>
          </a:ln>
        </p:spPr>
      </p:sp>
      <p:sp>
        <p:nvSpPr>
          <p:cNvPr id="11" name="직사각형 10">
            <a:extLst>
              <a:ext uri="{FF2B5EF4-FFF2-40B4-BE49-F238E27FC236}">
                <a16:creationId xmlns:a16="http://schemas.microsoft.com/office/drawing/2014/main" xmlns="" id="{C1425CB5-A9FB-4809-8F23-8CAE9A47ABBF}"/>
              </a:ext>
            </a:extLst>
          </p:cNvPr>
          <p:cNvSpPr>
            <a:spLocks noGrp="1"/>
          </p:cNvSpPr>
          <p:nvPr/>
        </p:nvSpPr>
        <p:spPr>
          <a:xfrm>
            <a:off x="8629650" y="2609850"/>
            <a:ext cx="2743200" cy="323850"/>
          </a:xfrm>
          <a:prstGeom prst="rect">
            <a:avLst/>
          </a:prstGeom>
          <a:noFill/>
          <a:ln w="0">
            <a:noFill/>
            <a:prstDash val="solid"/>
          </a:ln>
        </p:spPr>
        <p:txBody>
          <a:bodyPr anchor="ctr"/>
          <a:lstStyle/>
          <a:p>
            <a:pPr algn="l">
              <a:buNone/>
              <a:defRPr sz="1500" b="1">
                <a:solidFill>
                  <a:srgbClr val="FFFFFF"/>
                </a:solidFill>
              </a:defRPr>
            </a:pPr>
            <a:r>
              <a:rPr sz="1500" b="1">
                <a:solidFill>
                  <a:srgbClr val="FFFFFF"/>
                </a:solidFill>
              </a:rPr>
              <a:t>조사·비교</a:t>
            </a:r>
          </a:p>
        </p:txBody>
      </p:sp>
      <p:sp>
        <p:nvSpPr>
          <p:cNvPr id="12" name="직사각형 11">
            <a:extLst>
              <a:ext uri="{FF2B5EF4-FFF2-40B4-BE49-F238E27FC236}">
                <a16:creationId xmlns:a16="http://schemas.microsoft.com/office/drawing/2014/main" xmlns="" id="{A75BDEC7-D293-4EAB-9A63-41D41C52E049}"/>
              </a:ext>
            </a:extLst>
          </p:cNvPr>
          <p:cNvSpPr>
            <a:spLocks noGrp="1"/>
          </p:cNvSpPr>
          <p:nvPr/>
        </p:nvSpPr>
        <p:spPr>
          <a:xfrm>
            <a:off x="9772650" y="2971800"/>
            <a:ext cx="457200" cy="304800"/>
          </a:xfrm>
          <a:prstGeom prst="rect">
            <a:avLst/>
          </a:prstGeom>
          <a:noFill/>
          <a:ln w="0">
            <a:noFill/>
            <a:prstDash val="solid"/>
          </a:ln>
        </p:spPr>
        <p:txBody>
          <a:bodyPr anchor="ctr"/>
          <a:lstStyle/>
          <a:p>
            <a:pPr algn="ctr">
              <a:buNone/>
              <a:defRPr sz="1650" b="1">
                <a:solidFill>
                  <a:srgbClr val="3BB7A0"/>
                </a:solidFill>
              </a:defRPr>
            </a:pPr>
            <a:r>
              <a:rPr sz="1650" b="1">
                <a:solidFill>
                  <a:srgbClr val="3BB7A0"/>
                </a:solidFill>
              </a:rPr>
              <a:t>↓</a:t>
            </a:r>
          </a:p>
        </p:txBody>
      </p:sp>
      <p:sp>
        <p:nvSpPr>
          <p:cNvPr id="13" name="직사각형 12">
            <a:extLst>
              <a:ext uri="{FF2B5EF4-FFF2-40B4-BE49-F238E27FC236}">
                <a16:creationId xmlns:a16="http://schemas.microsoft.com/office/drawing/2014/main" xmlns="" id="{8EE3A8A1-E35A-49A2-9EEB-2C8A364B3B42}"/>
              </a:ext>
            </a:extLst>
          </p:cNvPr>
          <p:cNvSpPr>
            <a:spLocks noGrp="1"/>
          </p:cNvSpPr>
          <p:nvPr/>
        </p:nvSpPr>
        <p:spPr>
          <a:xfrm>
            <a:off x="8629650" y="3314700"/>
            <a:ext cx="2743200" cy="323850"/>
          </a:xfrm>
          <a:prstGeom prst="rect">
            <a:avLst/>
          </a:prstGeom>
          <a:noFill/>
          <a:ln w="0">
            <a:noFill/>
            <a:prstDash val="solid"/>
          </a:ln>
        </p:spPr>
        <p:txBody>
          <a:bodyPr anchor="ctr"/>
          <a:lstStyle/>
          <a:p>
            <a:pPr algn="l">
              <a:buNone/>
              <a:defRPr sz="1500" b="1">
                <a:solidFill>
                  <a:srgbClr val="FFFFFF"/>
                </a:solidFill>
              </a:defRPr>
            </a:pPr>
            <a:r>
              <a:rPr sz="1500" b="1">
                <a:solidFill>
                  <a:srgbClr val="FFFFFF"/>
                </a:solidFill>
              </a:rPr>
              <a:t>요구사항·설계</a:t>
            </a:r>
          </a:p>
        </p:txBody>
      </p:sp>
      <p:sp>
        <p:nvSpPr>
          <p:cNvPr id="14" name="직사각형 13">
            <a:extLst>
              <a:ext uri="{FF2B5EF4-FFF2-40B4-BE49-F238E27FC236}">
                <a16:creationId xmlns:a16="http://schemas.microsoft.com/office/drawing/2014/main" xmlns="" id="{DC8E0353-34C9-455A-915F-F705E53C43FB}"/>
              </a:ext>
            </a:extLst>
          </p:cNvPr>
          <p:cNvSpPr>
            <a:spLocks noGrp="1"/>
          </p:cNvSpPr>
          <p:nvPr/>
        </p:nvSpPr>
        <p:spPr>
          <a:xfrm>
            <a:off x="9772650" y="3676650"/>
            <a:ext cx="457200" cy="304800"/>
          </a:xfrm>
          <a:prstGeom prst="rect">
            <a:avLst/>
          </a:prstGeom>
          <a:noFill/>
          <a:ln w="0">
            <a:noFill/>
            <a:prstDash val="solid"/>
          </a:ln>
        </p:spPr>
        <p:txBody>
          <a:bodyPr anchor="ctr"/>
          <a:lstStyle/>
          <a:p>
            <a:pPr algn="ctr">
              <a:buNone/>
              <a:defRPr sz="1650" b="1">
                <a:solidFill>
                  <a:srgbClr val="3BB7A0"/>
                </a:solidFill>
              </a:defRPr>
            </a:pPr>
            <a:r>
              <a:rPr sz="1650" b="1">
                <a:solidFill>
                  <a:srgbClr val="3BB7A0"/>
                </a:solidFill>
              </a:rPr>
              <a:t>↓</a:t>
            </a:r>
          </a:p>
        </p:txBody>
      </p:sp>
      <p:sp>
        <p:nvSpPr>
          <p:cNvPr id="15" name="직사각형 14">
            <a:extLst>
              <a:ext uri="{FF2B5EF4-FFF2-40B4-BE49-F238E27FC236}">
                <a16:creationId xmlns:a16="http://schemas.microsoft.com/office/drawing/2014/main" xmlns="" id="{BB26D0BE-E9F4-4750-8B2C-103EC391A954}"/>
              </a:ext>
            </a:extLst>
          </p:cNvPr>
          <p:cNvSpPr>
            <a:spLocks noGrp="1"/>
          </p:cNvSpPr>
          <p:nvPr/>
        </p:nvSpPr>
        <p:spPr>
          <a:xfrm>
            <a:off x="8629650" y="4019550"/>
            <a:ext cx="2743200" cy="323850"/>
          </a:xfrm>
          <a:prstGeom prst="rect">
            <a:avLst/>
          </a:prstGeom>
          <a:noFill/>
          <a:ln w="0">
            <a:noFill/>
            <a:prstDash val="solid"/>
          </a:ln>
        </p:spPr>
        <p:txBody>
          <a:bodyPr anchor="ctr"/>
          <a:lstStyle/>
          <a:p>
            <a:pPr algn="l">
              <a:buNone/>
              <a:defRPr sz="1500" b="1">
                <a:solidFill>
                  <a:srgbClr val="FFFFFF"/>
                </a:solidFill>
              </a:defRPr>
            </a:pPr>
            <a:r>
              <a:rPr sz="1500" b="1">
                <a:solidFill>
                  <a:srgbClr val="FFFFFF"/>
                </a:solidFill>
              </a:rPr>
              <a:t>구현·실습·검증</a:t>
            </a:r>
          </a:p>
        </p:txBody>
      </p:sp>
    </p:spTree>
    <p:extLst>
      <p:ext uri="{BB962C8B-B14F-4D97-AF65-F5344CB8AC3E}">
        <p14:creationId xmlns:p14="http://schemas.microsoft.com/office/powerpoint/2010/main" val="709900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5" name="직사각형 24">
            <a:extLst>
              <a:ext uri="{FF2B5EF4-FFF2-40B4-BE49-F238E27FC236}">
                <a16:creationId xmlns:a16="http://schemas.microsoft.com/office/drawing/2014/main" xmlns="" id="{B0CF686F-7794-4F94-B60F-13D763879C26}"/>
              </a:ext>
            </a:extLst>
          </p:cNvPr>
          <p:cNvSpPr>
            <a:spLocks noGrp="1"/>
          </p:cNvSpPr>
          <p:nvPr/>
        </p:nvSpPr>
        <p:spPr>
          <a:xfrm>
            <a:off x="609600" y="381000"/>
            <a:ext cx="4762500" cy="266700"/>
          </a:xfrm>
          <a:prstGeom prst="rect">
            <a:avLst/>
          </a:prstGeom>
          <a:noFill/>
          <a:ln w="0">
            <a:noFill/>
            <a:prstDash val="solid"/>
          </a:ln>
        </p:spPr>
        <p:txBody>
          <a:bodyPr anchor="ctr"/>
          <a:lstStyle/>
          <a:p>
            <a:pPr algn="l">
              <a:buNone/>
              <a:defRPr sz="1050" b="1">
                <a:solidFill>
                  <a:srgbClr val="2878B5"/>
                </a:solidFill>
              </a:defRPr>
            </a:pPr>
            <a:r>
              <a:rPr sz="1050" b="1">
                <a:solidFill>
                  <a:srgbClr val="2878B5"/>
                </a:solidFill>
              </a:rPr>
              <a:t>주간 기술 세미나</a:t>
            </a:r>
          </a:p>
        </p:txBody>
      </p:sp>
      <p:sp>
        <p:nvSpPr>
          <p:cNvPr id="2" name="직사각형 1">
            <a:extLst>
              <a:ext uri="{FF2B5EF4-FFF2-40B4-BE49-F238E27FC236}">
                <a16:creationId xmlns:a16="http://schemas.microsoft.com/office/drawing/2014/main" xmlns="" id="{C6AC4636-0176-4AF7-9147-DFA062693215}"/>
              </a:ext>
            </a:extLst>
          </p:cNvPr>
          <p:cNvSpPr>
            <a:spLocks noGrp="1"/>
          </p:cNvSpPr>
          <p:nvPr/>
        </p:nvSpPr>
        <p:spPr>
          <a:xfrm>
            <a:off x="609600" y="685800"/>
            <a:ext cx="10477500" cy="590550"/>
          </a:xfrm>
          <a:prstGeom prst="rect">
            <a:avLst/>
          </a:prstGeom>
          <a:noFill/>
          <a:ln w="0">
            <a:noFill/>
            <a:prstDash val="solid"/>
          </a:ln>
        </p:spPr>
        <p:txBody>
          <a:bodyPr anchor="ctr"/>
          <a:lstStyle/>
          <a:p>
            <a:pPr algn="l">
              <a:buNone/>
              <a:defRPr sz="2550" b="1">
                <a:solidFill>
                  <a:srgbClr val="17212B"/>
                </a:solidFill>
              </a:defRPr>
            </a:pPr>
            <a:r>
              <a:rPr sz="2550" b="1">
                <a:solidFill>
                  <a:srgbClr val="17212B"/>
                </a:solidFill>
              </a:rPr>
              <a:t>목차</a:t>
            </a:r>
          </a:p>
        </p:txBody>
      </p:sp>
      <p:sp>
        <p:nvSpPr>
          <p:cNvPr id="3" name="직사각형 2">
            <a:extLst>
              <a:ext uri="{FF2B5EF4-FFF2-40B4-BE49-F238E27FC236}">
                <a16:creationId xmlns:a16="http://schemas.microsoft.com/office/drawing/2014/main" xmlns="" id="{069E157D-4C6B-4E8E-9B47-6CF3D4237C73}"/>
              </a:ext>
            </a:extLst>
          </p:cNvPr>
          <p:cNvSpPr>
            <a:spLocks noGrp="1"/>
          </p:cNvSpPr>
          <p:nvPr/>
        </p:nvSpPr>
        <p:spPr>
          <a:xfrm>
            <a:off x="609600" y="1352550"/>
            <a:ext cx="10972800" cy="19050"/>
          </a:xfrm>
          <a:prstGeom prst="rect">
            <a:avLst/>
          </a:prstGeom>
          <a:solidFill>
            <a:srgbClr val="D8E1E8"/>
          </a:solidFill>
          <a:ln w="0">
            <a:solidFill>
              <a:srgbClr val="D8E1E8"/>
            </a:solidFill>
            <a:prstDash val="solid"/>
          </a:ln>
        </p:spPr>
      </p:sp>
      <p:sp>
        <p:nvSpPr>
          <p:cNvPr id="4" name="직사각형 3">
            <a:extLst>
              <a:ext uri="{FF2B5EF4-FFF2-40B4-BE49-F238E27FC236}">
                <a16:creationId xmlns:a16="http://schemas.microsoft.com/office/drawing/2014/main" xmlns="" id="{A49C71BF-ED83-4150-91D2-BBC00717AF69}"/>
              </a:ext>
            </a:extLst>
          </p:cNvPr>
          <p:cNvSpPr>
            <a:spLocks noGrp="1"/>
          </p:cNvSpPr>
          <p:nvPr/>
        </p:nvSpPr>
        <p:spPr>
          <a:xfrm>
            <a:off x="11163300" y="400050"/>
            <a:ext cx="419100" cy="228600"/>
          </a:xfrm>
          <a:prstGeom prst="rect">
            <a:avLst/>
          </a:prstGeom>
          <a:noFill/>
          <a:ln w="0">
            <a:noFill/>
            <a:prstDash val="solid"/>
          </a:ln>
        </p:spPr>
        <p:txBody>
          <a:bodyPr anchor="ctr"/>
          <a:lstStyle/>
          <a:p>
            <a:pPr algn="r">
              <a:buNone/>
              <a:defRPr sz="975" b="1">
                <a:solidFill>
                  <a:srgbClr val="93A0AA"/>
                </a:solidFill>
              </a:defRPr>
            </a:pPr>
            <a:r>
              <a:rPr sz="975" b="1">
                <a:solidFill>
                  <a:srgbClr val="93A0AA"/>
                </a:solidFill>
              </a:rPr>
              <a:t>02</a:t>
            </a:r>
          </a:p>
        </p:txBody>
      </p:sp>
      <p:sp>
        <p:nvSpPr>
          <p:cNvPr id="6" name="모서리가 둥근 직사각형 5">
            <a:extLst>
              <a:ext uri="{FF2B5EF4-FFF2-40B4-BE49-F238E27FC236}">
                <a16:creationId xmlns:a16="http://schemas.microsoft.com/office/drawing/2014/main" xmlns="" id="{3707BD32-7261-473A-BFE9-8F40A49A70EC}"/>
              </a:ext>
            </a:extLst>
          </p:cNvPr>
          <p:cNvSpPr>
            <a:spLocks noGrp="1"/>
          </p:cNvSpPr>
          <p:nvPr/>
        </p:nvSpPr>
        <p:spPr>
          <a:xfrm>
            <a:off x="5857875" y="1752600"/>
            <a:ext cx="5381625" cy="952500"/>
          </a:xfrm>
          <a:prstGeom prst="roundRect">
            <a:avLst>
              <a:gd name="adj" fmla="val 12000"/>
            </a:avLst>
          </a:prstGeom>
          <a:solidFill>
            <a:srgbClr val="FFFFFF"/>
          </a:solidFill>
          <a:ln w="9525">
            <a:solidFill>
              <a:srgbClr val="D8E1E8"/>
            </a:solidFill>
            <a:prstDash val="solid"/>
          </a:ln>
        </p:spPr>
      </p:sp>
      <p:sp>
        <p:nvSpPr>
          <p:cNvPr id="7" name="모서리가 둥근 직사각형 6">
            <a:extLst>
              <a:ext uri="{FF2B5EF4-FFF2-40B4-BE49-F238E27FC236}">
                <a16:creationId xmlns:a16="http://schemas.microsoft.com/office/drawing/2014/main" xmlns="" id="{63662C77-74BF-411B-9546-C9748D85E1A2}"/>
              </a:ext>
            </a:extLst>
          </p:cNvPr>
          <p:cNvSpPr>
            <a:spLocks noGrp="1"/>
          </p:cNvSpPr>
          <p:nvPr/>
        </p:nvSpPr>
        <p:spPr>
          <a:xfrm>
            <a:off x="6048375" y="2019300"/>
            <a:ext cx="457200" cy="361950"/>
          </a:xfrm>
          <a:prstGeom prst="roundRect">
            <a:avLst>
              <a:gd name="adj" fmla="val 31579"/>
            </a:avLst>
          </a:prstGeom>
          <a:solidFill>
            <a:srgbClr val="EAF4FB"/>
          </a:solidFill>
          <a:ln w="9525">
            <a:solidFill>
              <a:srgbClr val="EAF4FB"/>
            </a:solidFill>
            <a:prstDash val="solid"/>
          </a:ln>
        </p:spPr>
      </p:sp>
      <p:sp>
        <p:nvSpPr>
          <p:cNvPr id="8" name="직사각형 7">
            <a:extLst>
              <a:ext uri="{FF2B5EF4-FFF2-40B4-BE49-F238E27FC236}">
                <a16:creationId xmlns:a16="http://schemas.microsoft.com/office/drawing/2014/main" xmlns="" id="{8662824E-16B4-4C7D-AAAA-F56FE87B9D22}"/>
              </a:ext>
            </a:extLst>
          </p:cNvPr>
          <p:cNvSpPr>
            <a:spLocks noGrp="1"/>
          </p:cNvSpPr>
          <p:nvPr/>
        </p:nvSpPr>
        <p:spPr>
          <a:xfrm>
            <a:off x="6124575" y="2047875"/>
            <a:ext cx="304800" cy="285750"/>
          </a:xfrm>
          <a:prstGeom prst="rect">
            <a:avLst/>
          </a:prstGeom>
          <a:noFill/>
          <a:ln w="0">
            <a:noFill/>
            <a:prstDash val="solid"/>
          </a:ln>
        </p:spPr>
        <p:txBody>
          <a:bodyPr anchor="ctr"/>
          <a:lstStyle/>
          <a:p>
            <a:pPr algn="ctr">
              <a:buNone/>
              <a:defRPr sz="1125" b="1">
                <a:solidFill>
                  <a:srgbClr val="2878B5"/>
                </a:solidFill>
              </a:defRPr>
            </a:pPr>
            <a:r>
              <a:rPr sz="1125" b="1">
                <a:solidFill>
                  <a:srgbClr val="2878B5"/>
                </a:solidFill>
              </a:rPr>
              <a:t>1</a:t>
            </a:r>
          </a:p>
        </p:txBody>
      </p:sp>
      <p:sp>
        <p:nvSpPr>
          <p:cNvPr id="9" name="직사각형 8">
            <a:extLst>
              <a:ext uri="{FF2B5EF4-FFF2-40B4-BE49-F238E27FC236}">
                <a16:creationId xmlns:a16="http://schemas.microsoft.com/office/drawing/2014/main" xmlns="" id="{3F23BA0E-809A-4814-9B16-D5D61416B434}"/>
              </a:ext>
            </a:extLst>
          </p:cNvPr>
          <p:cNvSpPr>
            <a:spLocks noGrp="1"/>
          </p:cNvSpPr>
          <p:nvPr/>
        </p:nvSpPr>
        <p:spPr>
          <a:xfrm>
            <a:off x="6667500" y="1914525"/>
            <a:ext cx="1619250" cy="304800"/>
          </a:xfrm>
          <a:prstGeom prst="rect">
            <a:avLst/>
          </a:prstGeom>
          <a:noFill/>
          <a:ln w="0">
            <a:noFill/>
            <a:prstDash val="solid"/>
          </a:ln>
        </p:spPr>
        <p:txBody>
          <a:bodyPr anchor="ctr"/>
          <a:lstStyle/>
          <a:p>
            <a:pPr algn="l">
              <a:buNone/>
              <a:defRPr sz="1650" b="1">
                <a:solidFill>
                  <a:srgbClr val="17212B"/>
                </a:solidFill>
              </a:defRPr>
            </a:pPr>
            <a:r>
              <a:rPr sz="1650" b="1">
                <a:solidFill>
                  <a:srgbClr val="17212B"/>
                </a:solidFill>
              </a:rPr>
              <a:t>조사·비교</a:t>
            </a:r>
          </a:p>
        </p:txBody>
      </p:sp>
      <p:sp>
        <p:nvSpPr>
          <p:cNvPr id="10" name="직사각형 9">
            <a:extLst>
              <a:ext uri="{FF2B5EF4-FFF2-40B4-BE49-F238E27FC236}">
                <a16:creationId xmlns:a16="http://schemas.microsoft.com/office/drawing/2014/main" xmlns="" id="{F38228B8-8740-4E55-BFF9-866D908D1B91}"/>
              </a:ext>
            </a:extLst>
          </p:cNvPr>
          <p:cNvSpPr>
            <a:spLocks noGrp="1"/>
          </p:cNvSpPr>
          <p:nvPr/>
        </p:nvSpPr>
        <p:spPr>
          <a:xfrm>
            <a:off x="6667500" y="2238375"/>
            <a:ext cx="1714500" cy="238125"/>
          </a:xfrm>
          <a:prstGeom prst="rect">
            <a:avLst/>
          </a:prstGeom>
          <a:noFill/>
          <a:ln w="0">
            <a:noFill/>
            <a:prstDash val="solid"/>
          </a:ln>
        </p:spPr>
        <p:txBody>
          <a:bodyPr anchor="ctr"/>
          <a:lstStyle/>
          <a:p>
            <a:pPr algn="l">
              <a:buNone/>
              <a:defRPr sz="1200" b="0">
                <a:solidFill>
                  <a:srgbClr val="5E6B78"/>
                </a:solidFill>
              </a:defRPr>
            </a:pPr>
            <a:r>
              <a:rPr sz="1200" b="0">
                <a:solidFill>
                  <a:srgbClr val="5E6B78"/>
                </a:solidFill>
              </a:rPr>
              <a:t>배경 · 기업 사례</a:t>
            </a:r>
          </a:p>
        </p:txBody>
      </p:sp>
      <p:sp>
        <p:nvSpPr>
          <p:cNvPr id="11" name="직사각형 10">
            <a:extLst>
              <a:ext uri="{FF2B5EF4-FFF2-40B4-BE49-F238E27FC236}">
                <a16:creationId xmlns:a16="http://schemas.microsoft.com/office/drawing/2014/main" xmlns="" id="{B46406D5-831A-4AEF-A68C-7AC6D1B68A11}"/>
              </a:ext>
            </a:extLst>
          </p:cNvPr>
          <p:cNvSpPr>
            <a:spLocks noGrp="1"/>
          </p:cNvSpPr>
          <p:nvPr/>
        </p:nvSpPr>
        <p:spPr>
          <a:xfrm>
            <a:off x="8572500" y="2038350"/>
            <a:ext cx="2333625" cy="333375"/>
          </a:xfrm>
          <a:prstGeom prst="rect">
            <a:avLst/>
          </a:prstGeom>
          <a:noFill/>
          <a:ln w="0">
            <a:noFill/>
            <a:prstDash val="solid"/>
          </a:ln>
        </p:spPr>
        <p:txBody>
          <a:bodyPr anchor="ctr"/>
          <a:lstStyle/>
          <a:p>
            <a:pPr algn="r">
              <a:buNone/>
              <a:defRPr sz="1275" b="1">
                <a:solidFill>
                  <a:srgbClr val="2878B5"/>
                </a:solidFill>
              </a:defRPr>
            </a:pPr>
            <a:r>
              <a:rPr sz="1275" b="1">
                <a:solidFill>
                  <a:srgbClr val="2878B5"/>
                </a:solidFill>
              </a:rPr>
              <a:t>비교표</a:t>
            </a:r>
          </a:p>
        </p:txBody>
      </p:sp>
      <p:sp>
        <p:nvSpPr>
          <p:cNvPr id="12" name="모서리가 둥근 직사각형 11">
            <a:extLst>
              <a:ext uri="{FF2B5EF4-FFF2-40B4-BE49-F238E27FC236}">
                <a16:creationId xmlns:a16="http://schemas.microsoft.com/office/drawing/2014/main" xmlns="" id="{F3F1724B-7603-4954-9799-A697FCF80381}"/>
              </a:ext>
            </a:extLst>
          </p:cNvPr>
          <p:cNvSpPr>
            <a:spLocks noGrp="1"/>
          </p:cNvSpPr>
          <p:nvPr/>
        </p:nvSpPr>
        <p:spPr>
          <a:xfrm>
            <a:off x="5857875" y="2971800"/>
            <a:ext cx="5381625" cy="952500"/>
          </a:xfrm>
          <a:prstGeom prst="roundRect">
            <a:avLst>
              <a:gd name="adj" fmla="val 12000"/>
            </a:avLst>
          </a:prstGeom>
          <a:solidFill>
            <a:srgbClr val="FFFFFF"/>
          </a:solidFill>
          <a:ln w="9525">
            <a:solidFill>
              <a:srgbClr val="D8E1E8"/>
            </a:solidFill>
            <a:prstDash val="solid"/>
          </a:ln>
        </p:spPr>
      </p:sp>
      <p:sp>
        <p:nvSpPr>
          <p:cNvPr id="13" name="모서리가 둥근 직사각형 12">
            <a:extLst>
              <a:ext uri="{FF2B5EF4-FFF2-40B4-BE49-F238E27FC236}">
                <a16:creationId xmlns:a16="http://schemas.microsoft.com/office/drawing/2014/main" xmlns="" id="{0A34D4CE-10E1-4844-BAFF-205EBBE64621}"/>
              </a:ext>
            </a:extLst>
          </p:cNvPr>
          <p:cNvSpPr>
            <a:spLocks noGrp="1"/>
          </p:cNvSpPr>
          <p:nvPr/>
        </p:nvSpPr>
        <p:spPr>
          <a:xfrm>
            <a:off x="6048375" y="3238500"/>
            <a:ext cx="457200" cy="361950"/>
          </a:xfrm>
          <a:prstGeom prst="roundRect">
            <a:avLst>
              <a:gd name="adj" fmla="val 31579"/>
            </a:avLst>
          </a:prstGeom>
          <a:solidFill>
            <a:srgbClr val="EAF4FB"/>
          </a:solidFill>
          <a:ln w="9525">
            <a:solidFill>
              <a:srgbClr val="EAF4FB"/>
            </a:solidFill>
            <a:prstDash val="solid"/>
          </a:ln>
        </p:spPr>
      </p:sp>
      <p:sp>
        <p:nvSpPr>
          <p:cNvPr id="14" name="직사각형 13">
            <a:extLst>
              <a:ext uri="{FF2B5EF4-FFF2-40B4-BE49-F238E27FC236}">
                <a16:creationId xmlns:a16="http://schemas.microsoft.com/office/drawing/2014/main" xmlns="" id="{A65003F0-12A0-4520-A095-EA37F50D2538}"/>
              </a:ext>
            </a:extLst>
          </p:cNvPr>
          <p:cNvSpPr>
            <a:spLocks noGrp="1"/>
          </p:cNvSpPr>
          <p:nvPr/>
        </p:nvSpPr>
        <p:spPr>
          <a:xfrm>
            <a:off x="6124575" y="3267075"/>
            <a:ext cx="304800" cy="285750"/>
          </a:xfrm>
          <a:prstGeom prst="rect">
            <a:avLst/>
          </a:prstGeom>
          <a:noFill/>
          <a:ln w="0">
            <a:noFill/>
            <a:prstDash val="solid"/>
          </a:ln>
        </p:spPr>
        <p:txBody>
          <a:bodyPr anchor="ctr"/>
          <a:lstStyle/>
          <a:p>
            <a:pPr algn="ctr">
              <a:buNone/>
              <a:defRPr sz="1125" b="1">
                <a:solidFill>
                  <a:srgbClr val="2878B5"/>
                </a:solidFill>
              </a:defRPr>
            </a:pPr>
            <a:r>
              <a:rPr sz="1125" b="1">
                <a:solidFill>
                  <a:srgbClr val="2878B5"/>
                </a:solidFill>
              </a:rPr>
              <a:t>2</a:t>
            </a:r>
          </a:p>
        </p:txBody>
      </p:sp>
      <p:sp>
        <p:nvSpPr>
          <p:cNvPr id="15" name="직사각형 14">
            <a:extLst>
              <a:ext uri="{FF2B5EF4-FFF2-40B4-BE49-F238E27FC236}">
                <a16:creationId xmlns:a16="http://schemas.microsoft.com/office/drawing/2014/main" xmlns="" id="{16E29859-7ED2-4AED-9EC0-F348ACF9ED96}"/>
              </a:ext>
            </a:extLst>
          </p:cNvPr>
          <p:cNvSpPr>
            <a:spLocks noGrp="1"/>
          </p:cNvSpPr>
          <p:nvPr/>
        </p:nvSpPr>
        <p:spPr>
          <a:xfrm>
            <a:off x="6667500" y="3133725"/>
            <a:ext cx="1619250" cy="304800"/>
          </a:xfrm>
          <a:prstGeom prst="rect">
            <a:avLst/>
          </a:prstGeom>
          <a:noFill/>
          <a:ln w="0">
            <a:noFill/>
            <a:prstDash val="solid"/>
          </a:ln>
        </p:spPr>
        <p:txBody>
          <a:bodyPr anchor="ctr"/>
          <a:lstStyle/>
          <a:p>
            <a:pPr algn="l">
              <a:buNone/>
              <a:defRPr sz="1650" b="1">
                <a:solidFill>
                  <a:srgbClr val="17212B"/>
                </a:solidFill>
              </a:defRPr>
            </a:pPr>
            <a:r>
              <a:rPr sz="1650" b="1">
                <a:solidFill>
                  <a:srgbClr val="17212B"/>
                </a:solidFill>
              </a:rPr>
              <a:t>설계·구현</a:t>
            </a:r>
          </a:p>
        </p:txBody>
      </p:sp>
      <p:sp>
        <p:nvSpPr>
          <p:cNvPr id="16" name="직사각형 15">
            <a:extLst>
              <a:ext uri="{FF2B5EF4-FFF2-40B4-BE49-F238E27FC236}">
                <a16:creationId xmlns:a16="http://schemas.microsoft.com/office/drawing/2014/main" xmlns="" id="{EDE2ED0A-2548-4D62-92BF-E4D42A95843F}"/>
              </a:ext>
            </a:extLst>
          </p:cNvPr>
          <p:cNvSpPr>
            <a:spLocks noGrp="1"/>
          </p:cNvSpPr>
          <p:nvPr/>
        </p:nvSpPr>
        <p:spPr>
          <a:xfrm>
            <a:off x="6667500" y="3457575"/>
            <a:ext cx="1714500" cy="238125"/>
          </a:xfrm>
          <a:prstGeom prst="rect">
            <a:avLst/>
          </a:prstGeom>
          <a:noFill/>
          <a:ln w="0">
            <a:noFill/>
            <a:prstDash val="solid"/>
          </a:ln>
        </p:spPr>
        <p:txBody>
          <a:bodyPr anchor="ctr"/>
          <a:lstStyle/>
          <a:p>
            <a:pPr algn="l">
              <a:buNone/>
              <a:defRPr sz="1200" b="0">
                <a:solidFill>
                  <a:srgbClr val="5E6B78"/>
                </a:solidFill>
              </a:defRPr>
            </a:pPr>
            <a:r>
              <a:rPr sz="1200" b="0">
                <a:solidFill>
                  <a:srgbClr val="5E6B78"/>
                </a:solidFill>
              </a:rPr>
              <a:t>요구사항 · 설계</a:t>
            </a:r>
          </a:p>
        </p:txBody>
      </p:sp>
      <p:sp>
        <p:nvSpPr>
          <p:cNvPr id="17" name="직사각형 16">
            <a:extLst>
              <a:ext uri="{FF2B5EF4-FFF2-40B4-BE49-F238E27FC236}">
                <a16:creationId xmlns:a16="http://schemas.microsoft.com/office/drawing/2014/main" xmlns="" id="{CE52EC40-90F4-4CC8-B22D-D7DF9F6EDF9A}"/>
              </a:ext>
            </a:extLst>
          </p:cNvPr>
          <p:cNvSpPr>
            <a:spLocks noGrp="1"/>
          </p:cNvSpPr>
          <p:nvPr/>
        </p:nvSpPr>
        <p:spPr>
          <a:xfrm>
            <a:off x="8572500" y="3257550"/>
            <a:ext cx="2333625" cy="333375"/>
          </a:xfrm>
          <a:prstGeom prst="rect">
            <a:avLst/>
          </a:prstGeom>
          <a:noFill/>
          <a:ln w="0">
            <a:noFill/>
            <a:prstDash val="solid"/>
          </a:ln>
        </p:spPr>
        <p:txBody>
          <a:bodyPr anchor="ctr"/>
          <a:lstStyle/>
          <a:p>
            <a:pPr algn="r">
              <a:buNone/>
              <a:defRPr sz="1275" b="1">
                <a:solidFill>
                  <a:srgbClr val="2878B5"/>
                </a:solidFill>
              </a:defRPr>
            </a:pPr>
            <a:r>
              <a:rPr sz="1275" b="1">
                <a:solidFill>
                  <a:srgbClr val="2878B5"/>
                </a:solidFill>
              </a:rPr>
              <a:t>구현 과정</a:t>
            </a:r>
          </a:p>
        </p:txBody>
      </p:sp>
      <p:sp>
        <p:nvSpPr>
          <p:cNvPr id="18" name="모서리가 둥근 직사각형 17">
            <a:extLst>
              <a:ext uri="{FF2B5EF4-FFF2-40B4-BE49-F238E27FC236}">
                <a16:creationId xmlns:a16="http://schemas.microsoft.com/office/drawing/2014/main" xmlns="" id="{AC9E1C05-1751-4116-ACA5-7C4851C9C040}"/>
              </a:ext>
            </a:extLst>
          </p:cNvPr>
          <p:cNvSpPr>
            <a:spLocks noGrp="1"/>
          </p:cNvSpPr>
          <p:nvPr/>
        </p:nvSpPr>
        <p:spPr>
          <a:xfrm>
            <a:off x="5857875" y="4191000"/>
            <a:ext cx="5381625" cy="952500"/>
          </a:xfrm>
          <a:prstGeom prst="roundRect">
            <a:avLst>
              <a:gd name="adj" fmla="val 12000"/>
            </a:avLst>
          </a:prstGeom>
          <a:solidFill>
            <a:srgbClr val="FFFFFF"/>
          </a:solidFill>
          <a:ln w="9525">
            <a:solidFill>
              <a:srgbClr val="D8E1E8"/>
            </a:solidFill>
            <a:prstDash val="solid"/>
          </a:ln>
        </p:spPr>
      </p:sp>
      <p:sp>
        <p:nvSpPr>
          <p:cNvPr id="19" name="모서리가 둥근 직사각형 18">
            <a:extLst>
              <a:ext uri="{FF2B5EF4-FFF2-40B4-BE49-F238E27FC236}">
                <a16:creationId xmlns:a16="http://schemas.microsoft.com/office/drawing/2014/main" xmlns="" id="{CB4431EE-231B-4A42-9155-5F44568F9D08}"/>
              </a:ext>
            </a:extLst>
          </p:cNvPr>
          <p:cNvSpPr>
            <a:spLocks noGrp="1"/>
          </p:cNvSpPr>
          <p:nvPr/>
        </p:nvSpPr>
        <p:spPr>
          <a:xfrm>
            <a:off x="6048375" y="4457700"/>
            <a:ext cx="457200" cy="361950"/>
          </a:xfrm>
          <a:prstGeom prst="roundRect">
            <a:avLst>
              <a:gd name="adj" fmla="val 31579"/>
            </a:avLst>
          </a:prstGeom>
          <a:solidFill>
            <a:srgbClr val="111D29"/>
          </a:solidFill>
          <a:ln w="9525">
            <a:solidFill>
              <a:srgbClr val="111D29"/>
            </a:solidFill>
            <a:prstDash val="solid"/>
          </a:ln>
        </p:spPr>
      </p:sp>
      <p:sp>
        <p:nvSpPr>
          <p:cNvPr id="20" name="직사각형 19">
            <a:extLst>
              <a:ext uri="{FF2B5EF4-FFF2-40B4-BE49-F238E27FC236}">
                <a16:creationId xmlns:a16="http://schemas.microsoft.com/office/drawing/2014/main" xmlns="" id="{72CFD7D5-F08C-4C08-A4D5-029BEAD7BC83}"/>
              </a:ext>
            </a:extLst>
          </p:cNvPr>
          <p:cNvSpPr>
            <a:spLocks noGrp="1"/>
          </p:cNvSpPr>
          <p:nvPr/>
        </p:nvSpPr>
        <p:spPr>
          <a:xfrm>
            <a:off x="6124575" y="4486275"/>
            <a:ext cx="304800" cy="285750"/>
          </a:xfrm>
          <a:prstGeom prst="rect">
            <a:avLst/>
          </a:prstGeom>
          <a:noFill/>
          <a:ln w="0">
            <a:noFill/>
            <a:prstDash val="solid"/>
          </a:ln>
        </p:spPr>
        <p:txBody>
          <a:bodyPr anchor="ctr"/>
          <a:lstStyle/>
          <a:p>
            <a:pPr algn="ctr">
              <a:buNone/>
              <a:defRPr sz="1125" b="1">
                <a:solidFill>
                  <a:srgbClr val="FFFFFF"/>
                </a:solidFill>
              </a:defRPr>
            </a:pPr>
            <a:r>
              <a:rPr sz="1125" b="1">
                <a:solidFill>
                  <a:srgbClr val="FFFFFF"/>
                </a:solidFill>
              </a:rPr>
              <a:t>3</a:t>
            </a:r>
          </a:p>
        </p:txBody>
      </p:sp>
      <p:sp>
        <p:nvSpPr>
          <p:cNvPr id="21" name="직사각형 20">
            <a:extLst>
              <a:ext uri="{FF2B5EF4-FFF2-40B4-BE49-F238E27FC236}">
                <a16:creationId xmlns:a16="http://schemas.microsoft.com/office/drawing/2014/main" xmlns="" id="{8A04C88D-19D9-4CFF-8118-41B75645DD03}"/>
              </a:ext>
            </a:extLst>
          </p:cNvPr>
          <p:cNvSpPr>
            <a:spLocks noGrp="1"/>
          </p:cNvSpPr>
          <p:nvPr/>
        </p:nvSpPr>
        <p:spPr>
          <a:xfrm>
            <a:off x="6667500" y="4352925"/>
            <a:ext cx="1619250" cy="304800"/>
          </a:xfrm>
          <a:prstGeom prst="rect">
            <a:avLst/>
          </a:prstGeom>
          <a:noFill/>
          <a:ln w="0">
            <a:noFill/>
            <a:prstDash val="solid"/>
          </a:ln>
        </p:spPr>
        <p:txBody>
          <a:bodyPr anchor="ctr"/>
          <a:lstStyle/>
          <a:p>
            <a:pPr algn="l">
              <a:buNone/>
              <a:defRPr sz="1650" b="1">
                <a:solidFill>
                  <a:srgbClr val="17212B"/>
                </a:solidFill>
              </a:defRPr>
            </a:pPr>
            <a:r>
              <a:rPr sz="1650" b="1">
                <a:solidFill>
                  <a:srgbClr val="17212B"/>
                </a:solidFill>
              </a:rPr>
              <a:t>검증·정리</a:t>
            </a:r>
          </a:p>
        </p:txBody>
      </p:sp>
      <p:sp>
        <p:nvSpPr>
          <p:cNvPr id="22" name="직사각형 21">
            <a:extLst>
              <a:ext uri="{FF2B5EF4-FFF2-40B4-BE49-F238E27FC236}">
                <a16:creationId xmlns:a16="http://schemas.microsoft.com/office/drawing/2014/main" xmlns="" id="{3CDAE83E-2BB8-4F66-8CDA-2197BADB92A1}"/>
              </a:ext>
            </a:extLst>
          </p:cNvPr>
          <p:cNvSpPr>
            <a:spLocks noGrp="1"/>
          </p:cNvSpPr>
          <p:nvPr/>
        </p:nvSpPr>
        <p:spPr>
          <a:xfrm>
            <a:off x="6667500" y="4676775"/>
            <a:ext cx="1714500" cy="238125"/>
          </a:xfrm>
          <a:prstGeom prst="rect">
            <a:avLst/>
          </a:prstGeom>
          <a:noFill/>
          <a:ln w="0">
            <a:noFill/>
            <a:prstDash val="solid"/>
          </a:ln>
        </p:spPr>
        <p:txBody>
          <a:bodyPr anchor="ctr"/>
          <a:lstStyle/>
          <a:p>
            <a:pPr algn="l">
              <a:buNone/>
              <a:defRPr sz="1200" b="0">
                <a:solidFill>
                  <a:srgbClr val="5E6B78"/>
                </a:solidFill>
              </a:defRPr>
            </a:pPr>
            <a:r>
              <a:rPr sz="1200" b="0">
                <a:solidFill>
                  <a:srgbClr val="5E6B78"/>
                </a:solidFill>
              </a:rPr>
              <a:t>실습 · 테스트</a:t>
            </a:r>
          </a:p>
        </p:txBody>
      </p:sp>
      <p:sp>
        <p:nvSpPr>
          <p:cNvPr id="23" name="직사각형 22">
            <a:extLst>
              <a:ext uri="{FF2B5EF4-FFF2-40B4-BE49-F238E27FC236}">
                <a16:creationId xmlns:a16="http://schemas.microsoft.com/office/drawing/2014/main" xmlns="" id="{30F4607F-8C53-4524-9711-52065DE62CFA}"/>
              </a:ext>
            </a:extLst>
          </p:cNvPr>
          <p:cNvSpPr>
            <a:spLocks noGrp="1"/>
          </p:cNvSpPr>
          <p:nvPr/>
        </p:nvSpPr>
        <p:spPr>
          <a:xfrm>
            <a:off x="8572500" y="4476750"/>
            <a:ext cx="2333625" cy="333375"/>
          </a:xfrm>
          <a:prstGeom prst="rect">
            <a:avLst/>
          </a:prstGeom>
          <a:noFill/>
          <a:ln w="0">
            <a:noFill/>
            <a:prstDash val="solid"/>
          </a:ln>
        </p:spPr>
        <p:txBody>
          <a:bodyPr anchor="ctr"/>
          <a:lstStyle/>
          <a:p>
            <a:pPr algn="r">
              <a:buNone/>
              <a:defRPr sz="1275" b="1">
                <a:solidFill>
                  <a:srgbClr val="3BB7A0"/>
                </a:solidFill>
              </a:defRPr>
            </a:pPr>
            <a:r>
              <a:rPr sz="1275" b="1">
                <a:solidFill>
                  <a:srgbClr val="3BB7A0"/>
                </a:solidFill>
              </a:rPr>
              <a:t>한계 · 향후 과제</a:t>
            </a:r>
          </a:p>
        </p:txBody>
      </p:sp>
      <p:sp>
        <p:nvSpPr>
          <p:cNvPr id="24" name="직사각형 23">
            <a:extLst>
              <a:ext uri="{FF2B5EF4-FFF2-40B4-BE49-F238E27FC236}">
                <a16:creationId xmlns:a16="http://schemas.microsoft.com/office/drawing/2014/main" xmlns="" id="{2C65D477-263B-49AB-B1BF-DF9EA915C9E9}"/>
              </a:ext>
            </a:extLst>
          </p:cNvPr>
          <p:cNvSpPr>
            <a:spLocks noGrp="1"/>
          </p:cNvSpPr>
          <p:nvPr/>
        </p:nvSpPr>
        <p:spPr>
          <a:xfrm>
            <a:off x="609600" y="6496050"/>
            <a:ext cx="8572500" cy="171450"/>
          </a:xfrm>
          <a:prstGeom prst="rect">
            <a:avLst/>
          </a:prstGeom>
          <a:noFill/>
          <a:ln w="0">
            <a:noFill/>
            <a:prstDash val="solid"/>
          </a:ln>
        </p:spPr>
        <p:txBody>
          <a:bodyPr anchor="ctr"/>
          <a:lstStyle/>
          <a:p>
            <a:pPr algn="l"/>
            <a:r>
              <a:rPr sz="825" b="0">
                <a:solidFill>
                  <a:srgbClr val="87939E"/>
                </a:solidFill>
              </a:rPr>
              <a:t>기업 온프레미스 AI · Hermes Agent 실습과 PoC</a:t>
            </a:r>
          </a:p>
        </p:txBody>
      </p:sp>
      <p:sp>
        <p:nvSpPr>
          <p:cNvPr id="26" name="오늘 다룰 질문">
            <a:extLst>
              <a:ext uri="{FF2B5EF4-FFF2-40B4-BE49-F238E27FC236}">
                <a16:creationId xmlns:a16="http://schemas.microsoft.com/office/drawing/2014/main" xmlns="" id="{00AE175C-069E-4030-B6E2-A10B5037E830}"/>
              </a:ext>
            </a:extLst>
          </p:cNvPr>
          <p:cNvSpPr>
            <a:spLocks noGrp="1"/>
          </p:cNvSpPr>
          <p:nvPr/>
        </p:nvSpPr>
        <p:spPr>
          <a:xfrm>
            <a:off x="723900" y="1981200"/>
            <a:ext cx="4667250" cy="381000"/>
          </a:xfrm>
          <a:prstGeom prst="rect">
            <a:avLst/>
          </a:prstGeom>
          <a:noFill/>
          <a:ln w="0">
            <a:noFill/>
          </a:ln>
        </p:spPr>
        <p:txBody>
          <a:bodyPr anchor="ctr">
            <a:noAutofit/>
          </a:bodyPr>
          <a:lstStyle/>
          <a:p>
            <a:pPr>
              <a:buNone/>
              <a:defRPr sz="2250" b="1">
                <a:solidFill>
                  <a:srgbClr val="17212B"/>
                </a:solidFill>
                <a:latin typeface="Calibri"/>
                <a:ea typeface="Calibri"/>
                <a:cs typeface="Calibri"/>
              </a:defRPr>
            </a:pPr>
            <a:r>
              <a:rPr sz="2250" b="1">
                <a:solidFill>
                  <a:srgbClr val="17212B"/>
                </a:solidFill>
                <a:latin typeface="Calibri"/>
                <a:ea typeface="Calibri"/>
                <a:cs typeface="Calibri"/>
              </a:rPr>
              <a:t>오늘 다룰 질문</a:t>
            </a:r>
          </a:p>
        </p:txBody>
      </p:sp>
      <p:sp>
        <p:nvSpPr>
          <p:cNvPr id="27" name="[조사와 실습으로 확인할 핵심 질문]">
            <a:extLst>
              <a:ext uri="{FF2B5EF4-FFF2-40B4-BE49-F238E27FC236}">
                <a16:creationId xmlns:a16="http://schemas.microsoft.com/office/drawing/2014/main" xmlns="" id="{F0DD616A-35CF-4498-A112-E513BEE65474}"/>
              </a:ext>
            </a:extLst>
          </p:cNvPr>
          <p:cNvSpPr>
            <a:spLocks noGrp="1"/>
          </p:cNvSpPr>
          <p:nvPr/>
        </p:nvSpPr>
        <p:spPr>
          <a:xfrm>
            <a:off x="723900" y="2571750"/>
            <a:ext cx="4667250" cy="952500"/>
          </a:xfrm>
          <a:prstGeom prst="rect">
            <a:avLst/>
          </a:prstGeom>
          <a:noFill/>
          <a:ln w="0">
            <a:noFill/>
          </a:ln>
        </p:spPr>
        <p:txBody>
          <a:bodyPr anchor="ctr">
            <a:noAutofit/>
          </a:bodyPr>
          <a:lstStyle/>
          <a:p>
            <a:r>
              <a:rPr sz="2025" b="0">
                <a:solidFill>
                  <a:srgbClr val="17212B"/>
                </a:solidFill>
                <a:latin typeface="Calibri"/>
                <a:ea typeface="Calibri"/>
                <a:cs typeface="Calibri"/>
              </a:rPr>
              <a:t>데이터 통제와 작업 자동화,</a:t>
            </a:r>
          </a:p>
          <a:p>
            <a:r>
              <a:rPr sz="2025" b="0">
                <a:solidFill>
                  <a:srgbClr val="17212B"/>
                </a:solidFill>
                <a:latin typeface="Calibri"/>
                <a:ea typeface="Calibri"/>
                <a:cs typeface="Calibri"/>
              </a:rPr>
              <a:t>각각 무엇을 검증해야 할까?</a:t>
            </a:r>
          </a:p>
        </p:txBody>
      </p:sp>
      <p:sp>
        <p:nvSpPr>
          <p:cNvPr id="28" name="발표 목표">
            <a:extLst>
              <a:ext uri="{FF2B5EF4-FFF2-40B4-BE49-F238E27FC236}">
                <a16:creationId xmlns:a16="http://schemas.microsoft.com/office/drawing/2014/main" xmlns="" id="{122E48B7-DAB4-4C1D-9963-AEB0CE99C1AB}"/>
              </a:ext>
            </a:extLst>
          </p:cNvPr>
          <p:cNvSpPr>
            <a:spLocks noGrp="1"/>
          </p:cNvSpPr>
          <p:nvPr/>
        </p:nvSpPr>
        <p:spPr>
          <a:xfrm>
            <a:off x="723900" y="3867150"/>
            <a:ext cx="4667250" cy="342900"/>
          </a:xfrm>
          <a:prstGeom prst="rect">
            <a:avLst/>
          </a:prstGeom>
          <a:noFill/>
          <a:ln w="0">
            <a:noFill/>
          </a:ln>
        </p:spPr>
        <p:txBody>
          <a:bodyPr anchor="ctr">
            <a:noAutofit/>
          </a:bodyPr>
          <a:lstStyle/>
          <a:p>
            <a:pPr>
              <a:buNone/>
              <a:defRPr sz="1650" b="1">
                <a:solidFill>
                  <a:srgbClr val="2878B5"/>
                </a:solidFill>
                <a:latin typeface="Calibri"/>
                <a:ea typeface="Calibri"/>
                <a:cs typeface="Calibri"/>
              </a:defRPr>
            </a:pPr>
            <a:r>
              <a:rPr sz="1650" b="1">
                <a:solidFill>
                  <a:srgbClr val="2878B5"/>
                </a:solidFill>
                <a:latin typeface="Calibri"/>
                <a:ea typeface="Calibri"/>
                <a:cs typeface="Calibri"/>
              </a:rPr>
              <a:t>발표 목표</a:t>
            </a:r>
          </a:p>
        </p:txBody>
      </p:sp>
      <p:sp>
        <p:nvSpPr>
          <p:cNvPr id="29" name="[청중이 이해하거나 실행할 수 있게 될 것]">
            <a:extLst>
              <a:ext uri="{FF2B5EF4-FFF2-40B4-BE49-F238E27FC236}">
                <a16:creationId xmlns:a16="http://schemas.microsoft.com/office/drawing/2014/main" xmlns="" id="{5AC7E7BB-D31C-446A-8A9A-2B8BF1A83DE9}"/>
              </a:ext>
            </a:extLst>
          </p:cNvPr>
          <p:cNvSpPr>
            <a:spLocks noGrp="1"/>
          </p:cNvSpPr>
          <p:nvPr/>
        </p:nvSpPr>
        <p:spPr>
          <a:xfrm>
            <a:off x="723900" y="4352925"/>
            <a:ext cx="4667250" cy="723900"/>
          </a:xfrm>
          <a:prstGeom prst="rect">
            <a:avLst/>
          </a:prstGeom>
          <a:noFill/>
          <a:ln w="0">
            <a:noFill/>
          </a:ln>
        </p:spPr>
        <p:txBody>
          <a:bodyPr anchor="ctr">
            <a:noAutofit/>
          </a:bodyPr>
          <a:lstStyle/>
          <a:p>
            <a:r>
              <a:rPr sz="1725" b="0">
                <a:solidFill>
                  <a:srgbClr val="17212B"/>
                </a:solidFill>
                <a:latin typeface="Calibri"/>
                <a:ea typeface="Calibri"/>
                <a:cs typeface="Calibri"/>
              </a:rPr>
              <a:t>도입 조건을 비교하고</a:t>
            </a:r>
          </a:p>
          <a:p>
            <a:r>
              <a:rPr sz="1725" b="0">
                <a:solidFill>
                  <a:srgbClr val="17212B"/>
                </a:solidFill>
                <a:latin typeface="Calibri"/>
                <a:ea typeface="Calibri"/>
                <a:cs typeface="Calibri"/>
              </a:rPr>
              <a:t>실습 성과와 남은 과제를 판단한다.</a:t>
            </a:r>
          </a:p>
        </p:txBody>
      </p:sp>
    </p:spTree>
    <p:extLst>
      <p:ext uri="{BB962C8B-B14F-4D97-AF65-F5344CB8AC3E}">
        <p14:creationId xmlns:p14="http://schemas.microsoft.com/office/powerpoint/2010/main" val="1782697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D29"/>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8F2C25FC-0650-4A89-8AE4-550B98E3F356}"/>
              </a:ext>
            </a:extLst>
          </p:cNvPr>
          <p:cNvSpPr>
            <a:spLocks noGrp="1"/>
          </p:cNvSpPr>
          <p:nvPr/>
        </p:nvSpPr>
        <p:spPr>
          <a:xfrm>
            <a:off x="609600" y="381000"/>
            <a:ext cx="4762500" cy="266700"/>
          </a:xfrm>
          <a:prstGeom prst="rect">
            <a:avLst/>
          </a:prstGeom>
          <a:noFill/>
          <a:ln w="0">
            <a:noFill/>
            <a:prstDash val="solid"/>
          </a:ln>
        </p:spPr>
        <p:txBody>
          <a:bodyPr anchor="ctr"/>
          <a:lstStyle/>
          <a:p>
            <a:pPr algn="l">
              <a:buNone/>
              <a:defRPr sz="1050" b="1">
                <a:solidFill>
                  <a:srgbClr val="3BB7A0"/>
                </a:solidFill>
              </a:defRPr>
            </a:pPr>
            <a:r>
              <a:rPr sz="1050" b="1">
                <a:solidFill>
                  <a:srgbClr val="3BB7A0"/>
                </a:solidFill>
              </a:rPr>
              <a:t>주간 기술 세미나</a:t>
            </a:r>
          </a:p>
        </p:txBody>
      </p:sp>
      <p:sp>
        <p:nvSpPr>
          <p:cNvPr id="2" name="직사각형 1">
            <a:extLst>
              <a:ext uri="{FF2B5EF4-FFF2-40B4-BE49-F238E27FC236}">
                <a16:creationId xmlns:a16="http://schemas.microsoft.com/office/drawing/2014/main" xmlns="" id="{ABA7527A-2DF4-4402-9A18-BA7E88C3D86E}"/>
              </a:ext>
            </a:extLst>
          </p:cNvPr>
          <p:cNvSpPr>
            <a:spLocks noGrp="1"/>
          </p:cNvSpPr>
          <p:nvPr/>
        </p:nvSpPr>
        <p:spPr>
          <a:xfrm>
            <a:off x="609600" y="685800"/>
            <a:ext cx="10477500" cy="590550"/>
          </a:xfrm>
          <a:prstGeom prst="rect">
            <a:avLst/>
          </a:prstGeom>
          <a:noFill/>
          <a:ln w="0">
            <a:noFill/>
            <a:prstDash val="solid"/>
          </a:ln>
        </p:spPr>
        <p:txBody>
          <a:bodyPr anchor="ctr"/>
          <a:lstStyle/>
          <a:p>
            <a:pPr algn="l">
              <a:buNone/>
              <a:defRPr sz="2550" b="1">
                <a:solidFill>
                  <a:srgbClr val="FFFFFF"/>
                </a:solidFill>
              </a:defRPr>
            </a:pPr>
            <a:r>
              <a:rPr sz="2550" b="1">
                <a:solidFill>
                  <a:srgbClr val="FFFFFF"/>
                </a:solidFill>
              </a:rPr>
              <a:t>조사 배경</a:t>
            </a:r>
          </a:p>
        </p:txBody>
      </p:sp>
      <p:sp>
        <p:nvSpPr>
          <p:cNvPr id="3" name="직사각형 2">
            <a:extLst>
              <a:ext uri="{FF2B5EF4-FFF2-40B4-BE49-F238E27FC236}">
                <a16:creationId xmlns:a16="http://schemas.microsoft.com/office/drawing/2014/main" xmlns="" id="{DC1075D8-32C3-4A54-A814-7FF31A50F238}"/>
              </a:ext>
            </a:extLst>
          </p:cNvPr>
          <p:cNvSpPr>
            <a:spLocks noGrp="1"/>
          </p:cNvSpPr>
          <p:nvPr/>
        </p:nvSpPr>
        <p:spPr>
          <a:xfrm>
            <a:off x="609600" y="1352550"/>
            <a:ext cx="10972800" cy="19050"/>
          </a:xfrm>
          <a:prstGeom prst="rect">
            <a:avLst/>
          </a:prstGeom>
          <a:solidFill>
            <a:srgbClr val="355064"/>
          </a:solidFill>
          <a:ln w="0">
            <a:solidFill>
              <a:srgbClr val="355064"/>
            </a:solidFill>
            <a:prstDash val="solid"/>
          </a:ln>
        </p:spPr>
      </p:sp>
      <p:sp>
        <p:nvSpPr>
          <p:cNvPr id="4" name="직사각형 3">
            <a:extLst>
              <a:ext uri="{FF2B5EF4-FFF2-40B4-BE49-F238E27FC236}">
                <a16:creationId xmlns:a16="http://schemas.microsoft.com/office/drawing/2014/main" xmlns="" id="{2E9B988B-EA5F-4391-BBBF-63D058E9EDE2}"/>
              </a:ext>
            </a:extLst>
          </p:cNvPr>
          <p:cNvSpPr>
            <a:spLocks noGrp="1"/>
          </p:cNvSpPr>
          <p:nvPr/>
        </p:nvSpPr>
        <p:spPr>
          <a:xfrm>
            <a:off x="11163300" y="400050"/>
            <a:ext cx="419100" cy="228600"/>
          </a:xfrm>
          <a:prstGeom prst="rect">
            <a:avLst/>
          </a:prstGeom>
          <a:noFill/>
          <a:ln w="0">
            <a:noFill/>
            <a:prstDash val="solid"/>
          </a:ln>
        </p:spPr>
        <p:txBody>
          <a:bodyPr anchor="ctr"/>
          <a:lstStyle/>
          <a:p>
            <a:pPr algn="r">
              <a:buNone/>
              <a:defRPr sz="975" b="1">
                <a:solidFill>
                  <a:srgbClr val="7891A4"/>
                </a:solidFill>
              </a:defRPr>
            </a:pPr>
            <a:r>
              <a:rPr sz="975" b="1">
                <a:solidFill>
                  <a:srgbClr val="7891A4"/>
                </a:solidFill>
              </a:rPr>
              <a:t>03</a:t>
            </a:r>
          </a:p>
        </p:txBody>
      </p:sp>
      <p:sp>
        <p:nvSpPr>
          <p:cNvPr id="5" name="직사각형 4">
            <a:extLst>
              <a:ext uri="{FF2B5EF4-FFF2-40B4-BE49-F238E27FC236}">
                <a16:creationId xmlns:a16="http://schemas.microsoft.com/office/drawing/2014/main" xmlns="" id="{9DBE35FE-0FFD-4338-AD9C-F38D9AF6A06D}"/>
              </a:ext>
            </a:extLst>
          </p:cNvPr>
          <p:cNvSpPr>
            <a:spLocks noGrp="1"/>
          </p:cNvSpPr>
          <p:nvPr/>
        </p:nvSpPr>
        <p:spPr>
          <a:xfrm>
            <a:off x="742950" y="1809750"/>
            <a:ext cx="2381250" cy="400050"/>
          </a:xfrm>
          <a:prstGeom prst="rect">
            <a:avLst/>
          </a:prstGeom>
          <a:noFill/>
          <a:ln w="0">
            <a:noFill/>
            <a:prstDash val="solid"/>
          </a:ln>
        </p:spPr>
        <p:txBody>
          <a:bodyPr anchor="ctr"/>
          <a:lstStyle/>
          <a:p>
            <a:pPr algn="l">
              <a:buNone/>
              <a:defRPr sz="2100" b="1">
                <a:solidFill>
                  <a:srgbClr val="FFFFFF"/>
                </a:solidFill>
              </a:defRPr>
            </a:pPr>
            <a:r>
              <a:rPr sz="2100" b="1">
                <a:solidFill>
                  <a:srgbClr val="FFFFFF"/>
                </a:solidFill>
              </a:rPr>
              <a:t>현재 상황</a:t>
            </a:r>
          </a:p>
        </p:txBody>
      </p:sp>
      <p:sp>
        <p:nvSpPr>
          <p:cNvPr id="6" name="직사각형 5">
            <a:extLst>
              <a:ext uri="{FF2B5EF4-FFF2-40B4-BE49-F238E27FC236}">
                <a16:creationId xmlns:a16="http://schemas.microsoft.com/office/drawing/2014/main" xmlns="" id="{0F73F742-17BD-4ADD-B66A-CED013647FC2}"/>
              </a:ext>
            </a:extLst>
          </p:cNvPr>
          <p:cNvSpPr>
            <a:spLocks noGrp="1"/>
          </p:cNvSpPr>
          <p:nvPr/>
        </p:nvSpPr>
        <p:spPr>
          <a:xfrm>
            <a:off x="742950" y="2305050"/>
            <a:ext cx="2381250" cy="323850"/>
          </a:xfrm>
          <a:prstGeom prst="rect">
            <a:avLst/>
          </a:prstGeom>
          <a:noFill/>
          <a:ln w="0">
            <a:noFill/>
            <a:prstDash val="solid"/>
          </a:ln>
        </p:spPr>
        <p:txBody>
          <a:bodyPr anchor="ctr"/>
          <a:lstStyle/>
          <a:p>
            <a:pPr algn="l"/>
            <a:r>
              <a:rPr sz="1575" b="0">
                <a:solidFill>
                  <a:srgbClr val="BFD0DB"/>
                </a:solidFill>
              </a:rPr>
              <a:t>기업의 생성형 AI 활용</a:t>
            </a:r>
          </a:p>
        </p:txBody>
      </p:sp>
      <p:sp>
        <p:nvSpPr>
          <p:cNvPr id="7" name="직사각형 6">
            <a:extLst>
              <a:ext uri="{FF2B5EF4-FFF2-40B4-BE49-F238E27FC236}">
                <a16:creationId xmlns:a16="http://schemas.microsoft.com/office/drawing/2014/main" xmlns="" id="{77732877-76F7-4EB8-8AB9-299D52AC236A}"/>
              </a:ext>
            </a:extLst>
          </p:cNvPr>
          <p:cNvSpPr>
            <a:spLocks noGrp="1"/>
          </p:cNvSpPr>
          <p:nvPr/>
        </p:nvSpPr>
        <p:spPr>
          <a:xfrm>
            <a:off x="742950" y="2705100"/>
            <a:ext cx="2381250" cy="323850"/>
          </a:xfrm>
          <a:prstGeom prst="rect">
            <a:avLst/>
          </a:prstGeom>
          <a:noFill/>
          <a:ln w="0">
            <a:noFill/>
            <a:prstDash val="solid"/>
          </a:ln>
        </p:spPr>
        <p:txBody>
          <a:bodyPr anchor="ctr"/>
          <a:lstStyle/>
          <a:p>
            <a:pPr algn="l"/>
            <a:r>
              <a:rPr sz="1575" b="0">
                <a:solidFill>
                  <a:srgbClr val="BFD0DB"/>
                </a:solidFill>
              </a:rPr>
              <a:t>대화에서 도구 실행으로</a:t>
            </a:r>
          </a:p>
        </p:txBody>
      </p:sp>
      <p:sp>
        <p:nvSpPr>
          <p:cNvPr id="8" name="직사각형 7">
            <a:extLst>
              <a:ext uri="{FF2B5EF4-FFF2-40B4-BE49-F238E27FC236}">
                <a16:creationId xmlns:a16="http://schemas.microsoft.com/office/drawing/2014/main" xmlns="" id="{FD0EC3D4-5CAF-42CF-B5E9-6C3B3E348926}"/>
              </a:ext>
            </a:extLst>
          </p:cNvPr>
          <p:cNvSpPr>
            <a:spLocks noGrp="1"/>
          </p:cNvSpPr>
          <p:nvPr/>
        </p:nvSpPr>
        <p:spPr>
          <a:xfrm>
            <a:off x="4857750" y="1809750"/>
            <a:ext cx="2381250" cy="400050"/>
          </a:xfrm>
          <a:prstGeom prst="rect">
            <a:avLst/>
          </a:prstGeom>
          <a:noFill/>
          <a:ln w="0">
            <a:noFill/>
            <a:prstDash val="solid"/>
          </a:ln>
        </p:spPr>
        <p:txBody>
          <a:bodyPr anchor="ctr"/>
          <a:lstStyle/>
          <a:p>
            <a:pPr algn="l">
              <a:buNone/>
              <a:defRPr sz="2100" b="1">
                <a:solidFill>
                  <a:srgbClr val="F59B23"/>
                </a:solidFill>
              </a:defRPr>
            </a:pPr>
            <a:r>
              <a:rPr sz="2100" b="1">
                <a:solidFill>
                  <a:srgbClr val="F59B23"/>
                </a:solidFill>
              </a:rPr>
              <a:t>해결할 문제</a:t>
            </a:r>
          </a:p>
        </p:txBody>
      </p:sp>
      <p:sp>
        <p:nvSpPr>
          <p:cNvPr id="9" name="직사각형 8">
            <a:extLst>
              <a:ext uri="{FF2B5EF4-FFF2-40B4-BE49-F238E27FC236}">
                <a16:creationId xmlns:a16="http://schemas.microsoft.com/office/drawing/2014/main" xmlns="" id="{0B66FDCE-3AC4-4810-8412-FE8DAD1E3D1E}"/>
              </a:ext>
            </a:extLst>
          </p:cNvPr>
          <p:cNvSpPr>
            <a:spLocks noGrp="1"/>
          </p:cNvSpPr>
          <p:nvPr/>
        </p:nvSpPr>
        <p:spPr>
          <a:xfrm>
            <a:off x="4857750" y="2305050"/>
            <a:ext cx="3143250" cy="323850"/>
          </a:xfrm>
          <a:prstGeom prst="rect">
            <a:avLst/>
          </a:prstGeom>
          <a:noFill/>
          <a:ln w="0">
            <a:noFill/>
            <a:prstDash val="solid"/>
          </a:ln>
        </p:spPr>
        <p:txBody>
          <a:bodyPr anchor="ctr"/>
          <a:lstStyle/>
          <a:p>
            <a:pPr algn="l"/>
            <a:r>
              <a:rPr sz="1575" b="0">
                <a:solidFill>
                  <a:srgbClr val="FFFFFF"/>
                </a:solidFill>
              </a:rPr>
              <a:t>민감 데이터의 외부 전송</a:t>
            </a:r>
          </a:p>
        </p:txBody>
      </p:sp>
      <p:sp>
        <p:nvSpPr>
          <p:cNvPr id="10" name="직사각형 9">
            <a:extLst>
              <a:ext uri="{FF2B5EF4-FFF2-40B4-BE49-F238E27FC236}">
                <a16:creationId xmlns:a16="http://schemas.microsoft.com/office/drawing/2014/main" xmlns="" id="{0408A41D-70E9-4D20-8EBE-83BDD615F87C}"/>
              </a:ext>
            </a:extLst>
          </p:cNvPr>
          <p:cNvSpPr>
            <a:spLocks noGrp="1"/>
          </p:cNvSpPr>
          <p:nvPr/>
        </p:nvSpPr>
        <p:spPr>
          <a:xfrm>
            <a:off x="4857750" y="2705100"/>
            <a:ext cx="3143250" cy="323850"/>
          </a:xfrm>
          <a:prstGeom prst="rect">
            <a:avLst/>
          </a:prstGeom>
          <a:noFill/>
          <a:ln w="0">
            <a:noFill/>
            <a:prstDash val="solid"/>
          </a:ln>
        </p:spPr>
        <p:txBody>
          <a:bodyPr anchor="ctr"/>
          <a:lstStyle/>
          <a:p>
            <a:pPr algn="l"/>
            <a:r>
              <a:rPr sz="1575" b="0">
                <a:solidFill>
                  <a:srgbClr val="FFFFFF"/>
                </a:solidFill>
              </a:rPr>
              <a:t>자동 실행 결과의 신뢰성</a:t>
            </a:r>
          </a:p>
        </p:txBody>
      </p:sp>
      <p:sp>
        <p:nvSpPr>
          <p:cNvPr id="11" name="직사각형 10">
            <a:extLst>
              <a:ext uri="{FF2B5EF4-FFF2-40B4-BE49-F238E27FC236}">
                <a16:creationId xmlns:a16="http://schemas.microsoft.com/office/drawing/2014/main" xmlns="" id="{087FC0CA-4AED-4F04-8C42-FB0390AD3FB7}"/>
              </a:ext>
            </a:extLst>
          </p:cNvPr>
          <p:cNvSpPr>
            <a:spLocks noGrp="1"/>
          </p:cNvSpPr>
          <p:nvPr/>
        </p:nvSpPr>
        <p:spPr>
          <a:xfrm>
            <a:off x="4857750" y="3105150"/>
            <a:ext cx="3143250" cy="323850"/>
          </a:xfrm>
          <a:prstGeom prst="rect">
            <a:avLst/>
          </a:prstGeom>
          <a:noFill/>
          <a:ln w="0">
            <a:noFill/>
            <a:prstDash val="solid"/>
          </a:ln>
        </p:spPr>
        <p:txBody>
          <a:bodyPr anchor="ctr"/>
          <a:lstStyle/>
          <a:p>
            <a:pPr algn="l"/>
            <a:r>
              <a:rPr sz="1575" b="0">
                <a:solidFill>
                  <a:srgbClr val="FFFFFF"/>
                </a:solidFill>
              </a:rPr>
              <a:t>도입 조건과 검증 기준 필요</a:t>
            </a:r>
          </a:p>
        </p:txBody>
      </p:sp>
      <p:sp>
        <p:nvSpPr>
          <p:cNvPr id="12" name="모서리가 둥근 직사각형 11">
            <a:extLst>
              <a:ext uri="{FF2B5EF4-FFF2-40B4-BE49-F238E27FC236}">
                <a16:creationId xmlns:a16="http://schemas.microsoft.com/office/drawing/2014/main" xmlns="" id="{20969386-8845-46AC-8892-3DE26D4E0598}"/>
              </a:ext>
            </a:extLst>
          </p:cNvPr>
          <p:cNvSpPr>
            <a:spLocks noGrp="1"/>
          </p:cNvSpPr>
          <p:nvPr/>
        </p:nvSpPr>
        <p:spPr>
          <a:xfrm>
            <a:off x="762000" y="3848100"/>
            <a:ext cx="10572750" cy="1333500"/>
          </a:xfrm>
          <a:prstGeom prst="roundRect">
            <a:avLst>
              <a:gd name="adj" fmla="val 8571"/>
            </a:avLst>
          </a:prstGeom>
          <a:solidFill>
            <a:srgbClr val="17293A"/>
          </a:solidFill>
          <a:ln w="9525">
            <a:solidFill>
              <a:srgbClr val="355064"/>
            </a:solidFill>
            <a:prstDash val="solid"/>
          </a:ln>
        </p:spPr>
      </p:sp>
      <p:sp>
        <p:nvSpPr>
          <p:cNvPr id="13" name="직사각형 12">
            <a:extLst>
              <a:ext uri="{FF2B5EF4-FFF2-40B4-BE49-F238E27FC236}">
                <a16:creationId xmlns:a16="http://schemas.microsoft.com/office/drawing/2014/main" xmlns="" id="{010E0A2A-3F68-4E77-B489-150AB586A51B}"/>
              </a:ext>
            </a:extLst>
          </p:cNvPr>
          <p:cNvSpPr>
            <a:spLocks noGrp="1"/>
          </p:cNvSpPr>
          <p:nvPr/>
        </p:nvSpPr>
        <p:spPr>
          <a:xfrm>
            <a:off x="1066800" y="4095750"/>
            <a:ext cx="2952750" cy="285750"/>
          </a:xfrm>
          <a:prstGeom prst="rect">
            <a:avLst/>
          </a:prstGeom>
          <a:noFill/>
          <a:ln w="0">
            <a:noFill/>
            <a:prstDash val="solid"/>
          </a:ln>
        </p:spPr>
        <p:txBody>
          <a:bodyPr anchor="ctr"/>
          <a:lstStyle/>
          <a:p>
            <a:pPr algn="l">
              <a:buNone/>
              <a:defRPr sz="1350" b="1">
                <a:solidFill>
                  <a:srgbClr val="3BB7A0"/>
                </a:solidFill>
              </a:defRPr>
            </a:pPr>
            <a:r>
              <a:rPr sz="1350" b="1">
                <a:solidFill>
                  <a:srgbClr val="3BB7A0"/>
                </a:solidFill>
              </a:rPr>
              <a:t>조사 질문</a:t>
            </a:r>
          </a:p>
        </p:txBody>
      </p:sp>
      <p:sp>
        <p:nvSpPr>
          <p:cNvPr id="14" name="직사각형 13">
            <a:extLst>
              <a:ext uri="{FF2B5EF4-FFF2-40B4-BE49-F238E27FC236}">
                <a16:creationId xmlns:a16="http://schemas.microsoft.com/office/drawing/2014/main" xmlns="" id="{0A9155A4-52B4-4234-AD6A-04480105388C}"/>
              </a:ext>
            </a:extLst>
          </p:cNvPr>
          <p:cNvSpPr>
            <a:spLocks noGrp="1"/>
          </p:cNvSpPr>
          <p:nvPr/>
        </p:nvSpPr>
        <p:spPr>
          <a:xfrm>
            <a:off x="1066800" y="4495800"/>
            <a:ext cx="9715500" cy="419100"/>
          </a:xfrm>
          <a:prstGeom prst="rect">
            <a:avLst/>
          </a:prstGeom>
          <a:noFill/>
          <a:ln w="0">
            <a:noFill/>
            <a:prstDash val="solid"/>
          </a:ln>
        </p:spPr>
        <p:txBody>
          <a:bodyPr anchor="ctr"/>
          <a:lstStyle/>
          <a:p>
            <a:pPr algn="l"/>
            <a:r>
              <a:rPr sz="1800" b="1">
                <a:solidFill>
                  <a:srgbClr val="FFFFFF"/>
                </a:solidFill>
              </a:rPr>
              <a:t>배치 위치는 데이터 통제, Agent는 작업 실행의 문제다.</a:t>
            </a:r>
          </a:p>
        </p:txBody>
      </p:sp>
      <p:sp>
        <p:nvSpPr>
          <p:cNvPr id="15" name="직사각형 14">
            <a:extLst>
              <a:ext uri="{FF2B5EF4-FFF2-40B4-BE49-F238E27FC236}">
                <a16:creationId xmlns:a16="http://schemas.microsoft.com/office/drawing/2014/main" xmlns="" id="{54F9807A-CE35-4DCC-A580-6B62C4848305}"/>
              </a:ext>
            </a:extLst>
          </p:cNvPr>
          <p:cNvSpPr>
            <a:spLocks noGrp="1"/>
          </p:cNvSpPr>
          <p:nvPr/>
        </p:nvSpPr>
        <p:spPr>
          <a:xfrm>
            <a:off x="762000" y="5562600"/>
            <a:ext cx="10572750" cy="400050"/>
          </a:xfrm>
          <a:prstGeom prst="rect">
            <a:avLst/>
          </a:prstGeom>
          <a:noFill/>
          <a:ln w="0">
            <a:noFill/>
            <a:prstDash val="solid"/>
          </a:ln>
        </p:spPr>
        <p:txBody>
          <a:bodyPr anchor="ctr"/>
          <a:lstStyle/>
          <a:p>
            <a:pPr algn="ctr"/>
            <a:r>
              <a:rPr sz="1500" b="1">
                <a:solidFill>
                  <a:srgbClr val="D5E3EC"/>
                </a:solidFill>
              </a:rPr>
              <a:t>범위: 기업 사례 4개 조사 문서 + Hermes 실습 + CRUD PoC 기록</a:t>
            </a:r>
          </a:p>
        </p:txBody>
      </p:sp>
    </p:spTree>
    <p:extLst>
      <p:ext uri="{BB962C8B-B14F-4D97-AF65-F5344CB8AC3E}">
        <p14:creationId xmlns:p14="http://schemas.microsoft.com/office/powerpoint/2010/main" val="1928148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6D25D2B8-37AE-4A71-A94E-1815F0A7E8B3}"/>
              </a:ext>
            </a:extLst>
          </p:cNvPr>
          <p:cNvSpPr>
            <a:spLocks noGrp="1"/>
          </p:cNvSpPr>
          <p:nvPr/>
        </p:nvSpPr>
        <p:spPr>
          <a:xfrm>
            <a:off x="609600" y="381000"/>
            <a:ext cx="4762500" cy="266700"/>
          </a:xfrm>
          <a:prstGeom prst="rect">
            <a:avLst/>
          </a:prstGeom>
          <a:noFill/>
          <a:ln w="0">
            <a:noFill/>
            <a:prstDash val="solid"/>
          </a:ln>
        </p:spPr>
        <p:txBody>
          <a:bodyPr anchor="ctr"/>
          <a:lstStyle/>
          <a:p>
            <a:pPr algn="l">
              <a:buNone/>
              <a:defRPr sz="1050" b="1">
                <a:solidFill>
                  <a:srgbClr val="2878B5"/>
                </a:solidFill>
              </a:defRPr>
            </a:pPr>
            <a:r>
              <a:rPr sz="1050" b="1">
                <a:solidFill>
                  <a:srgbClr val="2878B5"/>
                </a:solidFill>
              </a:rPr>
              <a:t>주간 기술 세미나</a:t>
            </a:r>
          </a:p>
        </p:txBody>
      </p:sp>
      <p:sp>
        <p:nvSpPr>
          <p:cNvPr id="2" name="직사각형 1">
            <a:extLst>
              <a:ext uri="{FF2B5EF4-FFF2-40B4-BE49-F238E27FC236}">
                <a16:creationId xmlns:a16="http://schemas.microsoft.com/office/drawing/2014/main" xmlns="" id="{57C8C16E-38E2-49C9-A048-63B3E27491C2}"/>
              </a:ext>
            </a:extLst>
          </p:cNvPr>
          <p:cNvSpPr>
            <a:spLocks noGrp="1"/>
          </p:cNvSpPr>
          <p:nvPr/>
        </p:nvSpPr>
        <p:spPr>
          <a:xfrm>
            <a:off x="609600" y="685800"/>
            <a:ext cx="10477500" cy="590550"/>
          </a:xfrm>
          <a:prstGeom prst="rect">
            <a:avLst/>
          </a:prstGeom>
          <a:noFill/>
          <a:ln w="0">
            <a:noFill/>
            <a:prstDash val="solid"/>
          </a:ln>
        </p:spPr>
        <p:txBody>
          <a:bodyPr anchor="ctr"/>
          <a:lstStyle/>
          <a:p>
            <a:pPr algn="l">
              <a:buNone/>
              <a:defRPr sz="2550" b="1">
                <a:solidFill>
                  <a:srgbClr val="17212B"/>
                </a:solidFill>
              </a:defRPr>
            </a:pPr>
            <a:r>
              <a:rPr sz="2550" b="1">
                <a:solidFill>
                  <a:srgbClr val="17212B"/>
                </a:solidFill>
              </a:rPr>
              <a:t>기업 사례</a:t>
            </a:r>
          </a:p>
        </p:txBody>
      </p:sp>
      <p:sp>
        <p:nvSpPr>
          <p:cNvPr id="3" name="직사각형 2">
            <a:extLst>
              <a:ext uri="{FF2B5EF4-FFF2-40B4-BE49-F238E27FC236}">
                <a16:creationId xmlns:a16="http://schemas.microsoft.com/office/drawing/2014/main" xmlns="" id="{A7B27A5E-4C78-44FE-8B4D-9B1A8426CACE}"/>
              </a:ext>
            </a:extLst>
          </p:cNvPr>
          <p:cNvSpPr>
            <a:spLocks noGrp="1"/>
          </p:cNvSpPr>
          <p:nvPr/>
        </p:nvSpPr>
        <p:spPr>
          <a:xfrm>
            <a:off x="609600" y="1352550"/>
            <a:ext cx="10972800" cy="19050"/>
          </a:xfrm>
          <a:prstGeom prst="rect">
            <a:avLst/>
          </a:prstGeom>
          <a:solidFill>
            <a:srgbClr val="D8E1E8"/>
          </a:solidFill>
          <a:ln w="0">
            <a:solidFill>
              <a:srgbClr val="D8E1E8"/>
            </a:solidFill>
            <a:prstDash val="solid"/>
          </a:ln>
        </p:spPr>
      </p:sp>
      <p:sp>
        <p:nvSpPr>
          <p:cNvPr id="4" name="직사각형 3">
            <a:extLst>
              <a:ext uri="{FF2B5EF4-FFF2-40B4-BE49-F238E27FC236}">
                <a16:creationId xmlns:a16="http://schemas.microsoft.com/office/drawing/2014/main" xmlns="" id="{2984471E-A5D6-4761-A736-E0898B7E38CA}"/>
              </a:ext>
            </a:extLst>
          </p:cNvPr>
          <p:cNvSpPr>
            <a:spLocks noGrp="1"/>
          </p:cNvSpPr>
          <p:nvPr/>
        </p:nvSpPr>
        <p:spPr>
          <a:xfrm>
            <a:off x="11163300" y="400050"/>
            <a:ext cx="419100" cy="228600"/>
          </a:xfrm>
          <a:prstGeom prst="rect">
            <a:avLst/>
          </a:prstGeom>
          <a:noFill/>
          <a:ln w="0">
            <a:noFill/>
            <a:prstDash val="solid"/>
          </a:ln>
        </p:spPr>
        <p:txBody>
          <a:bodyPr anchor="ctr"/>
          <a:lstStyle/>
          <a:p>
            <a:pPr algn="r">
              <a:buNone/>
              <a:defRPr sz="975" b="1">
                <a:solidFill>
                  <a:srgbClr val="93A0AA"/>
                </a:solidFill>
              </a:defRPr>
            </a:pPr>
            <a:r>
              <a:rPr sz="975" b="1">
                <a:solidFill>
                  <a:srgbClr val="93A0AA"/>
                </a:solidFill>
              </a:rPr>
              <a:t>04</a:t>
            </a:r>
          </a:p>
        </p:txBody>
      </p:sp>
      <p:sp>
        <p:nvSpPr>
          <p:cNvPr id="5" name="모서리가 둥근 직사각형 4">
            <a:extLst>
              <a:ext uri="{FF2B5EF4-FFF2-40B4-BE49-F238E27FC236}">
                <a16:creationId xmlns:a16="http://schemas.microsoft.com/office/drawing/2014/main" xmlns="" id="{D4F7D8D9-F88E-4F68-A21E-05F2AA11C81F}"/>
              </a:ext>
            </a:extLst>
          </p:cNvPr>
          <p:cNvSpPr>
            <a:spLocks noGrp="1"/>
          </p:cNvSpPr>
          <p:nvPr/>
        </p:nvSpPr>
        <p:spPr>
          <a:xfrm>
            <a:off x="609600" y="1733550"/>
            <a:ext cx="5095875" cy="3429000"/>
          </a:xfrm>
          <a:prstGeom prst="roundRect">
            <a:avLst>
              <a:gd name="adj" fmla="val 3333"/>
            </a:avLst>
          </a:prstGeom>
          <a:solidFill>
            <a:srgbClr val="EAF7F3"/>
          </a:solidFill>
          <a:ln w="9525">
            <a:solidFill>
              <a:srgbClr val="B7E3D7"/>
            </a:solidFill>
            <a:prstDash val="solid"/>
          </a:ln>
        </p:spPr>
      </p:sp>
      <p:sp>
        <p:nvSpPr>
          <p:cNvPr id="6" name="직사각형 5">
            <a:extLst>
              <a:ext uri="{FF2B5EF4-FFF2-40B4-BE49-F238E27FC236}">
                <a16:creationId xmlns:a16="http://schemas.microsoft.com/office/drawing/2014/main" xmlns="" id="{CBAC6F85-A7A7-4D90-8F4D-8EEC3AF651DF}"/>
              </a:ext>
            </a:extLst>
          </p:cNvPr>
          <p:cNvSpPr>
            <a:spLocks noGrp="1"/>
          </p:cNvSpPr>
          <p:nvPr/>
        </p:nvSpPr>
        <p:spPr>
          <a:xfrm>
            <a:off x="895350" y="1981200"/>
            <a:ext cx="4476750" cy="323850"/>
          </a:xfrm>
          <a:prstGeom prst="rect">
            <a:avLst/>
          </a:prstGeom>
          <a:noFill/>
          <a:ln w="0">
            <a:noFill/>
            <a:prstDash val="solid"/>
          </a:ln>
        </p:spPr>
        <p:txBody>
          <a:bodyPr anchor="ctr"/>
          <a:lstStyle/>
          <a:p>
            <a:pPr algn="l"/>
            <a:r>
              <a:rPr sz="1875" b="1">
                <a:solidFill>
                  <a:srgbClr val="3BB7A0"/>
                </a:solidFill>
              </a:rPr>
              <a:t>미래에셋증권 · 금융 sLLM</a:t>
            </a:r>
          </a:p>
        </p:txBody>
      </p:sp>
      <p:sp>
        <p:nvSpPr>
          <p:cNvPr id="7" name="직사각형 6">
            <a:extLst>
              <a:ext uri="{FF2B5EF4-FFF2-40B4-BE49-F238E27FC236}">
                <a16:creationId xmlns:a16="http://schemas.microsoft.com/office/drawing/2014/main" xmlns="" id="{F4C41555-151E-44FB-9DB4-ACF598C7225B}"/>
              </a:ext>
            </a:extLst>
          </p:cNvPr>
          <p:cNvSpPr>
            <a:spLocks noGrp="1"/>
          </p:cNvSpPr>
          <p:nvPr/>
        </p:nvSpPr>
        <p:spPr>
          <a:xfrm>
            <a:off x="895350" y="2457450"/>
            <a:ext cx="4476750" cy="9525"/>
          </a:xfrm>
          <a:prstGeom prst="rect">
            <a:avLst/>
          </a:prstGeom>
          <a:solidFill>
            <a:srgbClr val="B7E3D7"/>
          </a:solidFill>
          <a:ln w="0">
            <a:solidFill>
              <a:srgbClr val="B7E3D7"/>
            </a:solidFill>
            <a:prstDash val="solid"/>
          </a:ln>
        </p:spPr>
      </p:sp>
      <p:sp>
        <p:nvSpPr>
          <p:cNvPr id="8" name="직사각형 7">
            <a:extLst>
              <a:ext uri="{FF2B5EF4-FFF2-40B4-BE49-F238E27FC236}">
                <a16:creationId xmlns:a16="http://schemas.microsoft.com/office/drawing/2014/main" xmlns="" id="{57FBFD40-D6C9-4A68-AF31-1DFF13C57772}"/>
              </a:ext>
            </a:extLst>
          </p:cNvPr>
          <p:cNvSpPr>
            <a:spLocks noGrp="1"/>
          </p:cNvSpPr>
          <p:nvPr/>
        </p:nvSpPr>
        <p:spPr>
          <a:xfrm>
            <a:off x="895350" y="2724150"/>
            <a:ext cx="4333875" cy="2000250"/>
          </a:xfrm>
          <a:prstGeom prst="rect">
            <a:avLst/>
          </a:prstGeom>
          <a:noFill/>
          <a:ln w="0">
            <a:noFill/>
            <a:prstDash val="solid"/>
          </a:ln>
        </p:spPr>
        <p:txBody>
          <a:bodyPr anchor="ctr"/>
          <a:lstStyle/>
          <a:p>
            <a:pPr algn="l"/>
            <a:r>
              <a:rPr sz="1500" b="1">
                <a:solidFill>
                  <a:srgbClr val="17212B"/>
                </a:solidFill>
              </a:rPr>
              <a:t>목적: 보안 제약 속 금융 AI 활용</a:t>
            </a:r>
          </a:p>
          <a:p>
            <a:pPr algn="l"/>
            <a:r>
              <a:rPr sz="1500" b="1">
                <a:solidFill>
                  <a:srgbClr val="17212B"/>
                </a:solidFill>
              </a:rPr>
              <a:t>기술: HCX-DASH 기반 금융 sLLM</a:t>
            </a:r>
          </a:p>
          <a:p>
            <a:pPr algn="l"/>
            <a:r>
              <a:rPr sz="1500" b="1">
                <a:solidFill>
                  <a:srgbClr val="17212B"/>
                </a:solidFill>
              </a:rPr>
              <a:t>범위: 온프레미스 구축 완료</a:t>
            </a:r>
          </a:p>
          <a:p>
            <a:pPr algn="l"/>
            <a:r>
              <a:rPr sz="1500" b="1">
                <a:solidFill>
                  <a:srgbClr val="17212B"/>
                </a:solidFill>
              </a:rPr>
              <a:t>효과: 정량 성과는 본 자료에 미제시</a:t>
            </a:r>
          </a:p>
          <a:p>
            <a:pPr algn="l"/>
            <a:r>
              <a:rPr sz="1500" b="1">
                <a:solidFill>
                  <a:srgbClr val="17212B"/>
                </a:solidFill>
              </a:rPr>
              <a:t>출처: NAVER 공식 발표 · 2024.09.19</a:t>
            </a:r>
          </a:p>
        </p:txBody>
      </p:sp>
      <p:sp>
        <p:nvSpPr>
          <p:cNvPr id="9" name="모서리가 둥근 직사각형 8">
            <a:extLst>
              <a:ext uri="{FF2B5EF4-FFF2-40B4-BE49-F238E27FC236}">
                <a16:creationId xmlns:a16="http://schemas.microsoft.com/office/drawing/2014/main" xmlns="" id="{113372CF-AEC7-4AE2-95E1-DD47A8EF954B}"/>
              </a:ext>
            </a:extLst>
          </p:cNvPr>
          <p:cNvSpPr>
            <a:spLocks noGrp="1"/>
          </p:cNvSpPr>
          <p:nvPr/>
        </p:nvSpPr>
        <p:spPr>
          <a:xfrm>
            <a:off x="6048375" y="1733550"/>
            <a:ext cx="5286375" cy="3429000"/>
          </a:xfrm>
          <a:prstGeom prst="roundRect">
            <a:avLst>
              <a:gd name="adj" fmla="val 3333"/>
            </a:avLst>
          </a:prstGeom>
          <a:solidFill>
            <a:srgbClr val="FFF5E8"/>
          </a:solidFill>
          <a:ln w="9525">
            <a:solidFill>
              <a:srgbClr val="F0D0A1"/>
            </a:solidFill>
            <a:prstDash val="solid"/>
          </a:ln>
        </p:spPr>
      </p:sp>
      <p:sp>
        <p:nvSpPr>
          <p:cNvPr id="10" name="직사각형 9">
            <a:extLst>
              <a:ext uri="{FF2B5EF4-FFF2-40B4-BE49-F238E27FC236}">
                <a16:creationId xmlns:a16="http://schemas.microsoft.com/office/drawing/2014/main" xmlns="" id="{C52D3E52-554A-42E2-BE7E-7C2E714F2654}"/>
              </a:ext>
            </a:extLst>
          </p:cNvPr>
          <p:cNvSpPr>
            <a:spLocks noGrp="1"/>
          </p:cNvSpPr>
          <p:nvPr/>
        </p:nvSpPr>
        <p:spPr>
          <a:xfrm>
            <a:off x="6334125" y="1981200"/>
            <a:ext cx="4667250" cy="323850"/>
          </a:xfrm>
          <a:prstGeom prst="rect">
            <a:avLst/>
          </a:prstGeom>
          <a:noFill/>
          <a:ln w="0">
            <a:noFill/>
            <a:prstDash val="solid"/>
          </a:ln>
        </p:spPr>
        <p:txBody>
          <a:bodyPr anchor="ctr"/>
          <a:lstStyle/>
          <a:p>
            <a:pPr algn="l"/>
            <a:r>
              <a:rPr sz="1875" b="1">
                <a:solidFill>
                  <a:srgbClr val="F59B23"/>
                </a:solidFill>
              </a:rPr>
              <a:t>Lockheed Martin · AI Factory</a:t>
            </a:r>
          </a:p>
        </p:txBody>
      </p:sp>
      <p:sp>
        <p:nvSpPr>
          <p:cNvPr id="11" name="직사각형 10">
            <a:extLst>
              <a:ext uri="{FF2B5EF4-FFF2-40B4-BE49-F238E27FC236}">
                <a16:creationId xmlns:a16="http://schemas.microsoft.com/office/drawing/2014/main" xmlns="" id="{FB362333-9C7C-4939-B51F-D7617CBEAB0A}"/>
              </a:ext>
            </a:extLst>
          </p:cNvPr>
          <p:cNvSpPr>
            <a:spLocks noGrp="1"/>
          </p:cNvSpPr>
          <p:nvPr/>
        </p:nvSpPr>
        <p:spPr>
          <a:xfrm>
            <a:off x="6334125" y="2457450"/>
            <a:ext cx="4667250" cy="9525"/>
          </a:xfrm>
          <a:prstGeom prst="rect">
            <a:avLst/>
          </a:prstGeom>
          <a:solidFill>
            <a:srgbClr val="F0D0A1"/>
          </a:solidFill>
          <a:ln w="0">
            <a:solidFill>
              <a:srgbClr val="F0D0A1"/>
            </a:solidFill>
            <a:prstDash val="solid"/>
          </a:ln>
        </p:spPr>
      </p:sp>
      <p:sp>
        <p:nvSpPr>
          <p:cNvPr id="12" name="직사각형 11">
            <a:extLst>
              <a:ext uri="{FF2B5EF4-FFF2-40B4-BE49-F238E27FC236}">
                <a16:creationId xmlns:a16="http://schemas.microsoft.com/office/drawing/2014/main" xmlns="" id="{86DFDF4C-9FA9-43EF-82D4-7501A56AFA5E}"/>
              </a:ext>
            </a:extLst>
          </p:cNvPr>
          <p:cNvSpPr>
            <a:spLocks noGrp="1"/>
          </p:cNvSpPr>
          <p:nvPr/>
        </p:nvSpPr>
        <p:spPr>
          <a:xfrm>
            <a:off x="6334125" y="2724150"/>
            <a:ext cx="4524375" cy="2000250"/>
          </a:xfrm>
          <a:prstGeom prst="rect">
            <a:avLst/>
          </a:prstGeom>
          <a:noFill/>
          <a:ln w="0">
            <a:noFill/>
            <a:prstDash val="solid"/>
          </a:ln>
        </p:spPr>
        <p:txBody>
          <a:bodyPr anchor="ctr"/>
          <a:lstStyle/>
          <a:p>
            <a:pPr algn="l"/>
            <a:r>
              <a:rPr sz="1500" b="1">
                <a:solidFill>
                  <a:srgbClr val="17212B"/>
                </a:solidFill>
              </a:rPr>
              <a:t>목적: 내부 AI 활용 확대와 데이터 통제</a:t>
            </a:r>
          </a:p>
          <a:p>
            <a:pPr algn="l"/>
            <a:r>
              <a:rPr sz="1500" b="1">
                <a:solidFill>
                  <a:srgbClr val="17212B"/>
                </a:solidFill>
              </a:rPr>
              <a:t>기술: DGX SuperPOD 기반 AI Factory</a:t>
            </a:r>
          </a:p>
          <a:p>
            <a:pPr algn="l"/>
            <a:r>
              <a:rPr sz="1500" b="1">
                <a:solidFill>
                  <a:srgbClr val="17212B"/>
                </a:solidFill>
              </a:rPr>
              <a:t>범위: 내부 모델·개발 지원 활용</a:t>
            </a:r>
          </a:p>
          <a:p>
            <a:pPr algn="l"/>
            <a:r>
              <a:rPr sz="1500" b="1">
                <a:solidFill>
                  <a:srgbClr val="17212B"/>
                </a:solidFill>
              </a:rPr>
              <a:t>규모: 엔지니어·개발자 7,000명 지원</a:t>
            </a:r>
          </a:p>
          <a:p>
            <a:pPr algn="l"/>
            <a:r>
              <a:rPr sz="1500" b="1">
                <a:solidFill>
                  <a:srgbClr val="17212B"/>
                </a:solidFill>
              </a:rPr>
              <a:t>출처: NVIDIA 고객 사례</a:t>
            </a:r>
          </a:p>
        </p:txBody>
      </p:sp>
      <p:sp>
        <p:nvSpPr>
          <p:cNvPr id="13" name="모서리가 둥근 직사각형 12">
            <a:extLst>
              <a:ext uri="{FF2B5EF4-FFF2-40B4-BE49-F238E27FC236}">
                <a16:creationId xmlns:a16="http://schemas.microsoft.com/office/drawing/2014/main" xmlns="" id="{5D9A957E-640E-48E3-8D81-D1F669E6D17A}"/>
              </a:ext>
            </a:extLst>
          </p:cNvPr>
          <p:cNvSpPr>
            <a:spLocks noGrp="1"/>
          </p:cNvSpPr>
          <p:nvPr/>
        </p:nvSpPr>
        <p:spPr>
          <a:xfrm>
            <a:off x="609600" y="5467350"/>
            <a:ext cx="10725150" cy="590550"/>
          </a:xfrm>
          <a:prstGeom prst="roundRect">
            <a:avLst>
              <a:gd name="adj" fmla="val 19355"/>
            </a:avLst>
          </a:prstGeom>
          <a:solidFill>
            <a:srgbClr val="111D29"/>
          </a:solidFill>
          <a:ln w="9525">
            <a:solidFill>
              <a:srgbClr val="111D29"/>
            </a:solidFill>
            <a:prstDash val="solid"/>
          </a:ln>
        </p:spPr>
      </p:sp>
      <p:sp>
        <p:nvSpPr>
          <p:cNvPr id="14" name="직사각형 13">
            <a:extLst>
              <a:ext uri="{FF2B5EF4-FFF2-40B4-BE49-F238E27FC236}">
                <a16:creationId xmlns:a16="http://schemas.microsoft.com/office/drawing/2014/main" xmlns="" id="{E4BC0995-3E8B-4D8E-A3EB-C42D18EFF25D}"/>
              </a:ext>
            </a:extLst>
          </p:cNvPr>
          <p:cNvSpPr>
            <a:spLocks noGrp="1"/>
          </p:cNvSpPr>
          <p:nvPr/>
        </p:nvSpPr>
        <p:spPr>
          <a:xfrm>
            <a:off x="819150" y="5591175"/>
            <a:ext cx="10306050" cy="342900"/>
          </a:xfrm>
          <a:prstGeom prst="rect">
            <a:avLst/>
          </a:prstGeom>
          <a:noFill/>
          <a:ln w="0">
            <a:noFill/>
            <a:prstDash val="solid"/>
          </a:ln>
        </p:spPr>
        <p:txBody>
          <a:bodyPr anchor="ctr"/>
          <a:lstStyle/>
          <a:p>
            <a:pPr algn="ctr"/>
            <a:r>
              <a:rPr sz="1425" b="1">
                <a:solidFill>
                  <a:srgbClr val="FFFFFF"/>
                </a:solidFill>
              </a:rPr>
              <a:t>시사점: 데이터 통제 요구를 먼저 정의하고, 사용 규모와 운영 역량을 함께 평가한다.</a:t>
            </a:r>
          </a:p>
        </p:txBody>
      </p:sp>
      <p:sp>
        <p:nvSpPr>
          <p:cNvPr id="15" name="직사각형 14">
            <a:extLst>
              <a:ext uri="{FF2B5EF4-FFF2-40B4-BE49-F238E27FC236}">
                <a16:creationId xmlns:a16="http://schemas.microsoft.com/office/drawing/2014/main" xmlns="" id="{B5C0FFF5-E894-497F-8A51-B2C1A6783495}"/>
              </a:ext>
            </a:extLst>
          </p:cNvPr>
          <p:cNvSpPr>
            <a:spLocks noGrp="1"/>
          </p:cNvSpPr>
          <p:nvPr/>
        </p:nvSpPr>
        <p:spPr>
          <a:xfrm>
            <a:off x="609600" y="6496050"/>
            <a:ext cx="8572500" cy="171450"/>
          </a:xfrm>
          <a:prstGeom prst="rect">
            <a:avLst/>
          </a:prstGeom>
          <a:noFill/>
          <a:ln w="0">
            <a:noFill/>
            <a:prstDash val="solid"/>
          </a:ln>
        </p:spPr>
        <p:txBody>
          <a:bodyPr anchor="ctr"/>
          <a:lstStyle/>
          <a:p>
            <a:pPr algn="l"/>
            <a:r>
              <a:rPr sz="825" b="0">
                <a:solidFill>
                  <a:srgbClr val="87939E"/>
                </a:solidFill>
              </a:rPr>
              <a:t>기업 온프레미스 AI · Hermes Agent 실습과 PoC</a:t>
            </a:r>
          </a:p>
        </p:txBody>
      </p:sp>
    </p:spTree>
    <p:extLst>
      <p:ext uri="{BB962C8B-B14F-4D97-AF65-F5344CB8AC3E}">
        <p14:creationId xmlns:p14="http://schemas.microsoft.com/office/powerpoint/2010/main" val="933409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40" name="직사각형 39">
            <a:extLst>
              <a:ext uri="{FF2B5EF4-FFF2-40B4-BE49-F238E27FC236}">
                <a16:creationId xmlns:a16="http://schemas.microsoft.com/office/drawing/2014/main" xmlns="" id="{04B63593-962E-45FC-979A-D9AF0BD2A19A}"/>
              </a:ext>
            </a:extLst>
          </p:cNvPr>
          <p:cNvSpPr>
            <a:spLocks noGrp="1"/>
          </p:cNvSpPr>
          <p:nvPr/>
        </p:nvSpPr>
        <p:spPr>
          <a:xfrm>
            <a:off x="609600" y="381000"/>
            <a:ext cx="4762500" cy="266700"/>
          </a:xfrm>
          <a:prstGeom prst="rect">
            <a:avLst/>
          </a:prstGeom>
          <a:noFill/>
          <a:ln w="0">
            <a:noFill/>
            <a:prstDash val="solid"/>
          </a:ln>
        </p:spPr>
        <p:txBody>
          <a:bodyPr anchor="ctr"/>
          <a:lstStyle/>
          <a:p>
            <a:pPr algn="l">
              <a:buNone/>
              <a:defRPr sz="1050" b="1">
                <a:solidFill>
                  <a:srgbClr val="2878B5"/>
                </a:solidFill>
              </a:defRPr>
            </a:pPr>
            <a:r>
              <a:rPr sz="1050" b="1">
                <a:solidFill>
                  <a:srgbClr val="2878B5"/>
                </a:solidFill>
              </a:rPr>
              <a:t>주간 기술 세미나</a:t>
            </a:r>
          </a:p>
        </p:txBody>
      </p:sp>
      <p:sp>
        <p:nvSpPr>
          <p:cNvPr id="2" name="직사각형 1">
            <a:extLst>
              <a:ext uri="{FF2B5EF4-FFF2-40B4-BE49-F238E27FC236}">
                <a16:creationId xmlns:a16="http://schemas.microsoft.com/office/drawing/2014/main" xmlns="" id="{9E6B828F-5319-46F4-A34A-B3758DA16FC3}"/>
              </a:ext>
            </a:extLst>
          </p:cNvPr>
          <p:cNvSpPr>
            <a:spLocks noGrp="1"/>
          </p:cNvSpPr>
          <p:nvPr/>
        </p:nvSpPr>
        <p:spPr>
          <a:xfrm>
            <a:off x="609600" y="685800"/>
            <a:ext cx="10477500" cy="590550"/>
          </a:xfrm>
          <a:prstGeom prst="rect">
            <a:avLst/>
          </a:prstGeom>
          <a:noFill/>
          <a:ln w="0">
            <a:noFill/>
            <a:prstDash val="solid"/>
          </a:ln>
        </p:spPr>
        <p:txBody>
          <a:bodyPr anchor="ctr"/>
          <a:lstStyle/>
          <a:p>
            <a:pPr algn="l">
              <a:buNone/>
              <a:defRPr sz="2550" b="1">
                <a:solidFill>
                  <a:srgbClr val="17212B"/>
                </a:solidFill>
              </a:defRPr>
            </a:pPr>
            <a:r>
              <a:rPr sz="2550" b="1">
                <a:solidFill>
                  <a:srgbClr val="17212B"/>
                </a:solidFill>
              </a:rPr>
              <a:t>기술 비교표</a:t>
            </a:r>
          </a:p>
        </p:txBody>
      </p:sp>
      <p:sp>
        <p:nvSpPr>
          <p:cNvPr id="3" name="직사각형 2">
            <a:extLst>
              <a:ext uri="{FF2B5EF4-FFF2-40B4-BE49-F238E27FC236}">
                <a16:creationId xmlns:a16="http://schemas.microsoft.com/office/drawing/2014/main" xmlns="" id="{CB59D7D3-C88F-4085-9F08-094A51F56B1E}"/>
              </a:ext>
            </a:extLst>
          </p:cNvPr>
          <p:cNvSpPr>
            <a:spLocks noGrp="1"/>
          </p:cNvSpPr>
          <p:nvPr/>
        </p:nvSpPr>
        <p:spPr>
          <a:xfrm>
            <a:off x="609600" y="1352550"/>
            <a:ext cx="10972800" cy="19050"/>
          </a:xfrm>
          <a:prstGeom prst="rect">
            <a:avLst/>
          </a:prstGeom>
          <a:solidFill>
            <a:srgbClr val="D8E1E8"/>
          </a:solidFill>
          <a:ln w="0">
            <a:solidFill>
              <a:srgbClr val="D8E1E8"/>
            </a:solidFill>
            <a:prstDash val="solid"/>
          </a:ln>
        </p:spPr>
      </p:sp>
      <p:sp>
        <p:nvSpPr>
          <p:cNvPr id="4" name="직사각형 3">
            <a:extLst>
              <a:ext uri="{FF2B5EF4-FFF2-40B4-BE49-F238E27FC236}">
                <a16:creationId xmlns:a16="http://schemas.microsoft.com/office/drawing/2014/main" xmlns="" id="{0689964C-9C9C-46FD-803C-06624F66EFD2}"/>
              </a:ext>
            </a:extLst>
          </p:cNvPr>
          <p:cNvSpPr>
            <a:spLocks noGrp="1"/>
          </p:cNvSpPr>
          <p:nvPr/>
        </p:nvSpPr>
        <p:spPr>
          <a:xfrm>
            <a:off x="11163300" y="400050"/>
            <a:ext cx="419100" cy="228600"/>
          </a:xfrm>
          <a:prstGeom prst="rect">
            <a:avLst/>
          </a:prstGeom>
          <a:noFill/>
          <a:ln w="0">
            <a:noFill/>
            <a:prstDash val="solid"/>
          </a:ln>
        </p:spPr>
        <p:txBody>
          <a:bodyPr anchor="ctr"/>
          <a:lstStyle/>
          <a:p>
            <a:pPr algn="r">
              <a:buNone/>
              <a:defRPr sz="975" b="1">
                <a:solidFill>
                  <a:srgbClr val="93A0AA"/>
                </a:solidFill>
              </a:defRPr>
            </a:pPr>
            <a:r>
              <a:rPr sz="975" b="1">
                <a:solidFill>
                  <a:srgbClr val="93A0AA"/>
                </a:solidFill>
              </a:rPr>
              <a:t>05</a:t>
            </a:r>
          </a:p>
        </p:txBody>
      </p:sp>
      <p:sp>
        <p:nvSpPr>
          <p:cNvPr id="37" name="모서리가 둥근 직사각형 36">
            <a:extLst>
              <a:ext uri="{FF2B5EF4-FFF2-40B4-BE49-F238E27FC236}">
                <a16:creationId xmlns:a16="http://schemas.microsoft.com/office/drawing/2014/main" xmlns="" id="{7AED3334-8294-4180-941D-670298D4AF71}"/>
              </a:ext>
            </a:extLst>
          </p:cNvPr>
          <p:cNvSpPr>
            <a:spLocks noGrp="1"/>
          </p:cNvSpPr>
          <p:nvPr/>
        </p:nvSpPr>
        <p:spPr>
          <a:xfrm>
            <a:off x="609600" y="5429250"/>
            <a:ext cx="10725150" cy="552450"/>
          </a:xfrm>
          <a:prstGeom prst="roundRect">
            <a:avLst>
              <a:gd name="adj" fmla="val 20690"/>
            </a:avLst>
          </a:prstGeom>
          <a:solidFill>
            <a:srgbClr val="EAF4FB"/>
          </a:solidFill>
          <a:ln w="9525">
            <a:solidFill>
              <a:srgbClr val="EAF4FB"/>
            </a:solidFill>
            <a:prstDash val="solid"/>
          </a:ln>
        </p:spPr>
      </p:sp>
      <p:sp>
        <p:nvSpPr>
          <p:cNvPr id="38" name="직사각형 37">
            <a:extLst>
              <a:ext uri="{FF2B5EF4-FFF2-40B4-BE49-F238E27FC236}">
                <a16:creationId xmlns:a16="http://schemas.microsoft.com/office/drawing/2014/main" xmlns="" id="{DC090FCA-5E12-41C9-90FD-2A229AE89C4C}"/>
              </a:ext>
            </a:extLst>
          </p:cNvPr>
          <p:cNvSpPr>
            <a:spLocks noGrp="1"/>
          </p:cNvSpPr>
          <p:nvPr/>
        </p:nvSpPr>
        <p:spPr>
          <a:xfrm>
            <a:off x="781050" y="5534025"/>
            <a:ext cx="10382250" cy="342900"/>
          </a:xfrm>
          <a:prstGeom prst="rect">
            <a:avLst/>
          </a:prstGeom>
          <a:noFill/>
          <a:ln w="0">
            <a:noFill/>
            <a:prstDash val="solid"/>
          </a:ln>
        </p:spPr>
        <p:txBody>
          <a:bodyPr anchor="ctr"/>
          <a:lstStyle/>
          <a:p>
            <a:pPr algn="ctr"/>
            <a:r>
              <a:rPr sz="1350" b="1">
                <a:solidFill>
                  <a:srgbClr val="2878B5"/>
                </a:solidFill>
              </a:rPr>
              <a:t>판단: 민감도·사용량·운영 역량으로 선택 — 이번 PoC는 배치 방식 비교 실험이 아니다.</a:t>
            </a:r>
          </a:p>
        </p:txBody>
      </p:sp>
      <p:sp>
        <p:nvSpPr>
          <p:cNvPr id="39" name="직사각형 38">
            <a:extLst>
              <a:ext uri="{FF2B5EF4-FFF2-40B4-BE49-F238E27FC236}">
                <a16:creationId xmlns:a16="http://schemas.microsoft.com/office/drawing/2014/main" xmlns="" id="{9C4AE677-DCD5-4629-BA92-DC9C0F3400AB}"/>
              </a:ext>
            </a:extLst>
          </p:cNvPr>
          <p:cNvSpPr>
            <a:spLocks noGrp="1"/>
          </p:cNvSpPr>
          <p:nvPr/>
        </p:nvSpPr>
        <p:spPr>
          <a:xfrm>
            <a:off x="609600" y="6496050"/>
            <a:ext cx="8572500" cy="171450"/>
          </a:xfrm>
          <a:prstGeom prst="rect">
            <a:avLst/>
          </a:prstGeom>
          <a:noFill/>
          <a:ln w="0">
            <a:noFill/>
            <a:prstDash val="solid"/>
          </a:ln>
        </p:spPr>
        <p:txBody>
          <a:bodyPr anchor="ctr"/>
          <a:lstStyle/>
          <a:p>
            <a:pPr algn="l"/>
            <a:r>
              <a:rPr sz="825" b="0">
                <a:solidFill>
                  <a:srgbClr val="87939E"/>
                </a:solidFill>
              </a:rPr>
              <a:t>기업 온프레미스 AI · Hermes Agent 실습과 PoC</a:t>
            </a:r>
          </a:p>
        </p:txBody>
      </p:sp>
      <p:graphicFrame>
        <p:nvGraphicFramePr>
          <p:cNvPr id="49" name="표 48"/>
          <p:cNvGraphicFramePr/>
          <p:nvPr/>
        </p:nvGraphicFramePr>
        <p:xfrm>
          <a:off x="609600" y="1714500"/>
          <a:ext cx="10725150" cy="3352800"/>
        </p:xfrm>
        <a:graphic>
          <a:graphicData uri="http://schemas.openxmlformats.org/drawingml/2006/table">
            <a:tbl>
              <a:tblPr/>
              <a:tblGrid>
                <a:gridCol w="2076450"/>
                <a:gridCol w="2571750"/>
                <a:gridCol w="2571750"/>
                <a:gridCol w="3505200"/>
              </a:tblGrid>
              <a:tr h="670560">
                <a:tc>
                  <a:txBody>
                    <a:bodyPr/>
                    <a:lstStyle/>
                    <a:p>
                      <a:r>
                        <a:rPr sz="1500" b="1">
                          <a:solidFill>
                            <a:srgbClr val="FFFFFF"/>
                          </a:solidFill>
                          <a:latin typeface="Calibri"/>
                          <a:ea typeface="Calibri"/>
                          <a:cs typeface="Calibri"/>
                        </a:rPr>
                        <a:t>비교 기준</a:t>
                      </a:r>
                    </a:p>
                  </a:txBody>
                  <a:tcPr>
                    <a:solidFill>
                      <a:srgbClr val="17212B"/>
                    </a:solidFill>
                  </a:tcPr>
                </a:tc>
                <a:tc>
                  <a:txBody>
                    <a:bodyPr/>
                    <a:lstStyle/>
                    <a:p>
                      <a:r>
                        <a:rPr sz="1500" b="1">
                          <a:solidFill>
                            <a:srgbClr val="FFFFFF"/>
                          </a:solidFill>
                          <a:latin typeface="Calibri"/>
                          <a:ea typeface="Calibri"/>
                          <a:cs typeface="Calibri"/>
                        </a:rPr>
                        <a:t>온프레미스</a:t>
                      </a:r>
                    </a:p>
                  </a:txBody>
                  <a:tcPr>
                    <a:solidFill>
                      <a:srgbClr val="17212B"/>
                    </a:solidFill>
                  </a:tcPr>
                </a:tc>
                <a:tc>
                  <a:txBody>
                    <a:bodyPr/>
                    <a:lstStyle/>
                    <a:p>
                      <a:r>
                        <a:rPr sz="1500" b="1">
                          <a:solidFill>
                            <a:srgbClr val="FFFFFF"/>
                          </a:solidFill>
                          <a:latin typeface="Calibri"/>
                          <a:ea typeface="Calibri"/>
                          <a:cs typeface="Calibri"/>
                        </a:rPr>
                        <a:t>클라우드 API</a:t>
                      </a:r>
                    </a:p>
                  </a:txBody>
                  <a:tcPr>
                    <a:solidFill>
                      <a:srgbClr val="17212B"/>
                    </a:solidFill>
                  </a:tcPr>
                </a:tc>
                <a:tc>
                  <a:txBody>
                    <a:bodyPr/>
                    <a:lstStyle/>
                    <a:p>
                      <a:r>
                        <a:rPr sz="1500" b="1">
                          <a:solidFill>
                            <a:srgbClr val="FFFFFF"/>
                          </a:solidFill>
                          <a:latin typeface="Calibri"/>
                          <a:ea typeface="Calibri"/>
                          <a:cs typeface="Calibri"/>
                        </a:rPr>
                        <a:t>확인할 조건</a:t>
                      </a:r>
                    </a:p>
                  </a:txBody>
                  <a:tcPr>
                    <a:solidFill>
                      <a:srgbClr val="17212B"/>
                    </a:solidFill>
                  </a:tcPr>
                </a:tc>
              </a:tr>
              <a:tr h="670560">
                <a:tc>
                  <a:txBody>
                    <a:bodyPr/>
                    <a:lstStyle/>
                    <a:p>
                      <a:r>
                        <a:rPr sz="1500" b="1">
                          <a:solidFill>
                            <a:srgbClr val="17212B"/>
                          </a:solidFill>
                          <a:latin typeface="Calibri"/>
                          <a:ea typeface="Calibri"/>
                          <a:cs typeface="Calibri"/>
                        </a:rPr>
                        <a:t>데이터 경로</a:t>
                      </a:r>
                    </a:p>
                  </a:txBody>
                  <a:tcPr>
                    <a:solidFill>
                      <a:srgbClr val="EAF3F9"/>
                    </a:solidFill>
                  </a:tcPr>
                </a:tc>
                <a:tc>
                  <a:txBody>
                    <a:bodyPr/>
                    <a:lstStyle/>
                    <a:p>
                      <a:r>
                        <a:rPr sz="1500" b="0">
                          <a:solidFill>
                            <a:srgbClr val="17212B"/>
                          </a:solidFill>
                          <a:latin typeface="Calibri"/>
                          <a:ea typeface="Calibri"/>
                          <a:cs typeface="Calibri"/>
                        </a:rPr>
                        <a:t>내부 통제 가능</a:t>
                      </a:r>
                    </a:p>
                  </a:txBody>
                  <a:tcPr>
                    <a:solidFill>
                      <a:srgbClr val="FFFFFF"/>
                    </a:solidFill>
                  </a:tcPr>
                </a:tc>
                <a:tc>
                  <a:txBody>
                    <a:bodyPr/>
                    <a:lstStyle/>
                    <a:p>
                      <a:r>
                        <a:rPr sz="1500" b="0">
                          <a:solidFill>
                            <a:srgbClr val="17212B"/>
                          </a:solidFill>
                          <a:latin typeface="Calibri"/>
                          <a:ea typeface="Calibri"/>
                          <a:cs typeface="Calibri"/>
                        </a:rPr>
                        <a:t>외부 전송 경로 존재</a:t>
                      </a:r>
                    </a:p>
                  </a:txBody>
                  <a:tcPr>
                    <a:solidFill>
                      <a:srgbClr val="FFFFFF"/>
                    </a:solidFill>
                  </a:tcPr>
                </a:tc>
                <a:tc>
                  <a:txBody>
                    <a:bodyPr/>
                    <a:lstStyle/>
                    <a:p>
                      <a:r>
                        <a:rPr sz="1500" b="0">
                          <a:solidFill>
                            <a:srgbClr val="17212B"/>
                          </a:solidFill>
                          <a:latin typeface="Calibri"/>
                          <a:ea typeface="Calibri"/>
                          <a:cs typeface="Calibri"/>
                        </a:rPr>
                        <a:t>로그·보관·전송 설정</a:t>
                      </a:r>
                    </a:p>
                  </a:txBody>
                  <a:tcPr>
                    <a:solidFill>
                      <a:srgbClr val="FFFFFF"/>
                    </a:solidFill>
                  </a:tcPr>
                </a:tc>
              </a:tr>
              <a:tr h="670560">
                <a:tc>
                  <a:txBody>
                    <a:bodyPr/>
                    <a:lstStyle/>
                    <a:p>
                      <a:r>
                        <a:rPr sz="1500" b="1">
                          <a:solidFill>
                            <a:srgbClr val="17212B"/>
                          </a:solidFill>
                          <a:latin typeface="Calibri"/>
                          <a:ea typeface="Calibri"/>
                          <a:cs typeface="Calibri"/>
                        </a:rPr>
                        <a:t>도입·운영</a:t>
                      </a:r>
                    </a:p>
                  </a:txBody>
                  <a:tcPr>
                    <a:solidFill>
                      <a:srgbClr val="EAF3F9"/>
                    </a:solidFill>
                  </a:tcPr>
                </a:tc>
                <a:tc>
                  <a:txBody>
                    <a:bodyPr/>
                    <a:lstStyle/>
                    <a:p>
                      <a:r>
                        <a:rPr sz="1500" b="0">
                          <a:solidFill>
                            <a:srgbClr val="17212B"/>
                          </a:solidFill>
                          <a:latin typeface="Calibri"/>
                          <a:ea typeface="Calibri"/>
                          <a:cs typeface="Calibri"/>
                        </a:rPr>
                        <a:t>자원 확보·운영 필요</a:t>
                      </a:r>
                    </a:p>
                  </a:txBody>
                  <a:tcPr>
                    <a:solidFill>
                      <a:srgbClr val="FFFFFF"/>
                    </a:solidFill>
                  </a:tcPr>
                </a:tc>
                <a:tc>
                  <a:txBody>
                    <a:bodyPr/>
                    <a:lstStyle/>
                    <a:p>
                      <a:r>
                        <a:rPr sz="1500" b="0">
                          <a:solidFill>
                            <a:srgbClr val="17212B"/>
                          </a:solidFill>
                          <a:latin typeface="Calibri"/>
                          <a:ea typeface="Calibri"/>
                          <a:cs typeface="Calibri"/>
                        </a:rPr>
                        <a:t>인프라 부담 감소</a:t>
                      </a:r>
                    </a:p>
                  </a:txBody>
                  <a:tcPr>
                    <a:solidFill>
                      <a:srgbClr val="FFFFFF"/>
                    </a:solidFill>
                  </a:tcPr>
                </a:tc>
                <a:tc>
                  <a:txBody>
                    <a:bodyPr/>
                    <a:lstStyle/>
                    <a:p>
                      <a:r>
                        <a:rPr sz="1500" b="0">
                          <a:solidFill>
                            <a:srgbClr val="17212B"/>
                          </a:solidFill>
                          <a:latin typeface="Calibri"/>
                          <a:ea typeface="Calibri"/>
                          <a:cs typeface="Calibri"/>
                        </a:rPr>
                        <a:t>담당 인력·운영 책임</a:t>
                      </a:r>
                    </a:p>
                  </a:txBody>
                  <a:tcPr>
                    <a:solidFill>
                      <a:srgbClr val="FFFFFF"/>
                    </a:solidFill>
                  </a:tcPr>
                </a:tc>
              </a:tr>
              <a:tr h="670560">
                <a:tc>
                  <a:txBody>
                    <a:bodyPr/>
                    <a:lstStyle/>
                    <a:p>
                      <a:r>
                        <a:rPr sz="1500" b="1">
                          <a:solidFill>
                            <a:srgbClr val="17212B"/>
                          </a:solidFill>
                          <a:latin typeface="Calibri"/>
                          <a:ea typeface="Calibri"/>
                          <a:cs typeface="Calibri"/>
                        </a:rPr>
                        <a:t>비용 구조</a:t>
                      </a:r>
                    </a:p>
                  </a:txBody>
                  <a:tcPr>
                    <a:solidFill>
                      <a:srgbClr val="EAF3F9"/>
                    </a:solidFill>
                  </a:tcPr>
                </a:tc>
                <a:tc>
                  <a:txBody>
                    <a:bodyPr/>
                    <a:lstStyle/>
                    <a:p>
                      <a:r>
                        <a:rPr sz="1500" b="0">
                          <a:solidFill>
                            <a:srgbClr val="17212B"/>
                          </a:solidFill>
                          <a:latin typeface="Calibri"/>
                          <a:ea typeface="Calibri"/>
                          <a:cs typeface="Calibri"/>
                        </a:rPr>
                        <a:t>장비·전력·유지보수</a:t>
                      </a:r>
                    </a:p>
                  </a:txBody>
                  <a:tcPr>
                    <a:solidFill>
                      <a:srgbClr val="FFFFFF"/>
                    </a:solidFill>
                  </a:tcPr>
                </a:tc>
                <a:tc>
                  <a:txBody>
                    <a:bodyPr/>
                    <a:lstStyle/>
                    <a:p>
                      <a:r>
                        <a:rPr sz="1500" b="0">
                          <a:solidFill>
                            <a:srgbClr val="17212B"/>
                          </a:solidFill>
                          <a:latin typeface="Calibri"/>
                          <a:ea typeface="Calibri"/>
                          <a:cs typeface="Calibri"/>
                        </a:rPr>
                        <a:t>사용량·계약에 영향</a:t>
                      </a:r>
                    </a:p>
                  </a:txBody>
                  <a:tcPr>
                    <a:solidFill>
                      <a:srgbClr val="FFFFFF"/>
                    </a:solidFill>
                  </a:tcPr>
                </a:tc>
                <a:tc>
                  <a:txBody>
                    <a:bodyPr/>
                    <a:lstStyle/>
                    <a:p>
                      <a:r>
                        <a:rPr sz="1500" b="0">
                          <a:solidFill>
                            <a:srgbClr val="17212B"/>
                          </a:solidFill>
                          <a:latin typeface="Calibri"/>
                          <a:ea typeface="Calibri"/>
                          <a:cs typeface="Calibri"/>
                        </a:rPr>
                        <a:t>동일 사용량의 총비용</a:t>
                      </a:r>
                    </a:p>
                  </a:txBody>
                  <a:tcPr>
                    <a:solidFill>
                      <a:srgbClr val="FFFFFF"/>
                    </a:solidFill>
                  </a:tcPr>
                </a:tc>
              </a:tr>
              <a:tr h="670560">
                <a:tc>
                  <a:txBody>
                    <a:bodyPr/>
                    <a:lstStyle/>
                    <a:p>
                      <a:r>
                        <a:rPr sz="1500" b="1">
                          <a:solidFill>
                            <a:srgbClr val="17212B"/>
                          </a:solidFill>
                          <a:latin typeface="Calibri"/>
                          <a:ea typeface="Calibri"/>
                          <a:cs typeface="Calibri"/>
                        </a:rPr>
                        <a:t>선택 기준</a:t>
                      </a:r>
                    </a:p>
                  </a:txBody>
                  <a:tcPr>
                    <a:solidFill>
                      <a:srgbClr val="EAF3F9"/>
                    </a:solidFill>
                  </a:tcPr>
                </a:tc>
                <a:tc>
                  <a:txBody>
                    <a:bodyPr/>
                    <a:lstStyle/>
                    <a:p>
                      <a:r>
                        <a:rPr sz="1500" b="0">
                          <a:solidFill>
                            <a:srgbClr val="17212B"/>
                          </a:solidFill>
                          <a:latin typeface="Calibri"/>
                          <a:ea typeface="Calibri"/>
                          <a:cs typeface="Calibri"/>
                        </a:rPr>
                        <a:t>통제 요구가 높을 때</a:t>
                      </a:r>
                    </a:p>
                  </a:txBody>
                  <a:tcPr>
                    <a:solidFill>
                      <a:srgbClr val="FFFFFF"/>
                    </a:solidFill>
                  </a:tcPr>
                </a:tc>
                <a:tc>
                  <a:txBody>
                    <a:bodyPr/>
                    <a:lstStyle/>
                    <a:p>
                      <a:r>
                        <a:rPr sz="1500" b="0">
                          <a:solidFill>
                            <a:srgbClr val="17212B"/>
                          </a:solidFill>
                          <a:latin typeface="Calibri"/>
                          <a:ea typeface="Calibri"/>
                          <a:cs typeface="Calibri"/>
                        </a:rPr>
                        <a:t>빠른 도입이 중요할 때</a:t>
                      </a:r>
                    </a:p>
                  </a:txBody>
                  <a:tcPr>
                    <a:solidFill>
                      <a:srgbClr val="FFFFFF"/>
                    </a:solidFill>
                  </a:tcPr>
                </a:tc>
                <a:tc>
                  <a:txBody>
                    <a:bodyPr/>
                    <a:lstStyle/>
                    <a:p>
                      <a:r>
                        <a:rPr sz="1500" b="0">
                          <a:solidFill>
                            <a:srgbClr val="17212B"/>
                          </a:solidFill>
                          <a:latin typeface="Calibri"/>
                          <a:ea typeface="Calibri"/>
                          <a:cs typeface="Calibri"/>
                        </a:rPr>
                        <a:t>품질·지연은 직접 측정</a:t>
                      </a:r>
                    </a:p>
                  </a:txBody>
                  <a:tcPr>
                    <a:solidFill>
                      <a:srgbClr val="FFFFFF"/>
                    </a:solidFill>
                  </a:tcPr>
                </a:tc>
              </a:tr>
            </a:tbl>
          </a:graphicData>
        </a:graphic>
      </p:graphicFrame>
    </p:spTree>
    <p:extLst>
      <p:ext uri="{BB962C8B-B14F-4D97-AF65-F5344CB8AC3E}">
        <p14:creationId xmlns:p14="http://schemas.microsoft.com/office/powerpoint/2010/main" val="1442683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40" name="직사각형 39">
            <a:extLst>
              <a:ext uri="{FF2B5EF4-FFF2-40B4-BE49-F238E27FC236}">
                <a16:creationId xmlns:a16="http://schemas.microsoft.com/office/drawing/2014/main" xmlns="" id="{04B63593-962E-45FC-979A-D9AF0BD2A19A}"/>
              </a:ext>
            </a:extLst>
          </p:cNvPr>
          <p:cNvSpPr>
            <a:spLocks noGrp="1"/>
          </p:cNvSpPr>
          <p:nvPr/>
        </p:nvSpPr>
        <p:spPr>
          <a:xfrm>
            <a:off x="609600" y="381000"/>
            <a:ext cx="4762500" cy="266700"/>
          </a:xfrm>
          <a:prstGeom prst="rect">
            <a:avLst/>
          </a:prstGeom>
          <a:noFill/>
          <a:ln w="0">
            <a:noFill/>
            <a:prstDash val="solid"/>
          </a:ln>
        </p:spPr>
        <p:txBody>
          <a:bodyPr anchor="ctr"/>
          <a:lstStyle/>
          <a:p>
            <a:pPr algn="l">
              <a:buNone/>
              <a:defRPr sz="1050" b="1">
                <a:solidFill>
                  <a:srgbClr val="2878B5"/>
                </a:solidFill>
              </a:defRPr>
            </a:pPr>
            <a:r>
              <a:rPr sz="1050" b="1">
                <a:solidFill>
                  <a:srgbClr val="2878B5"/>
                </a:solidFill>
              </a:rPr>
              <a:t>주간 기술 세미나</a:t>
            </a:r>
          </a:p>
        </p:txBody>
      </p:sp>
      <p:sp>
        <p:nvSpPr>
          <p:cNvPr id="2" name="직사각형 1">
            <a:extLst>
              <a:ext uri="{FF2B5EF4-FFF2-40B4-BE49-F238E27FC236}">
                <a16:creationId xmlns:a16="http://schemas.microsoft.com/office/drawing/2014/main" xmlns="" id="{9E6B828F-5319-46F4-A34A-B3758DA16FC3}"/>
              </a:ext>
            </a:extLst>
          </p:cNvPr>
          <p:cNvSpPr>
            <a:spLocks noGrp="1"/>
          </p:cNvSpPr>
          <p:nvPr/>
        </p:nvSpPr>
        <p:spPr>
          <a:xfrm>
            <a:off x="609600" y="685800"/>
            <a:ext cx="10477500" cy="590550"/>
          </a:xfrm>
          <a:prstGeom prst="rect">
            <a:avLst/>
          </a:prstGeom>
          <a:noFill/>
          <a:ln w="0">
            <a:noFill/>
            <a:prstDash val="solid"/>
          </a:ln>
        </p:spPr>
        <p:txBody>
          <a:bodyPr anchor="ctr"/>
          <a:lstStyle/>
          <a:p>
            <a:pPr algn="l">
              <a:buNone/>
              <a:defRPr sz="2550" b="1">
                <a:solidFill>
                  <a:srgbClr val="17212B"/>
                </a:solidFill>
              </a:defRPr>
            </a:pPr>
            <a:r>
              <a:rPr sz="2550" b="1">
                <a:solidFill>
                  <a:srgbClr val="17212B"/>
                </a:solidFill>
              </a:rPr>
              <a:t>요구사항</a:t>
            </a:r>
          </a:p>
        </p:txBody>
      </p:sp>
      <p:sp>
        <p:nvSpPr>
          <p:cNvPr id="3" name="직사각형 2">
            <a:extLst>
              <a:ext uri="{FF2B5EF4-FFF2-40B4-BE49-F238E27FC236}">
                <a16:creationId xmlns:a16="http://schemas.microsoft.com/office/drawing/2014/main" xmlns="" id="{CB59D7D3-C88F-4085-9F08-094A51F56B1E}"/>
              </a:ext>
            </a:extLst>
          </p:cNvPr>
          <p:cNvSpPr>
            <a:spLocks noGrp="1"/>
          </p:cNvSpPr>
          <p:nvPr/>
        </p:nvSpPr>
        <p:spPr>
          <a:xfrm>
            <a:off x="609600" y="1352550"/>
            <a:ext cx="10972800" cy="19050"/>
          </a:xfrm>
          <a:prstGeom prst="rect">
            <a:avLst/>
          </a:prstGeom>
          <a:solidFill>
            <a:srgbClr val="D8E1E8"/>
          </a:solidFill>
          <a:ln w="0">
            <a:solidFill>
              <a:srgbClr val="D8E1E8"/>
            </a:solidFill>
            <a:prstDash val="solid"/>
          </a:ln>
        </p:spPr>
      </p:sp>
      <p:sp>
        <p:nvSpPr>
          <p:cNvPr id="4" name="직사각형 3">
            <a:extLst>
              <a:ext uri="{FF2B5EF4-FFF2-40B4-BE49-F238E27FC236}">
                <a16:creationId xmlns:a16="http://schemas.microsoft.com/office/drawing/2014/main" xmlns="" id="{0689964C-9C9C-46FD-803C-06624F66EFD2}"/>
              </a:ext>
            </a:extLst>
          </p:cNvPr>
          <p:cNvSpPr>
            <a:spLocks noGrp="1"/>
          </p:cNvSpPr>
          <p:nvPr/>
        </p:nvSpPr>
        <p:spPr>
          <a:xfrm>
            <a:off x="11163300" y="400050"/>
            <a:ext cx="419100" cy="228600"/>
          </a:xfrm>
          <a:prstGeom prst="rect">
            <a:avLst/>
          </a:prstGeom>
          <a:noFill/>
          <a:ln w="0">
            <a:noFill/>
            <a:prstDash val="solid"/>
          </a:ln>
        </p:spPr>
        <p:txBody>
          <a:bodyPr anchor="ctr"/>
          <a:lstStyle/>
          <a:p>
            <a:pPr algn="r">
              <a:buNone/>
              <a:defRPr sz="975" b="1">
                <a:solidFill>
                  <a:srgbClr val="93A0AA"/>
                </a:solidFill>
              </a:defRPr>
            </a:pPr>
            <a:r>
              <a:rPr sz="975" b="1">
                <a:solidFill>
                  <a:srgbClr val="93A0AA"/>
                </a:solidFill>
              </a:rPr>
              <a:t>06</a:t>
            </a:r>
          </a:p>
        </p:txBody>
      </p:sp>
      <p:sp>
        <p:nvSpPr>
          <p:cNvPr id="37" name="모서리가 둥근 직사각형 36">
            <a:extLst>
              <a:ext uri="{FF2B5EF4-FFF2-40B4-BE49-F238E27FC236}">
                <a16:creationId xmlns:a16="http://schemas.microsoft.com/office/drawing/2014/main" xmlns="" id="{7AED3334-8294-4180-941D-670298D4AF71}"/>
              </a:ext>
            </a:extLst>
          </p:cNvPr>
          <p:cNvSpPr>
            <a:spLocks noGrp="1"/>
          </p:cNvSpPr>
          <p:nvPr/>
        </p:nvSpPr>
        <p:spPr>
          <a:xfrm>
            <a:off x="609600" y="5429250"/>
            <a:ext cx="10725150" cy="552450"/>
          </a:xfrm>
          <a:prstGeom prst="roundRect">
            <a:avLst>
              <a:gd name="adj" fmla="val 20690"/>
            </a:avLst>
          </a:prstGeom>
          <a:solidFill>
            <a:srgbClr val="EAF4FB"/>
          </a:solidFill>
          <a:ln w="9525">
            <a:solidFill>
              <a:srgbClr val="EAF4FB"/>
            </a:solidFill>
            <a:prstDash val="solid"/>
          </a:ln>
        </p:spPr>
      </p:sp>
      <p:sp>
        <p:nvSpPr>
          <p:cNvPr id="38" name="직사각형 37">
            <a:extLst>
              <a:ext uri="{FF2B5EF4-FFF2-40B4-BE49-F238E27FC236}">
                <a16:creationId xmlns:a16="http://schemas.microsoft.com/office/drawing/2014/main" xmlns="" id="{DC090FCA-5E12-41C9-90FD-2A229AE89C4C}"/>
              </a:ext>
            </a:extLst>
          </p:cNvPr>
          <p:cNvSpPr>
            <a:spLocks noGrp="1"/>
          </p:cNvSpPr>
          <p:nvPr/>
        </p:nvSpPr>
        <p:spPr>
          <a:xfrm>
            <a:off x="781050" y="5534025"/>
            <a:ext cx="10382250" cy="342900"/>
          </a:xfrm>
          <a:prstGeom prst="rect">
            <a:avLst/>
          </a:prstGeom>
          <a:noFill/>
          <a:ln w="0">
            <a:noFill/>
            <a:prstDash val="solid"/>
          </a:ln>
        </p:spPr>
        <p:txBody>
          <a:bodyPr anchor="ctr"/>
          <a:lstStyle/>
          <a:p>
            <a:pPr algn="ctr"/>
            <a:r>
              <a:rPr sz="1350" b="1">
                <a:solidFill>
                  <a:srgbClr val="2878B5"/>
                </a:solidFill>
              </a:rPr>
              <a:t>범위: User CRUD와 오류 처리   제외: 인증·부하 시험·운영 배포</a:t>
            </a:r>
          </a:p>
        </p:txBody>
      </p:sp>
      <p:sp>
        <p:nvSpPr>
          <p:cNvPr id="39" name="직사각형 38">
            <a:extLst>
              <a:ext uri="{FF2B5EF4-FFF2-40B4-BE49-F238E27FC236}">
                <a16:creationId xmlns:a16="http://schemas.microsoft.com/office/drawing/2014/main" xmlns="" id="{9C4AE677-DCD5-4629-BA92-DC9C0F3400AB}"/>
              </a:ext>
            </a:extLst>
          </p:cNvPr>
          <p:cNvSpPr>
            <a:spLocks noGrp="1"/>
          </p:cNvSpPr>
          <p:nvPr/>
        </p:nvSpPr>
        <p:spPr>
          <a:xfrm>
            <a:off x="609600" y="6496050"/>
            <a:ext cx="8572500" cy="171450"/>
          </a:xfrm>
          <a:prstGeom prst="rect">
            <a:avLst/>
          </a:prstGeom>
          <a:noFill/>
          <a:ln w="0">
            <a:noFill/>
            <a:prstDash val="solid"/>
          </a:ln>
        </p:spPr>
        <p:txBody>
          <a:bodyPr anchor="ctr"/>
          <a:lstStyle/>
          <a:p>
            <a:pPr algn="l"/>
            <a:r>
              <a:rPr sz="825" b="0">
                <a:solidFill>
                  <a:srgbClr val="87939E"/>
                </a:solidFill>
              </a:rPr>
              <a:t>기업 온프레미스 AI · Hermes Agent 실습과 PoC</a:t>
            </a:r>
          </a:p>
        </p:txBody>
      </p:sp>
      <p:graphicFrame>
        <p:nvGraphicFramePr>
          <p:cNvPr id="49" name="표 48"/>
          <p:cNvGraphicFramePr/>
          <p:nvPr/>
        </p:nvGraphicFramePr>
        <p:xfrm>
          <a:off x="609600" y="1714500"/>
          <a:ext cx="10725150" cy="3352800"/>
        </p:xfrm>
        <a:graphic>
          <a:graphicData uri="http://schemas.openxmlformats.org/drawingml/2006/table">
            <a:tbl>
              <a:tblPr/>
              <a:tblGrid>
                <a:gridCol w="1809750"/>
                <a:gridCol w="3314700"/>
                <a:gridCol w="1695450"/>
                <a:gridCol w="3905250"/>
              </a:tblGrid>
              <a:tr h="838200">
                <a:tc>
                  <a:txBody>
                    <a:bodyPr/>
                    <a:lstStyle/>
                    <a:p>
                      <a:r>
                        <a:rPr sz="1500" b="1">
                          <a:solidFill>
                            <a:srgbClr val="FFFFFF"/>
                          </a:solidFill>
                          <a:latin typeface="Calibri"/>
                          <a:ea typeface="Calibri"/>
                          <a:cs typeface="Calibri"/>
                        </a:rPr>
                        <a:t>ID / 구분</a:t>
                      </a:r>
                    </a:p>
                  </a:txBody>
                  <a:tcPr>
                    <a:solidFill>
                      <a:srgbClr val="17212B"/>
                    </a:solidFill>
                  </a:tcPr>
                </a:tc>
                <a:tc>
                  <a:txBody>
                    <a:bodyPr/>
                    <a:lstStyle/>
                    <a:p>
                      <a:r>
                        <a:rPr sz="1500" b="1">
                          <a:solidFill>
                            <a:srgbClr val="FFFFFF"/>
                          </a:solidFill>
                          <a:latin typeface="Calibri"/>
                          <a:ea typeface="Calibri"/>
                          <a:cs typeface="Calibri"/>
                        </a:rPr>
                        <a:t>요구사항</a:t>
                      </a:r>
                    </a:p>
                  </a:txBody>
                  <a:tcPr>
                    <a:solidFill>
                      <a:srgbClr val="17212B"/>
                    </a:solidFill>
                  </a:tcPr>
                </a:tc>
                <a:tc>
                  <a:txBody>
                    <a:bodyPr/>
                    <a:lstStyle/>
                    <a:p>
                      <a:r>
                        <a:rPr sz="1500" b="1">
                          <a:solidFill>
                            <a:srgbClr val="FFFFFF"/>
                          </a:solidFill>
                          <a:latin typeface="Calibri"/>
                          <a:ea typeface="Calibri"/>
                          <a:cs typeface="Calibri"/>
                        </a:rPr>
                        <a:t>우선순위</a:t>
                      </a:r>
                    </a:p>
                  </a:txBody>
                  <a:tcPr>
                    <a:solidFill>
                      <a:srgbClr val="17212B"/>
                    </a:solidFill>
                  </a:tcPr>
                </a:tc>
                <a:tc>
                  <a:txBody>
                    <a:bodyPr/>
                    <a:lstStyle/>
                    <a:p>
                      <a:r>
                        <a:rPr sz="1500" b="1">
                          <a:solidFill>
                            <a:srgbClr val="FFFFFF"/>
                          </a:solidFill>
                          <a:latin typeface="Calibri"/>
                          <a:ea typeface="Calibri"/>
                          <a:cs typeface="Calibri"/>
                        </a:rPr>
                        <a:t>인수 조건</a:t>
                      </a:r>
                    </a:p>
                  </a:txBody>
                  <a:tcPr>
                    <a:solidFill>
                      <a:srgbClr val="17212B"/>
                    </a:solidFill>
                  </a:tcPr>
                </a:tc>
              </a:tr>
              <a:tr h="838200">
                <a:tc>
                  <a:txBody>
                    <a:bodyPr/>
                    <a:lstStyle/>
                    <a:p>
                      <a:r>
                        <a:rPr sz="1500" b="1">
                          <a:solidFill>
                            <a:srgbClr val="17212B"/>
                          </a:solidFill>
                          <a:latin typeface="Calibri"/>
                          <a:ea typeface="Calibri"/>
                          <a:cs typeface="Calibri"/>
                        </a:rPr>
                        <a:t>FR-01 / 기능</a:t>
                      </a:r>
                    </a:p>
                  </a:txBody>
                  <a:tcPr>
                    <a:solidFill>
                      <a:srgbClr val="EAF3F9"/>
                    </a:solidFill>
                  </a:tcPr>
                </a:tc>
                <a:tc>
                  <a:txBody>
                    <a:bodyPr/>
                    <a:lstStyle/>
                    <a:p>
                      <a:r>
                        <a:rPr sz="1500" b="0">
                          <a:solidFill>
                            <a:srgbClr val="17212B"/>
                          </a:solidFill>
                          <a:latin typeface="Calibri"/>
                          <a:ea typeface="Calibri"/>
                          <a:cs typeface="Calibri"/>
                        </a:rPr>
                        <a:t>User 생성·조회·수정·삭제</a:t>
                      </a:r>
                    </a:p>
                  </a:txBody>
                  <a:tcPr>
                    <a:solidFill>
                      <a:srgbClr val="FFFFFF"/>
                    </a:solidFill>
                  </a:tcPr>
                </a:tc>
                <a:tc>
                  <a:txBody>
                    <a:bodyPr/>
                    <a:lstStyle/>
                    <a:p>
                      <a:r>
                        <a:rPr sz="1500" b="0">
                          <a:solidFill>
                            <a:srgbClr val="17212B"/>
                          </a:solidFill>
                          <a:latin typeface="Calibri"/>
                          <a:ea typeface="Calibri"/>
                          <a:cs typeface="Calibri"/>
                        </a:rPr>
                        <a:t>필수</a:t>
                      </a:r>
                    </a:p>
                  </a:txBody>
                  <a:tcPr>
                    <a:solidFill>
                      <a:srgbClr val="FFFFFF"/>
                    </a:solidFill>
                  </a:tcPr>
                </a:tc>
                <a:tc>
                  <a:txBody>
                    <a:bodyPr/>
                    <a:lstStyle/>
                    <a:p>
                      <a:r>
                        <a:rPr sz="1500" b="0">
                          <a:solidFill>
                            <a:srgbClr val="17212B"/>
                          </a:solidFill>
                          <a:latin typeface="Calibri"/>
                          <a:ea typeface="Calibri"/>
                          <a:cs typeface="Calibri"/>
                        </a:rPr>
                        <a:t>정상 요청에 200 / 201</a:t>
                      </a:r>
                    </a:p>
                  </a:txBody>
                  <a:tcPr>
                    <a:solidFill>
                      <a:srgbClr val="FFFFFF"/>
                    </a:solidFill>
                  </a:tcPr>
                </a:tc>
              </a:tr>
              <a:tr h="838200">
                <a:tc>
                  <a:txBody>
                    <a:bodyPr/>
                    <a:lstStyle/>
                    <a:p>
                      <a:r>
                        <a:rPr sz="1500" b="1">
                          <a:solidFill>
                            <a:srgbClr val="17212B"/>
                          </a:solidFill>
                          <a:latin typeface="Calibri"/>
                          <a:ea typeface="Calibri"/>
                          <a:cs typeface="Calibri"/>
                        </a:rPr>
                        <a:t>FR-02 / 예외</a:t>
                      </a:r>
                    </a:p>
                  </a:txBody>
                  <a:tcPr>
                    <a:solidFill>
                      <a:srgbClr val="EAF3F9"/>
                    </a:solidFill>
                  </a:tcPr>
                </a:tc>
                <a:tc>
                  <a:txBody>
                    <a:bodyPr/>
                    <a:lstStyle/>
                    <a:p>
                      <a:r>
                        <a:rPr sz="1500" b="0">
                          <a:solidFill>
                            <a:srgbClr val="17212B"/>
                          </a:solidFill>
                          <a:latin typeface="Calibri"/>
                          <a:ea typeface="Calibri"/>
                          <a:cs typeface="Calibri"/>
                        </a:rPr>
                        <a:t>중복 이메일·없는 사용자</a:t>
                      </a:r>
                    </a:p>
                  </a:txBody>
                  <a:tcPr>
                    <a:solidFill>
                      <a:srgbClr val="FFFFFF"/>
                    </a:solidFill>
                  </a:tcPr>
                </a:tc>
                <a:tc>
                  <a:txBody>
                    <a:bodyPr/>
                    <a:lstStyle/>
                    <a:p>
                      <a:r>
                        <a:rPr sz="1500" b="0">
                          <a:solidFill>
                            <a:srgbClr val="17212B"/>
                          </a:solidFill>
                          <a:latin typeface="Calibri"/>
                          <a:ea typeface="Calibri"/>
                          <a:cs typeface="Calibri"/>
                        </a:rPr>
                        <a:t>필수</a:t>
                      </a:r>
                    </a:p>
                  </a:txBody>
                  <a:tcPr>
                    <a:solidFill>
                      <a:srgbClr val="FFFFFF"/>
                    </a:solidFill>
                  </a:tcPr>
                </a:tc>
                <a:tc>
                  <a:txBody>
                    <a:bodyPr/>
                    <a:lstStyle/>
                    <a:p>
                      <a:r>
                        <a:rPr sz="1500" b="0">
                          <a:solidFill>
                            <a:srgbClr val="17212B"/>
                          </a:solidFill>
                          <a:latin typeface="Calibri"/>
                          <a:ea typeface="Calibri"/>
                          <a:cs typeface="Calibri"/>
                        </a:rPr>
                        <a:t>중복 400 / 없는 ID 404</a:t>
                      </a:r>
                    </a:p>
                  </a:txBody>
                  <a:tcPr>
                    <a:solidFill>
                      <a:srgbClr val="FFFFFF"/>
                    </a:solidFill>
                  </a:tcPr>
                </a:tc>
              </a:tr>
              <a:tr h="838200">
                <a:tc>
                  <a:txBody>
                    <a:bodyPr/>
                    <a:lstStyle/>
                    <a:p>
                      <a:r>
                        <a:rPr sz="1500" b="1">
                          <a:solidFill>
                            <a:srgbClr val="17212B"/>
                          </a:solidFill>
                          <a:latin typeface="Calibri"/>
                          <a:ea typeface="Calibri"/>
                          <a:cs typeface="Calibri"/>
                        </a:rPr>
                        <a:t>검증 / 실행</a:t>
                      </a:r>
                    </a:p>
                  </a:txBody>
                  <a:tcPr>
                    <a:solidFill>
                      <a:srgbClr val="EAF3F9"/>
                    </a:solidFill>
                  </a:tcPr>
                </a:tc>
                <a:tc>
                  <a:txBody>
                    <a:bodyPr/>
                    <a:lstStyle/>
                    <a:p>
                      <a:r>
                        <a:rPr sz="1500" b="0">
                          <a:solidFill>
                            <a:srgbClr val="17212B"/>
                          </a:solidFill>
                          <a:latin typeface="Calibri"/>
                          <a:ea typeface="Calibri"/>
                          <a:cs typeface="Calibri"/>
                        </a:rPr>
                        <a:t>로컬 API 동작 확인</a:t>
                      </a:r>
                    </a:p>
                  </a:txBody>
                  <a:tcPr>
                    <a:solidFill>
                      <a:srgbClr val="FFFFFF"/>
                    </a:solidFill>
                  </a:tcPr>
                </a:tc>
                <a:tc>
                  <a:txBody>
                    <a:bodyPr/>
                    <a:lstStyle/>
                    <a:p>
                      <a:r>
                        <a:rPr sz="1500" b="0">
                          <a:solidFill>
                            <a:srgbClr val="17212B"/>
                          </a:solidFill>
                          <a:latin typeface="Calibri"/>
                          <a:ea typeface="Calibri"/>
                          <a:cs typeface="Calibri"/>
                        </a:rPr>
                        <a:t>필수</a:t>
                      </a:r>
                    </a:p>
                  </a:txBody>
                  <a:tcPr>
                    <a:solidFill>
                      <a:srgbClr val="FFFFFF"/>
                    </a:solidFill>
                  </a:tcPr>
                </a:tc>
                <a:tc>
                  <a:txBody>
                    <a:bodyPr/>
                    <a:lstStyle/>
                    <a:p>
                      <a:r>
                        <a:rPr sz="1500" b="0">
                          <a:solidFill>
                            <a:srgbClr val="17212B"/>
                          </a:solidFill>
                          <a:latin typeface="Calibri"/>
                          <a:ea typeface="Calibri"/>
                          <a:cs typeface="Calibri"/>
                        </a:rPr>
                        <a:t>TestClient + 실제 HTTP</a:t>
                      </a:r>
                    </a:p>
                  </a:txBody>
                  <a:tcPr>
                    <a:solidFill>
                      <a:srgbClr val="FFFFFF"/>
                    </a:solidFill>
                  </a:tcPr>
                </a:tc>
              </a:tr>
            </a:tbl>
          </a:graphicData>
        </a:graphic>
      </p:graphicFrame>
    </p:spTree>
    <p:extLst>
      <p:ext uri="{BB962C8B-B14F-4D97-AF65-F5344CB8AC3E}">
        <p14:creationId xmlns:p14="http://schemas.microsoft.com/office/powerpoint/2010/main" val="1442683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D29"/>
        </a:solidFill>
        <a:effectLst/>
      </p:bgPr>
    </p:bg>
    <p:spTree>
      <p:nvGrpSpPr>
        <p:cNvPr id="1" name=""/>
        <p:cNvGrpSpPr/>
        <p:nvPr/>
      </p:nvGrpSpPr>
      <p:grpSpPr>
        <a:xfrm>
          <a:off x="0" y="0"/>
          <a:ext cx="0" cy="0"/>
          <a:chOff x="0" y="0"/>
          <a:chExt cx="0" cy="0"/>
        </a:xfrm>
      </p:grpSpPr>
      <p:sp>
        <p:nvSpPr>
          <p:cNvPr id="30" name="직사각형 29">
            <a:extLst>
              <a:ext uri="{FF2B5EF4-FFF2-40B4-BE49-F238E27FC236}">
                <a16:creationId xmlns:a16="http://schemas.microsoft.com/office/drawing/2014/main" xmlns="" id="{3BADBD97-D8DA-4B82-90C3-01B33474C3DF}"/>
              </a:ext>
            </a:extLst>
          </p:cNvPr>
          <p:cNvSpPr>
            <a:spLocks noGrp="1"/>
          </p:cNvSpPr>
          <p:nvPr/>
        </p:nvSpPr>
        <p:spPr>
          <a:xfrm>
            <a:off x="609600" y="381000"/>
            <a:ext cx="4762500" cy="266700"/>
          </a:xfrm>
          <a:prstGeom prst="rect">
            <a:avLst/>
          </a:prstGeom>
          <a:noFill/>
          <a:ln w="0">
            <a:noFill/>
            <a:prstDash val="solid"/>
          </a:ln>
        </p:spPr>
        <p:txBody>
          <a:bodyPr anchor="ctr"/>
          <a:lstStyle/>
          <a:p>
            <a:pPr algn="l">
              <a:buNone/>
              <a:defRPr sz="1050" b="1">
                <a:solidFill>
                  <a:srgbClr val="3BB7A0"/>
                </a:solidFill>
              </a:defRPr>
            </a:pPr>
            <a:r>
              <a:rPr sz="1050" b="1">
                <a:solidFill>
                  <a:srgbClr val="3BB7A0"/>
                </a:solidFill>
              </a:rPr>
              <a:t>주간 기술 세미나</a:t>
            </a:r>
          </a:p>
        </p:txBody>
      </p:sp>
      <p:sp>
        <p:nvSpPr>
          <p:cNvPr id="2" name="직사각형 1">
            <a:extLst>
              <a:ext uri="{FF2B5EF4-FFF2-40B4-BE49-F238E27FC236}">
                <a16:creationId xmlns:a16="http://schemas.microsoft.com/office/drawing/2014/main" xmlns="" id="{942B1F9C-5E8A-43F3-A1C9-9528D2A70AAD}"/>
              </a:ext>
            </a:extLst>
          </p:cNvPr>
          <p:cNvSpPr>
            <a:spLocks noGrp="1"/>
          </p:cNvSpPr>
          <p:nvPr/>
        </p:nvSpPr>
        <p:spPr>
          <a:xfrm>
            <a:off x="609600" y="685800"/>
            <a:ext cx="10477500" cy="590550"/>
          </a:xfrm>
          <a:prstGeom prst="rect">
            <a:avLst/>
          </a:prstGeom>
          <a:noFill/>
          <a:ln w="0">
            <a:noFill/>
            <a:prstDash val="solid"/>
          </a:ln>
        </p:spPr>
        <p:txBody>
          <a:bodyPr anchor="ctr"/>
          <a:lstStyle/>
          <a:p>
            <a:pPr algn="l">
              <a:buNone/>
              <a:defRPr sz="2550" b="1">
                <a:solidFill>
                  <a:srgbClr val="FFFFFF"/>
                </a:solidFill>
              </a:defRPr>
            </a:pPr>
            <a:r>
              <a:rPr sz="2550" b="1">
                <a:solidFill>
                  <a:srgbClr val="FFFFFF"/>
                </a:solidFill>
              </a:rPr>
              <a:t>설계</a:t>
            </a:r>
          </a:p>
        </p:txBody>
      </p:sp>
      <p:sp>
        <p:nvSpPr>
          <p:cNvPr id="3" name="직사각형 2">
            <a:extLst>
              <a:ext uri="{FF2B5EF4-FFF2-40B4-BE49-F238E27FC236}">
                <a16:creationId xmlns:a16="http://schemas.microsoft.com/office/drawing/2014/main" xmlns="" id="{87CF5B76-CD87-4166-9773-61497AC1FF50}"/>
              </a:ext>
            </a:extLst>
          </p:cNvPr>
          <p:cNvSpPr>
            <a:spLocks noGrp="1"/>
          </p:cNvSpPr>
          <p:nvPr/>
        </p:nvSpPr>
        <p:spPr>
          <a:xfrm>
            <a:off x="609600" y="1352550"/>
            <a:ext cx="10972800" cy="19050"/>
          </a:xfrm>
          <a:prstGeom prst="rect">
            <a:avLst/>
          </a:prstGeom>
          <a:solidFill>
            <a:srgbClr val="355064"/>
          </a:solidFill>
          <a:ln w="0">
            <a:solidFill>
              <a:srgbClr val="355064"/>
            </a:solidFill>
            <a:prstDash val="solid"/>
          </a:ln>
        </p:spPr>
      </p:sp>
      <p:sp>
        <p:nvSpPr>
          <p:cNvPr id="4" name="직사각형 3">
            <a:extLst>
              <a:ext uri="{FF2B5EF4-FFF2-40B4-BE49-F238E27FC236}">
                <a16:creationId xmlns:a16="http://schemas.microsoft.com/office/drawing/2014/main" xmlns="" id="{AD601E67-3A13-4239-9BE5-AA4A97F1002A}"/>
              </a:ext>
            </a:extLst>
          </p:cNvPr>
          <p:cNvSpPr>
            <a:spLocks noGrp="1"/>
          </p:cNvSpPr>
          <p:nvPr/>
        </p:nvSpPr>
        <p:spPr>
          <a:xfrm>
            <a:off x="11163300" y="400050"/>
            <a:ext cx="419100" cy="228600"/>
          </a:xfrm>
          <a:prstGeom prst="rect">
            <a:avLst/>
          </a:prstGeom>
          <a:noFill/>
          <a:ln w="0">
            <a:noFill/>
            <a:prstDash val="solid"/>
          </a:ln>
        </p:spPr>
        <p:txBody>
          <a:bodyPr anchor="ctr"/>
          <a:lstStyle/>
          <a:p>
            <a:pPr algn="r">
              <a:buNone/>
              <a:defRPr sz="975" b="1">
                <a:solidFill>
                  <a:srgbClr val="7891A4"/>
                </a:solidFill>
              </a:defRPr>
            </a:pPr>
            <a:r>
              <a:rPr sz="975" b="1">
                <a:solidFill>
                  <a:srgbClr val="7891A4"/>
                </a:solidFill>
              </a:rPr>
              <a:t>07</a:t>
            </a:r>
          </a:p>
        </p:txBody>
      </p:sp>
      <p:sp>
        <p:nvSpPr>
          <p:cNvPr id="5" name="모서리가 둥근 직사각형 4">
            <a:extLst>
              <a:ext uri="{FF2B5EF4-FFF2-40B4-BE49-F238E27FC236}">
                <a16:creationId xmlns:a16="http://schemas.microsoft.com/office/drawing/2014/main" xmlns="" id="{8873DAE2-3CEC-40C7-A395-C2BDE948BFBC}"/>
              </a:ext>
            </a:extLst>
          </p:cNvPr>
          <p:cNvSpPr>
            <a:spLocks noGrp="1"/>
          </p:cNvSpPr>
          <p:nvPr/>
        </p:nvSpPr>
        <p:spPr>
          <a:xfrm>
            <a:off x="590550" y="2000250"/>
            <a:ext cx="1790700" cy="1143000"/>
          </a:xfrm>
          <a:prstGeom prst="roundRect">
            <a:avLst>
              <a:gd name="adj" fmla="val 10000"/>
            </a:avLst>
          </a:prstGeom>
          <a:solidFill>
            <a:srgbClr val="17293A"/>
          </a:solidFill>
          <a:ln w="9525">
            <a:solidFill>
              <a:srgbClr val="355064"/>
            </a:solidFill>
            <a:prstDash val="solid"/>
          </a:ln>
        </p:spPr>
      </p:sp>
      <p:sp>
        <p:nvSpPr>
          <p:cNvPr id="6" name="직사각형 5">
            <a:extLst>
              <a:ext uri="{FF2B5EF4-FFF2-40B4-BE49-F238E27FC236}">
                <a16:creationId xmlns:a16="http://schemas.microsoft.com/office/drawing/2014/main" xmlns="" id="{E31D4EDF-B495-4FDB-B9AA-1F3BC6069045}"/>
              </a:ext>
            </a:extLst>
          </p:cNvPr>
          <p:cNvSpPr>
            <a:spLocks noGrp="1"/>
          </p:cNvSpPr>
          <p:nvPr/>
        </p:nvSpPr>
        <p:spPr>
          <a:xfrm>
            <a:off x="733425" y="2200275"/>
            <a:ext cx="1504950" cy="285750"/>
          </a:xfrm>
          <a:prstGeom prst="rect">
            <a:avLst/>
          </a:prstGeom>
          <a:noFill/>
          <a:ln w="0">
            <a:noFill/>
            <a:prstDash val="solid"/>
          </a:ln>
        </p:spPr>
        <p:txBody>
          <a:bodyPr anchor="ctr"/>
          <a:lstStyle/>
          <a:p>
            <a:pPr algn="ctr">
              <a:buNone/>
              <a:defRPr sz="1425" b="1">
                <a:solidFill>
                  <a:srgbClr val="3BB7A0"/>
                </a:solidFill>
              </a:defRPr>
            </a:pPr>
            <a:r>
              <a:rPr sz="1425" b="1">
                <a:solidFill>
                  <a:srgbClr val="3BB7A0"/>
                </a:solidFill>
              </a:rPr>
              <a:t>입력</a:t>
            </a:r>
          </a:p>
        </p:txBody>
      </p:sp>
      <p:sp>
        <p:nvSpPr>
          <p:cNvPr id="7" name="직사각형 6">
            <a:extLst>
              <a:ext uri="{FF2B5EF4-FFF2-40B4-BE49-F238E27FC236}">
                <a16:creationId xmlns:a16="http://schemas.microsoft.com/office/drawing/2014/main" xmlns="" id="{411EC28F-154F-4DD2-B7FC-C5B6AA5AFF8D}"/>
              </a:ext>
            </a:extLst>
          </p:cNvPr>
          <p:cNvSpPr>
            <a:spLocks noGrp="1"/>
          </p:cNvSpPr>
          <p:nvPr/>
        </p:nvSpPr>
        <p:spPr>
          <a:xfrm>
            <a:off x="733425" y="2609850"/>
            <a:ext cx="1504950" cy="247650"/>
          </a:xfrm>
          <a:prstGeom prst="rect">
            <a:avLst/>
          </a:prstGeom>
          <a:noFill/>
          <a:ln w="0">
            <a:noFill/>
            <a:prstDash val="solid"/>
          </a:ln>
        </p:spPr>
        <p:txBody>
          <a:bodyPr anchor="ctr"/>
          <a:lstStyle/>
          <a:p>
            <a:pPr algn="ctr"/>
            <a:r>
              <a:rPr sz="1125" b="0">
                <a:solidFill>
                  <a:srgbClr val="BFD0DB"/>
                </a:solidFill>
              </a:rPr>
              <a:t>HTTP 요청</a:t>
            </a:r>
          </a:p>
        </p:txBody>
      </p:sp>
      <p:sp>
        <p:nvSpPr>
          <p:cNvPr id="8" name="직사각형 7">
            <a:extLst>
              <a:ext uri="{FF2B5EF4-FFF2-40B4-BE49-F238E27FC236}">
                <a16:creationId xmlns:a16="http://schemas.microsoft.com/office/drawing/2014/main" xmlns="" id="{FABF62C9-FE37-42D2-B56D-F9437CE45E5B}"/>
              </a:ext>
            </a:extLst>
          </p:cNvPr>
          <p:cNvSpPr>
            <a:spLocks noGrp="1"/>
          </p:cNvSpPr>
          <p:nvPr/>
        </p:nvSpPr>
        <p:spPr>
          <a:xfrm>
            <a:off x="2381250" y="2552700"/>
            <a:ext cx="342900" cy="28575"/>
          </a:xfrm>
          <a:prstGeom prst="rect">
            <a:avLst/>
          </a:prstGeom>
          <a:solidFill>
            <a:srgbClr val="3BB7A0"/>
          </a:solidFill>
          <a:ln w="0">
            <a:solidFill>
              <a:srgbClr val="3BB7A0"/>
            </a:solidFill>
            <a:prstDash val="solid"/>
          </a:ln>
        </p:spPr>
      </p:sp>
      <p:sp>
        <p:nvSpPr>
          <p:cNvPr id="9" name="모서리가 둥근 직사각형 8">
            <a:extLst>
              <a:ext uri="{FF2B5EF4-FFF2-40B4-BE49-F238E27FC236}">
                <a16:creationId xmlns:a16="http://schemas.microsoft.com/office/drawing/2014/main" xmlns="" id="{3B8FBBEA-3258-4ECB-A430-B7121AED1642}"/>
              </a:ext>
            </a:extLst>
          </p:cNvPr>
          <p:cNvSpPr>
            <a:spLocks noGrp="1"/>
          </p:cNvSpPr>
          <p:nvPr/>
        </p:nvSpPr>
        <p:spPr>
          <a:xfrm>
            <a:off x="2724150" y="2000250"/>
            <a:ext cx="1790700" cy="1143000"/>
          </a:xfrm>
          <a:prstGeom prst="roundRect">
            <a:avLst>
              <a:gd name="adj" fmla="val 10000"/>
            </a:avLst>
          </a:prstGeom>
          <a:solidFill>
            <a:srgbClr val="17293A"/>
          </a:solidFill>
          <a:ln w="9525">
            <a:solidFill>
              <a:srgbClr val="355064"/>
            </a:solidFill>
            <a:prstDash val="solid"/>
          </a:ln>
        </p:spPr>
      </p:sp>
      <p:sp>
        <p:nvSpPr>
          <p:cNvPr id="10" name="직사각형 9">
            <a:extLst>
              <a:ext uri="{FF2B5EF4-FFF2-40B4-BE49-F238E27FC236}">
                <a16:creationId xmlns:a16="http://schemas.microsoft.com/office/drawing/2014/main" xmlns="" id="{9CAFCFE5-FB3D-4420-A04E-C338BF20AE0A}"/>
              </a:ext>
            </a:extLst>
          </p:cNvPr>
          <p:cNvSpPr>
            <a:spLocks noGrp="1"/>
          </p:cNvSpPr>
          <p:nvPr/>
        </p:nvSpPr>
        <p:spPr>
          <a:xfrm>
            <a:off x="2867025" y="2200275"/>
            <a:ext cx="1504950" cy="285750"/>
          </a:xfrm>
          <a:prstGeom prst="rect">
            <a:avLst/>
          </a:prstGeom>
          <a:noFill/>
          <a:ln w="0">
            <a:noFill/>
            <a:prstDash val="solid"/>
          </a:ln>
        </p:spPr>
        <p:txBody>
          <a:bodyPr anchor="ctr"/>
          <a:lstStyle/>
          <a:p>
            <a:pPr algn="ctr">
              <a:buNone/>
              <a:defRPr sz="1425" b="1">
                <a:solidFill>
                  <a:srgbClr val="3BB7A0"/>
                </a:solidFill>
              </a:defRPr>
            </a:pPr>
            <a:r>
              <a:rPr sz="1425" b="1">
                <a:solidFill>
                  <a:srgbClr val="3BB7A0"/>
                </a:solidFill>
              </a:rPr>
              <a:t>전처리</a:t>
            </a:r>
          </a:p>
        </p:txBody>
      </p:sp>
      <p:sp>
        <p:nvSpPr>
          <p:cNvPr id="11" name="직사각형 10">
            <a:extLst>
              <a:ext uri="{FF2B5EF4-FFF2-40B4-BE49-F238E27FC236}">
                <a16:creationId xmlns:a16="http://schemas.microsoft.com/office/drawing/2014/main" xmlns="" id="{3A00DD24-7DF9-4A34-9879-E1D03D5E7BE1}"/>
              </a:ext>
            </a:extLst>
          </p:cNvPr>
          <p:cNvSpPr>
            <a:spLocks noGrp="1"/>
          </p:cNvSpPr>
          <p:nvPr/>
        </p:nvSpPr>
        <p:spPr>
          <a:xfrm>
            <a:off x="2867025" y="2609850"/>
            <a:ext cx="1504950" cy="247650"/>
          </a:xfrm>
          <a:prstGeom prst="rect">
            <a:avLst/>
          </a:prstGeom>
          <a:noFill/>
          <a:ln w="0">
            <a:noFill/>
            <a:prstDash val="solid"/>
          </a:ln>
        </p:spPr>
        <p:txBody>
          <a:bodyPr anchor="ctr"/>
          <a:lstStyle/>
          <a:p>
            <a:pPr algn="ctr"/>
            <a:r>
              <a:rPr sz="1125" b="0">
                <a:solidFill>
                  <a:srgbClr val="BFD0DB"/>
                </a:solidFill>
              </a:rPr>
              <a:t>스키마 검증</a:t>
            </a:r>
          </a:p>
        </p:txBody>
      </p:sp>
      <p:sp>
        <p:nvSpPr>
          <p:cNvPr id="12" name="직사각형 11">
            <a:extLst>
              <a:ext uri="{FF2B5EF4-FFF2-40B4-BE49-F238E27FC236}">
                <a16:creationId xmlns:a16="http://schemas.microsoft.com/office/drawing/2014/main" xmlns="" id="{2D362FEA-9A28-40AA-8F05-F6AFCE60AFC6}"/>
              </a:ext>
            </a:extLst>
          </p:cNvPr>
          <p:cNvSpPr>
            <a:spLocks noGrp="1"/>
          </p:cNvSpPr>
          <p:nvPr/>
        </p:nvSpPr>
        <p:spPr>
          <a:xfrm>
            <a:off x="4514850" y="2552700"/>
            <a:ext cx="342900" cy="28575"/>
          </a:xfrm>
          <a:prstGeom prst="rect">
            <a:avLst/>
          </a:prstGeom>
          <a:solidFill>
            <a:srgbClr val="3BB7A0"/>
          </a:solidFill>
          <a:ln w="0">
            <a:solidFill>
              <a:srgbClr val="3BB7A0"/>
            </a:solidFill>
            <a:prstDash val="solid"/>
          </a:ln>
        </p:spPr>
      </p:sp>
      <p:sp>
        <p:nvSpPr>
          <p:cNvPr id="13" name="모서리가 둥근 직사각형 12">
            <a:extLst>
              <a:ext uri="{FF2B5EF4-FFF2-40B4-BE49-F238E27FC236}">
                <a16:creationId xmlns:a16="http://schemas.microsoft.com/office/drawing/2014/main" xmlns="" id="{AE1142C1-FFBD-4E2A-88B9-089A6DC1628F}"/>
              </a:ext>
            </a:extLst>
          </p:cNvPr>
          <p:cNvSpPr>
            <a:spLocks noGrp="1"/>
          </p:cNvSpPr>
          <p:nvPr/>
        </p:nvSpPr>
        <p:spPr>
          <a:xfrm>
            <a:off x="4857750" y="2000250"/>
            <a:ext cx="1790700" cy="1143000"/>
          </a:xfrm>
          <a:prstGeom prst="roundRect">
            <a:avLst>
              <a:gd name="adj" fmla="val 10000"/>
            </a:avLst>
          </a:prstGeom>
          <a:solidFill>
            <a:srgbClr val="17293A"/>
          </a:solidFill>
          <a:ln w="9525">
            <a:solidFill>
              <a:srgbClr val="355064"/>
            </a:solidFill>
            <a:prstDash val="solid"/>
          </a:ln>
        </p:spPr>
      </p:sp>
      <p:sp>
        <p:nvSpPr>
          <p:cNvPr id="14" name="직사각형 13">
            <a:extLst>
              <a:ext uri="{FF2B5EF4-FFF2-40B4-BE49-F238E27FC236}">
                <a16:creationId xmlns:a16="http://schemas.microsoft.com/office/drawing/2014/main" xmlns="" id="{C5DF7F95-31ED-4E6A-BEEE-00B0DAAE932D}"/>
              </a:ext>
            </a:extLst>
          </p:cNvPr>
          <p:cNvSpPr>
            <a:spLocks noGrp="1"/>
          </p:cNvSpPr>
          <p:nvPr/>
        </p:nvSpPr>
        <p:spPr>
          <a:xfrm>
            <a:off x="5000625" y="2200275"/>
            <a:ext cx="1504950" cy="285750"/>
          </a:xfrm>
          <a:prstGeom prst="rect">
            <a:avLst/>
          </a:prstGeom>
          <a:noFill/>
          <a:ln w="0">
            <a:noFill/>
            <a:prstDash val="solid"/>
          </a:ln>
        </p:spPr>
        <p:txBody>
          <a:bodyPr anchor="ctr"/>
          <a:lstStyle/>
          <a:p>
            <a:pPr algn="ctr">
              <a:buNone/>
              <a:defRPr sz="1425" b="1">
                <a:solidFill>
                  <a:srgbClr val="3BB7A0"/>
                </a:solidFill>
              </a:defRPr>
            </a:pPr>
            <a:r>
              <a:rPr sz="1425" b="1">
                <a:solidFill>
                  <a:srgbClr val="3BB7A0"/>
                </a:solidFill>
              </a:rPr>
              <a:t>핵심 처리</a:t>
            </a:r>
          </a:p>
        </p:txBody>
      </p:sp>
      <p:sp>
        <p:nvSpPr>
          <p:cNvPr id="15" name="직사각형 14">
            <a:extLst>
              <a:ext uri="{FF2B5EF4-FFF2-40B4-BE49-F238E27FC236}">
                <a16:creationId xmlns:a16="http://schemas.microsoft.com/office/drawing/2014/main" xmlns="" id="{CC4F6DA8-70BF-4B18-B144-094EB61BA468}"/>
              </a:ext>
            </a:extLst>
          </p:cNvPr>
          <p:cNvSpPr>
            <a:spLocks noGrp="1"/>
          </p:cNvSpPr>
          <p:nvPr/>
        </p:nvSpPr>
        <p:spPr>
          <a:xfrm>
            <a:off x="5000625" y="2609850"/>
            <a:ext cx="1504950" cy="247650"/>
          </a:xfrm>
          <a:prstGeom prst="rect">
            <a:avLst/>
          </a:prstGeom>
          <a:noFill/>
          <a:ln w="0">
            <a:noFill/>
            <a:prstDash val="solid"/>
          </a:ln>
        </p:spPr>
        <p:txBody>
          <a:bodyPr anchor="ctr"/>
          <a:lstStyle/>
          <a:p>
            <a:pPr algn="ctr"/>
            <a:r>
              <a:rPr sz="1125" b="0">
                <a:solidFill>
                  <a:srgbClr val="BFD0DB"/>
                </a:solidFill>
              </a:rPr>
              <a:t>User CRUD</a:t>
            </a:r>
          </a:p>
        </p:txBody>
      </p:sp>
      <p:sp>
        <p:nvSpPr>
          <p:cNvPr id="16" name="직사각형 15">
            <a:extLst>
              <a:ext uri="{FF2B5EF4-FFF2-40B4-BE49-F238E27FC236}">
                <a16:creationId xmlns:a16="http://schemas.microsoft.com/office/drawing/2014/main" xmlns="" id="{383B1CB0-F3A4-48A1-9555-B7AC59CE98B9}"/>
              </a:ext>
            </a:extLst>
          </p:cNvPr>
          <p:cNvSpPr>
            <a:spLocks noGrp="1"/>
          </p:cNvSpPr>
          <p:nvPr/>
        </p:nvSpPr>
        <p:spPr>
          <a:xfrm>
            <a:off x="6648450" y="2552700"/>
            <a:ext cx="342900" cy="28575"/>
          </a:xfrm>
          <a:prstGeom prst="rect">
            <a:avLst/>
          </a:prstGeom>
          <a:solidFill>
            <a:srgbClr val="3BB7A0"/>
          </a:solidFill>
          <a:ln w="0">
            <a:solidFill>
              <a:srgbClr val="3BB7A0"/>
            </a:solidFill>
            <a:prstDash val="solid"/>
          </a:ln>
        </p:spPr>
      </p:sp>
      <p:sp>
        <p:nvSpPr>
          <p:cNvPr id="17" name="모서리가 둥근 직사각형 16">
            <a:extLst>
              <a:ext uri="{FF2B5EF4-FFF2-40B4-BE49-F238E27FC236}">
                <a16:creationId xmlns:a16="http://schemas.microsoft.com/office/drawing/2014/main" xmlns="" id="{3017FBE0-F244-41FA-B5A5-65CD97A2F6DE}"/>
              </a:ext>
            </a:extLst>
          </p:cNvPr>
          <p:cNvSpPr>
            <a:spLocks noGrp="1"/>
          </p:cNvSpPr>
          <p:nvPr/>
        </p:nvSpPr>
        <p:spPr>
          <a:xfrm>
            <a:off x="6991350" y="2000250"/>
            <a:ext cx="1790700" cy="1143000"/>
          </a:xfrm>
          <a:prstGeom prst="roundRect">
            <a:avLst>
              <a:gd name="adj" fmla="val 10000"/>
            </a:avLst>
          </a:prstGeom>
          <a:solidFill>
            <a:srgbClr val="17293A"/>
          </a:solidFill>
          <a:ln w="9525">
            <a:solidFill>
              <a:srgbClr val="355064"/>
            </a:solidFill>
            <a:prstDash val="solid"/>
          </a:ln>
        </p:spPr>
      </p:sp>
      <p:sp>
        <p:nvSpPr>
          <p:cNvPr id="18" name="직사각형 17">
            <a:extLst>
              <a:ext uri="{FF2B5EF4-FFF2-40B4-BE49-F238E27FC236}">
                <a16:creationId xmlns:a16="http://schemas.microsoft.com/office/drawing/2014/main" xmlns="" id="{5BC1D175-C815-4878-A171-0023B23E2379}"/>
              </a:ext>
            </a:extLst>
          </p:cNvPr>
          <p:cNvSpPr>
            <a:spLocks noGrp="1"/>
          </p:cNvSpPr>
          <p:nvPr/>
        </p:nvSpPr>
        <p:spPr>
          <a:xfrm>
            <a:off x="7134225" y="2200275"/>
            <a:ext cx="1504950" cy="285750"/>
          </a:xfrm>
          <a:prstGeom prst="rect">
            <a:avLst/>
          </a:prstGeom>
          <a:noFill/>
          <a:ln w="0">
            <a:noFill/>
            <a:prstDash val="solid"/>
          </a:ln>
        </p:spPr>
        <p:txBody>
          <a:bodyPr anchor="ctr"/>
          <a:lstStyle/>
          <a:p>
            <a:pPr algn="ctr">
              <a:buNone/>
              <a:defRPr sz="1425" b="1">
                <a:solidFill>
                  <a:srgbClr val="3BB7A0"/>
                </a:solidFill>
              </a:defRPr>
            </a:pPr>
            <a:r>
              <a:rPr sz="1425" b="1">
                <a:solidFill>
                  <a:srgbClr val="3BB7A0"/>
                </a:solidFill>
              </a:rPr>
              <a:t>출력</a:t>
            </a:r>
          </a:p>
        </p:txBody>
      </p:sp>
      <p:sp>
        <p:nvSpPr>
          <p:cNvPr id="19" name="직사각형 18">
            <a:extLst>
              <a:ext uri="{FF2B5EF4-FFF2-40B4-BE49-F238E27FC236}">
                <a16:creationId xmlns:a16="http://schemas.microsoft.com/office/drawing/2014/main" xmlns="" id="{79F57397-6720-4D1B-B16F-F84F07CBCCAC}"/>
              </a:ext>
            </a:extLst>
          </p:cNvPr>
          <p:cNvSpPr>
            <a:spLocks noGrp="1"/>
          </p:cNvSpPr>
          <p:nvPr/>
        </p:nvSpPr>
        <p:spPr>
          <a:xfrm>
            <a:off x="7134225" y="2609850"/>
            <a:ext cx="1504950" cy="247650"/>
          </a:xfrm>
          <a:prstGeom prst="rect">
            <a:avLst/>
          </a:prstGeom>
          <a:noFill/>
          <a:ln w="0">
            <a:noFill/>
            <a:prstDash val="solid"/>
          </a:ln>
        </p:spPr>
        <p:txBody>
          <a:bodyPr anchor="ctr"/>
          <a:lstStyle/>
          <a:p>
            <a:pPr algn="ctr"/>
            <a:r>
              <a:rPr sz="1125" b="0">
                <a:solidFill>
                  <a:srgbClr val="BFD0DB"/>
                </a:solidFill>
              </a:rPr>
              <a:t>JSON · 상태 코드</a:t>
            </a:r>
          </a:p>
        </p:txBody>
      </p:sp>
      <p:sp>
        <p:nvSpPr>
          <p:cNvPr id="20" name="직사각형 19">
            <a:extLst>
              <a:ext uri="{FF2B5EF4-FFF2-40B4-BE49-F238E27FC236}">
                <a16:creationId xmlns:a16="http://schemas.microsoft.com/office/drawing/2014/main" xmlns="" id="{FCCADBBD-959D-410B-9945-AB7111B6AAE5}"/>
              </a:ext>
            </a:extLst>
          </p:cNvPr>
          <p:cNvSpPr>
            <a:spLocks noGrp="1"/>
          </p:cNvSpPr>
          <p:nvPr/>
        </p:nvSpPr>
        <p:spPr>
          <a:xfrm>
            <a:off x="8782050" y="2552700"/>
            <a:ext cx="342900" cy="28575"/>
          </a:xfrm>
          <a:prstGeom prst="rect">
            <a:avLst/>
          </a:prstGeom>
          <a:solidFill>
            <a:srgbClr val="3BB7A0"/>
          </a:solidFill>
          <a:ln w="0">
            <a:solidFill>
              <a:srgbClr val="3BB7A0"/>
            </a:solidFill>
            <a:prstDash val="solid"/>
          </a:ln>
        </p:spPr>
      </p:sp>
      <p:sp>
        <p:nvSpPr>
          <p:cNvPr id="21" name="모서리가 둥근 직사각형 20">
            <a:extLst>
              <a:ext uri="{FF2B5EF4-FFF2-40B4-BE49-F238E27FC236}">
                <a16:creationId xmlns:a16="http://schemas.microsoft.com/office/drawing/2014/main" xmlns="" id="{71381A61-41E1-42A6-A3D6-EC05850FD2A5}"/>
              </a:ext>
            </a:extLst>
          </p:cNvPr>
          <p:cNvSpPr>
            <a:spLocks noGrp="1"/>
          </p:cNvSpPr>
          <p:nvPr/>
        </p:nvSpPr>
        <p:spPr>
          <a:xfrm>
            <a:off x="9239250" y="1866900"/>
            <a:ext cx="2286000" cy="1409700"/>
          </a:xfrm>
          <a:prstGeom prst="roundRect">
            <a:avLst>
              <a:gd name="adj" fmla="val 8108"/>
            </a:avLst>
          </a:prstGeom>
          <a:solidFill>
            <a:srgbClr val="19394A"/>
          </a:solidFill>
          <a:ln w="9525">
            <a:solidFill>
              <a:srgbClr val="3BB7A0"/>
            </a:solidFill>
            <a:prstDash val="solid"/>
          </a:ln>
        </p:spPr>
      </p:sp>
      <p:sp>
        <p:nvSpPr>
          <p:cNvPr id="22" name="직사각형 21">
            <a:extLst>
              <a:ext uri="{FF2B5EF4-FFF2-40B4-BE49-F238E27FC236}">
                <a16:creationId xmlns:a16="http://schemas.microsoft.com/office/drawing/2014/main" xmlns="" id="{7C666807-147F-4E4B-B6C7-714C5621B8C2}"/>
              </a:ext>
            </a:extLst>
          </p:cNvPr>
          <p:cNvSpPr>
            <a:spLocks noGrp="1"/>
          </p:cNvSpPr>
          <p:nvPr/>
        </p:nvSpPr>
        <p:spPr>
          <a:xfrm>
            <a:off x="9477375" y="2133600"/>
            <a:ext cx="1809750" cy="323850"/>
          </a:xfrm>
          <a:prstGeom prst="rect">
            <a:avLst/>
          </a:prstGeom>
          <a:noFill/>
          <a:ln w="0">
            <a:noFill/>
            <a:prstDash val="solid"/>
          </a:ln>
        </p:spPr>
        <p:txBody>
          <a:bodyPr anchor="ctr"/>
          <a:lstStyle/>
          <a:p>
            <a:pPr algn="ctr">
              <a:buNone/>
              <a:defRPr sz="1875" b="1">
                <a:solidFill>
                  <a:srgbClr val="FFFFFF"/>
                </a:solidFill>
              </a:defRPr>
            </a:pPr>
            <a:r>
              <a:rPr sz="1875" b="1">
                <a:solidFill>
                  <a:srgbClr val="FFFFFF"/>
                </a:solidFill>
              </a:rPr>
              <a:t>시스템 경계</a:t>
            </a:r>
          </a:p>
        </p:txBody>
      </p:sp>
      <p:sp>
        <p:nvSpPr>
          <p:cNvPr id="23" name="직사각형 22">
            <a:extLst>
              <a:ext uri="{FF2B5EF4-FFF2-40B4-BE49-F238E27FC236}">
                <a16:creationId xmlns:a16="http://schemas.microsoft.com/office/drawing/2014/main" xmlns="" id="{ABA41F18-EC51-4CDC-90EF-D9DD79D84E81}"/>
              </a:ext>
            </a:extLst>
          </p:cNvPr>
          <p:cNvSpPr>
            <a:spLocks noGrp="1"/>
          </p:cNvSpPr>
          <p:nvPr/>
        </p:nvSpPr>
        <p:spPr>
          <a:xfrm>
            <a:off x="9477375" y="2590800"/>
            <a:ext cx="1809750" cy="285750"/>
          </a:xfrm>
          <a:prstGeom prst="rect">
            <a:avLst/>
          </a:prstGeom>
          <a:noFill/>
          <a:ln w="0">
            <a:noFill/>
            <a:prstDash val="solid"/>
          </a:ln>
        </p:spPr>
        <p:txBody>
          <a:bodyPr anchor="ctr"/>
          <a:lstStyle/>
          <a:p>
            <a:pPr algn="ctr"/>
            <a:r>
              <a:rPr sz="1350" b="1">
                <a:solidFill>
                  <a:srgbClr val="8FD12D"/>
                </a:solidFill>
              </a:rPr>
              <a:t>SQLite DB</a:t>
            </a:r>
          </a:p>
        </p:txBody>
      </p:sp>
      <p:sp>
        <p:nvSpPr>
          <p:cNvPr id="24" name="직사각형 23">
            <a:extLst>
              <a:ext uri="{FF2B5EF4-FFF2-40B4-BE49-F238E27FC236}">
                <a16:creationId xmlns:a16="http://schemas.microsoft.com/office/drawing/2014/main" xmlns="" id="{F86E0160-F4F8-4C9B-8869-71B34EE74839}"/>
              </a:ext>
            </a:extLst>
          </p:cNvPr>
          <p:cNvSpPr>
            <a:spLocks noGrp="1"/>
          </p:cNvSpPr>
          <p:nvPr/>
        </p:nvSpPr>
        <p:spPr>
          <a:xfrm>
            <a:off x="1581150" y="3676650"/>
            <a:ext cx="8572500" cy="19050"/>
          </a:xfrm>
          <a:prstGeom prst="rect">
            <a:avLst/>
          </a:prstGeom>
          <a:solidFill>
            <a:srgbClr val="355064"/>
          </a:solidFill>
          <a:ln w="0">
            <a:solidFill>
              <a:srgbClr val="355064"/>
            </a:solidFill>
            <a:prstDash val="solid"/>
          </a:ln>
        </p:spPr>
      </p:sp>
      <p:sp>
        <p:nvSpPr>
          <p:cNvPr id="25" name="직사각형 24">
            <a:extLst>
              <a:ext uri="{FF2B5EF4-FFF2-40B4-BE49-F238E27FC236}">
                <a16:creationId xmlns:a16="http://schemas.microsoft.com/office/drawing/2014/main" xmlns="" id="{7826535F-A167-4F12-9C80-6A0E78F8234C}"/>
              </a:ext>
            </a:extLst>
          </p:cNvPr>
          <p:cNvSpPr>
            <a:spLocks noGrp="1"/>
          </p:cNvSpPr>
          <p:nvPr/>
        </p:nvSpPr>
        <p:spPr>
          <a:xfrm>
            <a:off x="5638800" y="3562350"/>
            <a:ext cx="457200" cy="400050"/>
          </a:xfrm>
          <a:prstGeom prst="rect">
            <a:avLst/>
          </a:prstGeom>
          <a:noFill/>
          <a:ln w="0">
            <a:noFill/>
            <a:prstDash val="solid"/>
          </a:ln>
        </p:spPr>
        <p:txBody>
          <a:bodyPr anchor="ctr"/>
          <a:lstStyle/>
          <a:p>
            <a:pPr algn="ctr">
              <a:buNone/>
              <a:defRPr sz="2250" b="1">
                <a:solidFill>
                  <a:srgbClr val="F59B23"/>
                </a:solidFill>
              </a:defRPr>
            </a:pPr>
            <a:r>
              <a:rPr sz="2250" b="1">
                <a:solidFill>
                  <a:srgbClr val="F59B23"/>
                </a:solidFill>
              </a:rPr>
              <a:t>↓</a:t>
            </a:r>
          </a:p>
        </p:txBody>
      </p:sp>
      <p:sp>
        <p:nvSpPr>
          <p:cNvPr id="26" name="모서리가 둥근 직사각형 25">
            <a:extLst>
              <a:ext uri="{FF2B5EF4-FFF2-40B4-BE49-F238E27FC236}">
                <a16:creationId xmlns:a16="http://schemas.microsoft.com/office/drawing/2014/main" xmlns="" id="{DE671D53-2472-4341-98E0-BC9C6F973C28}"/>
              </a:ext>
            </a:extLst>
          </p:cNvPr>
          <p:cNvSpPr>
            <a:spLocks noGrp="1"/>
          </p:cNvSpPr>
          <p:nvPr/>
        </p:nvSpPr>
        <p:spPr>
          <a:xfrm>
            <a:off x="1619250" y="4171950"/>
            <a:ext cx="8953500" cy="1104900"/>
          </a:xfrm>
          <a:prstGeom prst="roundRect">
            <a:avLst>
              <a:gd name="adj" fmla="val 10345"/>
            </a:avLst>
          </a:prstGeom>
          <a:solidFill>
            <a:srgbClr val="17293A"/>
          </a:solidFill>
          <a:ln w="9525">
            <a:solidFill>
              <a:srgbClr val="355064"/>
            </a:solidFill>
            <a:prstDash val="solid"/>
          </a:ln>
        </p:spPr>
      </p:sp>
      <p:sp>
        <p:nvSpPr>
          <p:cNvPr id="27" name="직사각형 26">
            <a:extLst>
              <a:ext uri="{FF2B5EF4-FFF2-40B4-BE49-F238E27FC236}">
                <a16:creationId xmlns:a16="http://schemas.microsoft.com/office/drawing/2014/main" xmlns="" id="{7F524624-0E5A-4058-8B17-84051A5C368A}"/>
              </a:ext>
            </a:extLst>
          </p:cNvPr>
          <p:cNvSpPr>
            <a:spLocks noGrp="1"/>
          </p:cNvSpPr>
          <p:nvPr/>
        </p:nvSpPr>
        <p:spPr>
          <a:xfrm>
            <a:off x="1905000" y="4381500"/>
            <a:ext cx="8382000" cy="323850"/>
          </a:xfrm>
          <a:prstGeom prst="rect">
            <a:avLst/>
          </a:prstGeom>
          <a:noFill/>
          <a:ln w="0">
            <a:noFill/>
            <a:prstDash val="solid"/>
          </a:ln>
        </p:spPr>
        <p:txBody>
          <a:bodyPr anchor="ctr"/>
          <a:lstStyle/>
          <a:p>
            <a:pPr algn="ctr"/>
            <a:r>
              <a:rPr sz="1875" b="1">
                <a:solidFill>
                  <a:srgbClr val="FFFFFF"/>
                </a:solidFill>
              </a:rPr>
              <a:t>FastAPI + SQLAlchemy + SQLite</a:t>
            </a:r>
          </a:p>
        </p:txBody>
      </p:sp>
      <p:sp>
        <p:nvSpPr>
          <p:cNvPr id="28" name="직사각형 27">
            <a:extLst>
              <a:ext uri="{FF2B5EF4-FFF2-40B4-BE49-F238E27FC236}">
                <a16:creationId xmlns:a16="http://schemas.microsoft.com/office/drawing/2014/main" xmlns="" id="{8B1FDD10-7F60-47B9-9A6F-AF0CE0A657ED}"/>
              </a:ext>
            </a:extLst>
          </p:cNvPr>
          <p:cNvSpPr>
            <a:spLocks noGrp="1"/>
          </p:cNvSpPr>
          <p:nvPr/>
        </p:nvSpPr>
        <p:spPr>
          <a:xfrm>
            <a:off x="1905000" y="4800600"/>
            <a:ext cx="8382000" cy="266700"/>
          </a:xfrm>
          <a:prstGeom prst="rect">
            <a:avLst/>
          </a:prstGeom>
          <a:noFill/>
          <a:ln w="0">
            <a:noFill/>
            <a:prstDash val="solid"/>
          </a:ln>
        </p:spPr>
        <p:txBody>
          <a:bodyPr anchor="ctr"/>
          <a:lstStyle/>
          <a:p>
            <a:pPr algn="ctr"/>
            <a:r>
              <a:rPr sz="1350" b="0">
                <a:solidFill>
                  <a:srgbClr val="BDD0DC"/>
                </a:solidFill>
              </a:rPr>
              <a:t>DB · 모델 · 스키마 · CRUD · 라우터 분리 / get_db로 세션 주입</a:t>
            </a:r>
          </a:p>
        </p:txBody>
      </p:sp>
      <p:sp>
        <p:nvSpPr>
          <p:cNvPr id="29" name="직사각형 28">
            <a:extLst>
              <a:ext uri="{FF2B5EF4-FFF2-40B4-BE49-F238E27FC236}">
                <a16:creationId xmlns:a16="http://schemas.microsoft.com/office/drawing/2014/main" xmlns="" id="{65C98B38-6A13-49B0-9A3E-116E92FDEA16}"/>
              </a:ext>
            </a:extLst>
          </p:cNvPr>
          <p:cNvSpPr>
            <a:spLocks noGrp="1"/>
          </p:cNvSpPr>
          <p:nvPr/>
        </p:nvSpPr>
        <p:spPr>
          <a:xfrm>
            <a:off x="609600" y="5676900"/>
            <a:ext cx="10972800" cy="285750"/>
          </a:xfrm>
          <a:prstGeom prst="rect">
            <a:avLst/>
          </a:prstGeom>
          <a:noFill/>
          <a:ln w="0">
            <a:noFill/>
            <a:prstDash val="solid"/>
          </a:ln>
        </p:spPr>
        <p:txBody>
          <a:bodyPr anchor="ctr"/>
          <a:lstStyle/>
          <a:p>
            <a:pPr algn="ctr"/>
            <a:r>
              <a:rPr sz="1500" b="1">
                <a:solidFill>
                  <a:srgbClr val="3BB7A0"/>
                </a:solidFill>
              </a:rPr>
              <a:t>설계 의도: 작은 CRUD 범위로 코드 생성 → 실행 → 수정 → 재시험 흐름을 확인</a:t>
            </a:r>
          </a:p>
        </p:txBody>
      </p:sp>
    </p:spTree>
    <p:extLst>
      <p:ext uri="{BB962C8B-B14F-4D97-AF65-F5344CB8AC3E}">
        <p14:creationId xmlns:p14="http://schemas.microsoft.com/office/powerpoint/2010/main" val="1755209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1D29"/>
        </a:solidFill>
        <a:effectLst/>
      </p:bgPr>
    </p:bg>
    <p:spTree>
      <p:nvGrpSpPr>
        <p:cNvPr id="1" name=""/>
        <p:cNvGrpSpPr/>
        <p:nvPr/>
      </p:nvGrpSpPr>
      <p:grpSpPr>
        <a:xfrm>
          <a:off x="0" y="0"/>
          <a:ext cx="0" cy="0"/>
          <a:chOff x="0" y="0"/>
          <a:chExt cx="0" cy="0"/>
        </a:xfrm>
      </p:grpSpPr>
      <p:sp>
        <p:nvSpPr>
          <p:cNvPr id="33" name="직사각형 32">
            <a:extLst>
              <a:ext uri="{FF2B5EF4-FFF2-40B4-BE49-F238E27FC236}">
                <a16:creationId xmlns:a16="http://schemas.microsoft.com/office/drawing/2014/main" xmlns="" id="{1AD34DF5-497C-4D08-873C-C755154AED23}"/>
              </a:ext>
            </a:extLst>
          </p:cNvPr>
          <p:cNvSpPr>
            <a:spLocks noGrp="1"/>
          </p:cNvSpPr>
          <p:nvPr/>
        </p:nvSpPr>
        <p:spPr>
          <a:xfrm>
            <a:off x="609600" y="381000"/>
            <a:ext cx="4762500" cy="266700"/>
          </a:xfrm>
          <a:prstGeom prst="rect">
            <a:avLst/>
          </a:prstGeom>
          <a:noFill/>
          <a:ln w="0">
            <a:noFill/>
            <a:prstDash val="solid"/>
          </a:ln>
        </p:spPr>
        <p:txBody>
          <a:bodyPr anchor="ctr"/>
          <a:lstStyle/>
          <a:p>
            <a:pPr algn="l">
              <a:buNone/>
              <a:defRPr sz="1050" b="1">
                <a:solidFill>
                  <a:srgbClr val="3BB7A0"/>
                </a:solidFill>
              </a:defRPr>
            </a:pPr>
            <a:r>
              <a:rPr sz="1050" b="1">
                <a:solidFill>
                  <a:srgbClr val="3BB7A0"/>
                </a:solidFill>
              </a:rPr>
              <a:t>주간 기술 세미나</a:t>
            </a:r>
          </a:p>
        </p:txBody>
      </p:sp>
      <p:sp>
        <p:nvSpPr>
          <p:cNvPr id="2" name="직사각형 1">
            <a:extLst>
              <a:ext uri="{FF2B5EF4-FFF2-40B4-BE49-F238E27FC236}">
                <a16:creationId xmlns:a16="http://schemas.microsoft.com/office/drawing/2014/main" xmlns="" id="{990BD2E0-B00E-4441-ABDA-624272BDC13E}"/>
              </a:ext>
            </a:extLst>
          </p:cNvPr>
          <p:cNvSpPr>
            <a:spLocks noGrp="1"/>
          </p:cNvSpPr>
          <p:nvPr/>
        </p:nvSpPr>
        <p:spPr>
          <a:xfrm>
            <a:off x="609600" y="685800"/>
            <a:ext cx="10477500" cy="590550"/>
          </a:xfrm>
          <a:prstGeom prst="rect">
            <a:avLst/>
          </a:prstGeom>
          <a:noFill/>
          <a:ln w="0">
            <a:noFill/>
            <a:prstDash val="solid"/>
          </a:ln>
        </p:spPr>
        <p:txBody>
          <a:bodyPr anchor="ctr"/>
          <a:lstStyle/>
          <a:p>
            <a:pPr algn="l">
              <a:buNone/>
              <a:defRPr sz="2550" b="1">
                <a:solidFill>
                  <a:srgbClr val="FFFFFF"/>
                </a:solidFill>
              </a:defRPr>
            </a:pPr>
            <a:r>
              <a:rPr sz="2550" b="1">
                <a:solidFill>
                  <a:srgbClr val="FFFFFF"/>
                </a:solidFill>
              </a:rPr>
              <a:t>구현 과정</a:t>
            </a:r>
          </a:p>
        </p:txBody>
      </p:sp>
      <p:sp>
        <p:nvSpPr>
          <p:cNvPr id="3" name="직사각형 2">
            <a:extLst>
              <a:ext uri="{FF2B5EF4-FFF2-40B4-BE49-F238E27FC236}">
                <a16:creationId xmlns:a16="http://schemas.microsoft.com/office/drawing/2014/main" xmlns="" id="{3AAB6580-AD0E-403F-8826-3CD674ABC27E}"/>
              </a:ext>
            </a:extLst>
          </p:cNvPr>
          <p:cNvSpPr>
            <a:spLocks noGrp="1"/>
          </p:cNvSpPr>
          <p:nvPr/>
        </p:nvSpPr>
        <p:spPr>
          <a:xfrm>
            <a:off x="609600" y="1352550"/>
            <a:ext cx="10972800" cy="19050"/>
          </a:xfrm>
          <a:prstGeom prst="rect">
            <a:avLst/>
          </a:prstGeom>
          <a:solidFill>
            <a:srgbClr val="355064"/>
          </a:solidFill>
          <a:ln w="0">
            <a:solidFill>
              <a:srgbClr val="355064"/>
            </a:solidFill>
            <a:prstDash val="solid"/>
          </a:ln>
        </p:spPr>
      </p:sp>
      <p:sp>
        <p:nvSpPr>
          <p:cNvPr id="4" name="직사각형 3">
            <a:extLst>
              <a:ext uri="{FF2B5EF4-FFF2-40B4-BE49-F238E27FC236}">
                <a16:creationId xmlns:a16="http://schemas.microsoft.com/office/drawing/2014/main" xmlns="" id="{65F7536D-176C-4F58-8ACE-366A0721F9F8}"/>
              </a:ext>
            </a:extLst>
          </p:cNvPr>
          <p:cNvSpPr>
            <a:spLocks noGrp="1"/>
          </p:cNvSpPr>
          <p:nvPr/>
        </p:nvSpPr>
        <p:spPr>
          <a:xfrm>
            <a:off x="11163300" y="400050"/>
            <a:ext cx="419100" cy="228600"/>
          </a:xfrm>
          <a:prstGeom prst="rect">
            <a:avLst/>
          </a:prstGeom>
          <a:noFill/>
          <a:ln w="0">
            <a:noFill/>
            <a:prstDash val="solid"/>
          </a:ln>
        </p:spPr>
        <p:txBody>
          <a:bodyPr anchor="ctr"/>
          <a:lstStyle/>
          <a:p>
            <a:pPr algn="r">
              <a:buNone/>
              <a:defRPr sz="975" b="1">
                <a:solidFill>
                  <a:srgbClr val="7891A4"/>
                </a:solidFill>
              </a:defRPr>
            </a:pPr>
            <a:r>
              <a:rPr sz="975" b="1">
                <a:solidFill>
                  <a:srgbClr val="7891A4"/>
                </a:solidFill>
              </a:rPr>
              <a:t>08</a:t>
            </a:r>
          </a:p>
        </p:txBody>
      </p:sp>
      <p:sp>
        <p:nvSpPr>
          <p:cNvPr id="5" name="직사각형 4">
            <a:extLst>
              <a:ext uri="{FF2B5EF4-FFF2-40B4-BE49-F238E27FC236}">
                <a16:creationId xmlns:a16="http://schemas.microsoft.com/office/drawing/2014/main" xmlns="" id="{AE44EF22-A9BB-45BB-B378-E268C96D2DE6}"/>
              </a:ext>
            </a:extLst>
          </p:cNvPr>
          <p:cNvSpPr>
            <a:spLocks noGrp="1"/>
          </p:cNvSpPr>
          <p:nvPr/>
        </p:nvSpPr>
        <p:spPr>
          <a:xfrm>
            <a:off x="2266950" y="2781300"/>
            <a:ext cx="685800" cy="38100"/>
          </a:xfrm>
          <a:prstGeom prst="rect">
            <a:avLst/>
          </a:prstGeom>
          <a:solidFill>
            <a:srgbClr val="43647A"/>
          </a:solidFill>
          <a:ln w="0">
            <a:solidFill>
              <a:srgbClr val="43647A"/>
            </a:solidFill>
            <a:prstDash val="solid"/>
          </a:ln>
        </p:spPr>
      </p:sp>
      <p:sp>
        <p:nvSpPr>
          <p:cNvPr id="6" name="모서리가 둥근 직사각형 5">
            <a:extLst>
              <a:ext uri="{FF2B5EF4-FFF2-40B4-BE49-F238E27FC236}">
                <a16:creationId xmlns:a16="http://schemas.microsoft.com/office/drawing/2014/main" xmlns="" id="{F9088D40-F6FF-4C5F-9D2F-2E4F9371100B}"/>
              </a:ext>
            </a:extLst>
          </p:cNvPr>
          <p:cNvSpPr>
            <a:spLocks noGrp="1"/>
          </p:cNvSpPr>
          <p:nvPr/>
        </p:nvSpPr>
        <p:spPr>
          <a:xfrm>
            <a:off x="571500" y="2095500"/>
            <a:ext cx="1695450" cy="1428750"/>
          </a:xfrm>
          <a:prstGeom prst="roundRect">
            <a:avLst>
              <a:gd name="adj" fmla="val 8000"/>
            </a:avLst>
          </a:prstGeom>
          <a:solidFill>
            <a:srgbClr val="17293A"/>
          </a:solidFill>
          <a:ln w="9525">
            <a:solidFill>
              <a:srgbClr val="355064"/>
            </a:solidFill>
            <a:prstDash val="solid"/>
          </a:ln>
        </p:spPr>
      </p:sp>
      <p:sp>
        <p:nvSpPr>
          <p:cNvPr id="7" name="직사각형 6">
            <a:extLst>
              <a:ext uri="{FF2B5EF4-FFF2-40B4-BE49-F238E27FC236}">
                <a16:creationId xmlns:a16="http://schemas.microsoft.com/office/drawing/2014/main" xmlns="" id="{C5B77C95-DED1-4A90-B27F-781A7BD9F4AB}"/>
              </a:ext>
            </a:extLst>
          </p:cNvPr>
          <p:cNvSpPr>
            <a:spLocks noGrp="1"/>
          </p:cNvSpPr>
          <p:nvPr/>
        </p:nvSpPr>
        <p:spPr>
          <a:xfrm>
            <a:off x="742950" y="2266950"/>
            <a:ext cx="400050" cy="228600"/>
          </a:xfrm>
          <a:prstGeom prst="rect">
            <a:avLst/>
          </a:prstGeom>
          <a:noFill/>
          <a:ln w="0">
            <a:noFill/>
            <a:prstDash val="solid"/>
          </a:ln>
        </p:spPr>
        <p:txBody>
          <a:bodyPr anchor="ctr"/>
          <a:lstStyle/>
          <a:p>
            <a:pPr algn="l">
              <a:buNone/>
              <a:defRPr sz="1050" b="1">
                <a:solidFill>
                  <a:srgbClr val="3BB7A0"/>
                </a:solidFill>
              </a:defRPr>
            </a:pPr>
            <a:r>
              <a:rPr sz="1050" b="1">
                <a:solidFill>
                  <a:srgbClr val="3BB7A0"/>
                </a:solidFill>
              </a:rPr>
              <a:t>01</a:t>
            </a:r>
          </a:p>
        </p:txBody>
      </p:sp>
      <p:sp>
        <p:nvSpPr>
          <p:cNvPr id="8" name="직사각형 7">
            <a:extLst>
              <a:ext uri="{FF2B5EF4-FFF2-40B4-BE49-F238E27FC236}">
                <a16:creationId xmlns:a16="http://schemas.microsoft.com/office/drawing/2014/main" xmlns="" id="{0B82CAC2-6C8F-47C1-97FF-0A1AD81FF9EB}"/>
              </a:ext>
            </a:extLst>
          </p:cNvPr>
          <p:cNvSpPr>
            <a:spLocks noGrp="1"/>
          </p:cNvSpPr>
          <p:nvPr/>
        </p:nvSpPr>
        <p:spPr>
          <a:xfrm>
            <a:off x="742950" y="2609850"/>
            <a:ext cx="1352550" cy="304800"/>
          </a:xfrm>
          <a:prstGeom prst="rect">
            <a:avLst/>
          </a:prstGeom>
          <a:noFill/>
          <a:ln w="0">
            <a:noFill/>
            <a:prstDash val="solid"/>
          </a:ln>
        </p:spPr>
        <p:txBody>
          <a:bodyPr anchor="ctr"/>
          <a:lstStyle/>
          <a:p>
            <a:pPr algn="l">
              <a:buNone/>
              <a:defRPr sz="1650" b="1">
                <a:solidFill>
                  <a:srgbClr val="FFFFFF"/>
                </a:solidFill>
              </a:defRPr>
            </a:pPr>
            <a:r>
              <a:rPr sz="1650" b="1">
                <a:solidFill>
                  <a:srgbClr val="FFFFFF"/>
                </a:solidFill>
              </a:rPr>
              <a:t>환경 준비</a:t>
            </a:r>
          </a:p>
        </p:txBody>
      </p:sp>
      <p:sp>
        <p:nvSpPr>
          <p:cNvPr id="9" name="직사각형 8">
            <a:extLst>
              <a:ext uri="{FF2B5EF4-FFF2-40B4-BE49-F238E27FC236}">
                <a16:creationId xmlns:a16="http://schemas.microsoft.com/office/drawing/2014/main" xmlns="" id="{1EDBA625-38B0-4B92-B91A-642C9CC61A85}"/>
              </a:ext>
            </a:extLst>
          </p:cNvPr>
          <p:cNvSpPr>
            <a:spLocks noGrp="1"/>
          </p:cNvSpPr>
          <p:nvPr/>
        </p:nvSpPr>
        <p:spPr>
          <a:xfrm>
            <a:off x="742950" y="3028950"/>
            <a:ext cx="1352550" cy="285750"/>
          </a:xfrm>
          <a:prstGeom prst="rect">
            <a:avLst/>
          </a:prstGeom>
          <a:noFill/>
          <a:ln w="0">
            <a:noFill/>
            <a:prstDash val="solid"/>
          </a:ln>
        </p:spPr>
        <p:txBody>
          <a:bodyPr anchor="ctr"/>
          <a:lstStyle/>
          <a:p>
            <a:pPr algn="l"/>
            <a:r>
              <a:rPr sz="1200" b="0">
                <a:solidFill>
                  <a:srgbClr val="B9CAD5"/>
                </a:solidFill>
              </a:rPr>
              <a:t>Win11 · Git Bash</a:t>
            </a:r>
          </a:p>
        </p:txBody>
      </p:sp>
      <p:sp>
        <p:nvSpPr>
          <p:cNvPr id="10" name="직사각형 9">
            <a:extLst>
              <a:ext uri="{FF2B5EF4-FFF2-40B4-BE49-F238E27FC236}">
                <a16:creationId xmlns:a16="http://schemas.microsoft.com/office/drawing/2014/main" xmlns="" id="{03E1BB7F-BD61-4671-BE0B-C128440F10E7}"/>
              </a:ext>
            </a:extLst>
          </p:cNvPr>
          <p:cNvSpPr>
            <a:spLocks noGrp="1"/>
          </p:cNvSpPr>
          <p:nvPr/>
        </p:nvSpPr>
        <p:spPr>
          <a:xfrm>
            <a:off x="4572000" y="2781300"/>
            <a:ext cx="685800" cy="38100"/>
          </a:xfrm>
          <a:prstGeom prst="rect">
            <a:avLst/>
          </a:prstGeom>
          <a:solidFill>
            <a:srgbClr val="43647A"/>
          </a:solidFill>
          <a:ln w="0">
            <a:solidFill>
              <a:srgbClr val="43647A"/>
            </a:solidFill>
            <a:prstDash val="solid"/>
          </a:ln>
        </p:spPr>
      </p:sp>
      <p:sp>
        <p:nvSpPr>
          <p:cNvPr id="11" name="모서리가 둥근 직사각형 10">
            <a:extLst>
              <a:ext uri="{FF2B5EF4-FFF2-40B4-BE49-F238E27FC236}">
                <a16:creationId xmlns:a16="http://schemas.microsoft.com/office/drawing/2014/main" xmlns="" id="{DF861B84-7E90-4263-BD9B-B9AE01EE370C}"/>
              </a:ext>
            </a:extLst>
          </p:cNvPr>
          <p:cNvSpPr>
            <a:spLocks noGrp="1"/>
          </p:cNvSpPr>
          <p:nvPr/>
        </p:nvSpPr>
        <p:spPr>
          <a:xfrm>
            <a:off x="2876550" y="2095500"/>
            <a:ext cx="1695450" cy="1428750"/>
          </a:xfrm>
          <a:prstGeom prst="roundRect">
            <a:avLst>
              <a:gd name="adj" fmla="val 8000"/>
            </a:avLst>
          </a:prstGeom>
          <a:solidFill>
            <a:srgbClr val="17293A"/>
          </a:solidFill>
          <a:ln w="9525">
            <a:solidFill>
              <a:srgbClr val="355064"/>
            </a:solidFill>
            <a:prstDash val="solid"/>
          </a:ln>
        </p:spPr>
      </p:sp>
      <p:sp>
        <p:nvSpPr>
          <p:cNvPr id="12" name="직사각형 11">
            <a:extLst>
              <a:ext uri="{FF2B5EF4-FFF2-40B4-BE49-F238E27FC236}">
                <a16:creationId xmlns:a16="http://schemas.microsoft.com/office/drawing/2014/main" xmlns="" id="{21100AFD-9802-43B7-98A8-8A89590E030F}"/>
              </a:ext>
            </a:extLst>
          </p:cNvPr>
          <p:cNvSpPr>
            <a:spLocks noGrp="1"/>
          </p:cNvSpPr>
          <p:nvPr/>
        </p:nvSpPr>
        <p:spPr>
          <a:xfrm>
            <a:off x="3048000" y="2266950"/>
            <a:ext cx="400050" cy="228600"/>
          </a:xfrm>
          <a:prstGeom prst="rect">
            <a:avLst/>
          </a:prstGeom>
          <a:noFill/>
          <a:ln w="0">
            <a:noFill/>
            <a:prstDash val="solid"/>
          </a:ln>
        </p:spPr>
        <p:txBody>
          <a:bodyPr anchor="ctr"/>
          <a:lstStyle/>
          <a:p>
            <a:pPr algn="l">
              <a:buNone/>
              <a:defRPr sz="1050" b="1">
                <a:solidFill>
                  <a:srgbClr val="3BB7A0"/>
                </a:solidFill>
              </a:defRPr>
            </a:pPr>
            <a:r>
              <a:rPr sz="1050" b="1">
                <a:solidFill>
                  <a:srgbClr val="3BB7A0"/>
                </a:solidFill>
              </a:rPr>
              <a:t>02</a:t>
            </a:r>
          </a:p>
        </p:txBody>
      </p:sp>
      <p:sp>
        <p:nvSpPr>
          <p:cNvPr id="13" name="직사각형 12">
            <a:extLst>
              <a:ext uri="{FF2B5EF4-FFF2-40B4-BE49-F238E27FC236}">
                <a16:creationId xmlns:a16="http://schemas.microsoft.com/office/drawing/2014/main" xmlns="" id="{010B97F0-6E5D-4C52-9F2A-B99BB9695665}"/>
              </a:ext>
            </a:extLst>
          </p:cNvPr>
          <p:cNvSpPr>
            <a:spLocks noGrp="1"/>
          </p:cNvSpPr>
          <p:nvPr/>
        </p:nvSpPr>
        <p:spPr>
          <a:xfrm>
            <a:off x="3048000" y="2609850"/>
            <a:ext cx="1352550" cy="304800"/>
          </a:xfrm>
          <a:prstGeom prst="rect">
            <a:avLst/>
          </a:prstGeom>
          <a:noFill/>
          <a:ln w="0">
            <a:noFill/>
            <a:prstDash val="solid"/>
          </a:ln>
        </p:spPr>
        <p:txBody>
          <a:bodyPr anchor="ctr"/>
          <a:lstStyle/>
          <a:p>
            <a:pPr algn="l">
              <a:buNone/>
              <a:defRPr sz="1650" b="1">
                <a:solidFill>
                  <a:srgbClr val="FFFFFF"/>
                </a:solidFill>
              </a:defRPr>
            </a:pPr>
            <a:r>
              <a:rPr sz="1650" b="1">
                <a:solidFill>
                  <a:srgbClr val="FFFFFF"/>
                </a:solidFill>
              </a:rPr>
              <a:t>기본 구현</a:t>
            </a:r>
          </a:p>
        </p:txBody>
      </p:sp>
      <p:sp>
        <p:nvSpPr>
          <p:cNvPr id="14" name="직사각형 13">
            <a:extLst>
              <a:ext uri="{FF2B5EF4-FFF2-40B4-BE49-F238E27FC236}">
                <a16:creationId xmlns:a16="http://schemas.microsoft.com/office/drawing/2014/main" xmlns="" id="{6751E237-F6E1-40BC-A75F-EBAE715D3B87}"/>
              </a:ext>
            </a:extLst>
          </p:cNvPr>
          <p:cNvSpPr>
            <a:spLocks noGrp="1"/>
          </p:cNvSpPr>
          <p:nvPr/>
        </p:nvSpPr>
        <p:spPr>
          <a:xfrm>
            <a:off x="3048000" y="3028950"/>
            <a:ext cx="1352550" cy="285750"/>
          </a:xfrm>
          <a:prstGeom prst="rect">
            <a:avLst/>
          </a:prstGeom>
          <a:noFill/>
          <a:ln w="0">
            <a:noFill/>
            <a:prstDash val="solid"/>
          </a:ln>
        </p:spPr>
        <p:txBody>
          <a:bodyPr anchor="ctr"/>
          <a:lstStyle/>
          <a:p>
            <a:pPr algn="l"/>
            <a:r>
              <a:rPr sz="1200" b="0">
                <a:solidFill>
                  <a:srgbClr val="B9CAD5"/>
                </a:solidFill>
              </a:rPr>
              <a:t>구조·파일 생성</a:t>
            </a:r>
          </a:p>
        </p:txBody>
      </p:sp>
      <p:sp>
        <p:nvSpPr>
          <p:cNvPr id="15" name="직사각형 14">
            <a:extLst>
              <a:ext uri="{FF2B5EF4-FFF2-40B4-BE49-F238E27FC236}">
                <a16:creationId xmlns:a16="http://schemas.microsoft.com/office/drawing/2014/main" xmlns="" id="{781B8007-1B1D-4601-AB82-E752547B49E4}"/>
              </a:ext>
            </a:extLst>
          </p:cNvPr>
          <p:cNvSpPr>
            <a:spLocks noGrp="1"/>
          </p:cNvSpPr>
          <p:nvPr/>
        </p:nvSpPr>
        <p:spPr>
          <a:xfrm>
            <a:off x="6877050" y="2781300"/>
            <a:ext cx="685800" cy="38100"/>
          </a:xfrm>
          <a:prstGeom prst="rect">
            <a:avLst/>
          </a:prstGeom>
          <a:solidFill>
            <a:srgbClr val="43647A"/>
          </a:solidFill>
          <a:ln w="0">
            <a:solidFill>
              <a:srgbClr val="43647A"/>
            </a:solidFill>
            <a:prstDash val="solid"/>
          </a:ln>
        </p:spPr>
      </p:sp>
      <p:sp>
        <p:nvSpPr>
          <p:cNvPr id="16" name="모서리가 둥근 직사각형 15">
            <a:extLst>
              <a:ext uri="{FF2B5EF4-FFF2-40B4-BE49-F238E27FC236}">
                <a16:creationId xmlns:a16="http://schemas.microsoft.com/office/drawing/2014/main" xmlns="" id="{A507F1BC-155B-4F6B-9C2C-EE4A0A8F2CBB}"/>
              </a:ext>
            </a:extLst>
          </p:cNvPr>
          <p:cNvSpPr>
            <a:spLocks noGrp="1"/>
          </p:cNvSpPr>
          <p:nvPr/>
        </p:nvSpPr>
        <p:spPr>
          <a:xfrm>
            <a:off x="5181600" y="2095500"/>
            <a:ext cx="1695450" cy="1428750"/>
          </a:xfrm>
          <a:prstGeom prst="roundRect">
            <a:avLst>
              <a:gd name="adj" fmla="val 8000"/>
            </a:avLst>
          </a:prstGeom>
          <a:solidFill>
            <a:srgbClr val="17293A"/>
          </a:solidFill>
          <a:ln w="9525">
            <a:solidFill>
              <a:srgbClr val="355064"/>
            </a:solidFill>
            <a:prstDash val="solid"/>
          </a:ln>
        </p:spPr>
      </p:sp>
      <p:sp>
        <p:nvSpPr>
          <p:cNvPr id="17" name="직사각형 16">
            <a:extLst>
              <a:ext uri="{FF2B5EF4-FFF2-40B4-BE49-F238E27FC236}">
                <a16:creationId xmlns:a16="http://schemas.microsoft.com/office/drawing/2014/main" xmlns="" id="{CA98B305-3B0E-4A7A-B237-C3CC4C9DD201}"/>
              </a:ext>
            </a:extLst>
          </p:cNvPr>
          <p:cNvSpPr>
            <a:spLocks noGrp="1"/>
          </p:cNvSpPr>
          <p:nvPr/>
        </p:nvSpPr>
        <p:spPr>
          <a:xfrm>
            <a:off x="5353050" y="2266950"/>
            <a:ext cx="400050" cy="228600"/>
          </a:xfrm>
          <a:prstGeom prst="rect">
            <a:avLst/>
          </a:prstGeom>
          <a:noFill/>
          <a:ln w="0">
            <a:noFill/>
            <a:prstDash val="solid"/>
          </a:ln>
        </p:spPr>
        <p:txBody>
          <a:bodyPr anchor="ctr"/>
          <a:lstStyle/>
          <a:p>
            <a:pPr algn="l">
              <a:buNone/>
              <a:defRPr sz="1050" b="1">
                <a:solidFill>
                  <a:srgbClr val="3BB7A0"/>
                </a:solidFill>
              </a:defRPr>
            </a:pPr>
            <a:r>
              <a:rPr sz="1050" b="1">
                <a:solidFill>
                  <a:srgbClr val="3BB7A0"/>
                </a:solidFill>
              </a:rPr>
              <a:t>03</a:t>
            </a:r>
          </a:p>
        </p:txBody>
      </p:sp>
      <p:sp>
        <p:nvSpPr>
          <p:cNvPr id="18" name="직사각형 17">
            <a:extLst>
              <a:ext uri="{FF2B5EF4-FFF2-40B4-BE49-F238E27FC236}">
                <a16:creationId xmlns:a16="http://schemas.microsoft.com/office/drawing/2014/main" xmlns="" id="{2B65778C-6449-45BF-AAFC-894507620D54}"/>
              </a:ext>
            </a:extLst>
          </p:cNvPr>
          <p:cNvSpPr>
            <a:spLocks noGrp="1"/>
          </p:cNvSpPr>
          <p:nvPr/>
        </p:nvSpPr>
        <p:spPr>
          <a:xfrm>
            <a:off x="5353050" y="2609850"/>
            <a:ext cx="1352550" cy="304800"/>
          </a:xfrm>
          <a:prstGeom prst="rect">
            <a:avLst/>
          </a:prstGeom>
          <a:noFill/>
          <a:ln w="0">
            <a:noFill/>
            <a:prstDash val="solid"/>
          </a:ln>
        </p:spPr>
        <p:txBody>
          <a:bodyPr anchor="ctr"/>
          <a:lstStyle/>
          <a:p>
            <a:pPr algn="l">
              <a:buNone/>
              <a:defRPr sz="1650" b="1">
                <a:solidFill>
                  <a:srgbClr val="FFFFFF"/>
                </a:solidFill>
              </a:defRPr>
            </a:pPr>
            <a:r>
              <a:rPr sz="1650" b="1">
                <a:solidFill>
                  <a:srgbClr val="FFFFFF"/>
                </a:solidFill>
              </a:rPr>
              <a:t>핵심 기능</a:t>
            </a:r>
          </a:p>
        </p:txBody>
      </p:sp>
      <p:sp>
        <p:nvSpPr>
          <p:cNvPr id="19" name="직사각형 18">
            <a:extLst>
              <a:ext uri="{FF2B5EF4-FFF2-40B4-BE49-F238E27FC236}">
                <a16:creationId xmlns:a16="http://schemas.microsoft.com/office/drawing/2014/main" xmlns="" id="{AC0A920A-8EA1-46C4-AF11-FE767F5DD6BE}"/>
              </a:ext>
            </a:extLst>
          </p:cNvPr>
          <p:cNvSpPr>
            <a:spLocks noGrp="1"/>
          </p:cNvSpPr>
          <p:nvPr/>
        </p:nvSpPr>
        <p:spPr>
          <a:xfrm>
            <a:off x="5353050" y="3028950"/>
            <a:ext cx="1352550" cy="285750"/>
          </a:xfrm>
          <a:prstGeom prst="rect">
            <a:avLst/>
          </a:prstGeom>
          <a:noFill/>
          <a:ln w="0">
            <a:noFill/>
            <a:prstDash val="solid"/>
          </a:ln>
        </p:spPr>
        <p:txBody>
          <a:bodyPr anchor="ctr"/>
          <a:lstStyle/>
          <a:p>
            <a:pPr algn="l"/>
            <a:r>
              <a:rPr sz="1200" b="0">
                <a:solidFill>
                  <a:srgbClr val="B9CAD5"/>
                </a:solidFill>
              </a:rPr>
              <a:t>CRUD 작성</a:t>
            </a:r>
          </a:p>
        </p:txBody>
      </p:sp>
      <p:sp>
        <p:nvSpPr>
          <p:cNvPr id="20" name="직사각형 19">
            <a:extLst>
              <a:ext uri="{FF2B5EF4-FFF2-40B4-BE49-F238E27FC236}">
                <a16:creationId xmlns:a16="http://schemas.microsoft.com/office/drawing/2014/main" xmlns="" id="{698A91CE-92A3-4BC7-9AC4-713DFA5430BC}"/>
              </a:ext>
            </a:extLst>
          </p:cNvPr>
          <p:cNvSpPr>
            <a:spLocks noGrp="1"/>
          </p:cNvSpPr>
          <p:nvPr/>
        </p:nvSpPr>
        <p:spPr>
          <a:xfrm>
            <a:off x="9182100" y="2781300"/>
            <a:ext cx="685800" cy="38100"/>
          </a:xfrm>
          <a:prstGeom prst="rect">
            <a:avLst/>
          </a:prstGeom>
          <a:solidFill>
            <a:srgbClr val="43647A"/>
          </a:solidFill>
          <a:ln w="0">
            <a:solidFill>
              <a:srgbClr val="43647A"/>
            </a:solidFill>
            <a:prstDash val="solid"/>
          </a:ln>
        </p:spPr>
      </p:sp>
      <p:sp>
        <p:nvSpPr>
          <p:cNvPr id="21" name="모서리가 둥근 직사각형 20">
            <a:extLst>
              <a:ext uri="{FF2B5EF4-FFF2-40B4-BE49-F238E27FC236}">
                <a16:creationId xmlns:a16="http://schemas.microsoft.com/office/drawing/2014/main" xmlns="" id="{1CE7A4DB-6859-4B4B-9BC3-EE3524F9B154}"/>
              </a:ext>
            </a:extLst>
          </p:cNvPr>
          <p:cNvSpPr>
            <a:spLocks noGrp="1"/>
          </p:cNvSpPr>
          <p:nvPr/>
        </p:nvSpPr>
        <p:spPr>
          <a:xfrm>
            <a:off x="7486650" y="2095500"/>
            <a:ext cx="1695450" cy="1428750"/>
          </a:xfrm>
          <a:prstGeom prst="roundRect">
            <a:avLst>
              <a:gd name="adj" fmla="val 8000"/>
            </a:avLst>
          </a:prstGeom>
          <a:solidFill>
            <a:srgbClr val="17293A"/>
          </a:solidFill>
          <a:ln w="9525">
            <a:solidFill>
              <a:srgbClr val="355064"/>
            </a:solidFill>
            <a:prstDash val="solid"/>
          </a:ln>
        </p:spPr>
      </p:sp>
      <p:sp>
        <p:nvSpPr>
          <p:cNvPr id="22" name="직사각형 21">
            <a:extLst>
              <a:ext uri="{FF2B5EF4-FFF2-40B4-BE49-F238E27FC236}">
                <a16:creationId xmlns:a16="http://schemas.microsoft.com/office/drawing/2014/main" xmlns="" id="{5CBB7E8E-092F-4258-9D68-597D5DD5820E}"/>
              </a:ext>
            </a:extLst>
          </p:cNvPr>
          <p:cNvSpPr>
            <a:spLocks noGrp="1"/>
          </p:cNvSpPr>
          <p:nvPr/>
        </p:nvSpPr>
        <p:spPr>
          <a:xfrm>
            <a:off x="7658100" y="2266950"/>
            <a:ext cx="400050" cy="228600"/>
          </a:xfrm>
          <a:prstGeom prst="rect">
            <a:avLst/>
          </a:prstGeom>
          <a:noFill/>
          <a:ln w="0">
            <a:noFill/>
            <a:prstDash val="solid"/>
          </a:ln>
        </p:spPr>
        <p:txBody>
          <a:bodyPr anchor="ctr"/>
          <a:lstStyle/>
          <a:p>
            <a:pPr algn="l">
              <a:buNone/>
              <a:defRPr sz="1050" b="1">
                <a:solidFill>
                  <a:srgbClr val="3BB7A0"/>
                </a:solidFill>
              </a:defRPr>
            </a:pPr>
            <a:r>
              <a:rPr sz="1050" b="1">
                <a:solidFill>
                  <a:srgbClr val="3BB7A0"/>
                </a:solidFill>
              </a:rPr>
              <a:t>04</a:t>
            </a:r>
          </a:p>
        </p:txBody>
      </p:sp>
      <p:sp>
        <p:nvSpPr>
          <p:cNvPr id="23" name="직사각형 22">
            <a:extLst>
              <a:ext uri="{FF2B5EF4-FFF2-40B4-BE49-F238E27FC236}">
                <a16:creationId xmlns:a16="http://schemas.microsoft.com/office/drawing/2014/main" xmlns="" id="{3D785916-603C-4936-AA93-FF6D4478BE69}"/>
              </a:ext>
            </a:extLst>
          </p:cNvPr>
          <p:cNvSpPr>
            <a:spLocks noGrp="1"/>
          </p:cNvSpPr>
          <p:nvPr/>
        </p:nvSpPr>
        <p:spPr>
          <a:xfrm>
            <a:off x="7658100" y="2609850"/>
            <a:ext cx="1352550" cy="304800"/>
          </a:xfrm>
          <a:prstGeom prst="rect">
            <a:avLst/>
          </a:prstGeom>
          <a:noFill/>
          <a:ln w="0">
            <a:noFill/>
            <a:prstDash val="solid"/>
          </a:ln>
        </p:spPr>
        <p:txBody>
          <a:bodyPr anchor="ctr"/>
          <a:lstStyle/>
          <a:p>
            <a:pPr algn="l">
              <a:buNone/>
              <a:defRPr sz="1650" b="1">
                <a:solidFill>
                  <a:srgbClr val="FFFFFF"/>
                </a:solidFill>
              </a:defRPr>
            </a:pPr>
            <a:r>
              <a:rPr sz="1650" b="1">
                <a:solidFill>
                  <a:srgbClr val="FFFFFF"/>
                </a:solidFill>
              </a:rPr>
              <a:t>연동</a:t>
            </a:r>
          </a:p>
        </p:txBody>
      </p:sp>
      <p:sp>
        <p:nvSpPr>
          <p:cNvPr id="24" name="직사각형 23">
            <a:extLst>
              <a:ext uri="{FF2B5EF4-FFF2-40B4-BE49-F238E27FC236}">
                <a16:creationId xmlns:a16="http://schemas.microsoft.com/office/drawing/2014/main" xmlns="" id="{DA8967A0-DE11-430D-9DBE-C2BA4EC2673B}"/>
              </a:ext>
            </a:extLst>
          </p:cNvPr>
          <p:cNvSpPr>
            <a:spLocks noGrp="1"/>
          </p:cNvSpPr>
          <p:nvPr/>
        </p:nvSpPr>
        <p:spPr>
          <a:xfrm>
            <a:off x="7658100" y="3028950"/>
            <a:ext cx="1352550" cy="285750"/>
          </a:xfrm>
          <a:prstGeom prst="rect">
            <a:avLst/>
          </a:prstGeom>
          <a:noFill/>
          <a:ln w="0">
            <a:noFill/>
            <a:prstDash val="solid"/>
          </a:ln>
        </p:spPr>
        <p:txBody>
          <a:bodyPr anchor="ctr"/>
          <a:lstStyle/>
          <a:p>
            <a:pPr algn="l"/>
            <a:r>
              <a:rPr sz="1200" b="0">
                <a:solidFill>
                  <a:srgbClr val="B9CAD5"/>
                </a:solidFill>
              </a:rPr>
              <a:t>DB 세션 주입</a:t>
            </a:r>
          </a:p>
        </p:txBody>
      </p:sp>
      <p:sp>
        <p:nvSpPr>
          <p:cNvPr id="25" name="모서리가 둥근 직사각형 24">
            <a:extLst>
              <a:ext uri="{FF2B5EF4-FFF2-40B4-BE49-F238E27FC236}">
                <a16:creationId xmlns:a16="http://schemas.microsoft.com/office/drawing/2014/main" xmlns="" id="{D93D2F7F-1F22-4E8E-A5E8-8EF03F5B7BB1}"/>
              </a:ext>
            </a:extLst>
          </p:cNvPr>
          <p:cNvSpPr>
            <a:spLocks noGrp="1"/>
          </p:cNvSpPr>
          <p:nvPr/>
        </p:nvSpPr>
        <p:spPr>
          <a:xfrm>
            <a:off x="9791700" y="2095500"/>
            <a:ext cx="1695450" cy="1428750"/>
          </a:xfrm>
          <a:prstGeom prst="roundRect">
            <a:avLst>
              <a:gd name="adj" fmla="val 8000"/>
            </a:avLst>
          </a:prstGeom>
          <a:solidFill>
            <a:srgbClr val="19394A"/>
          </a:solidFill>
          <a:ln w="9525">
            <a:solidFill>
              <a:srgbClr val="3BB7A0"/>
            </a:solidFill>
            <a:prstDash val="solid"/>
          </a:ln>
        </p:spPr>
      </p:sp>
      <p:sp>
        <p:nvSpPr>
          <p:cNvPr id="26" name="직사각형 25">
            <a:extLst>
              <a:ext uri="{FF2B5EF4-FFF2-40B4-BE49-F238E27FC236}">
                <a16:creationId xmlns:a16="http://schemas.microsoft.com/office/drawing/2014/main" xmlns="" id="{0137911F-FBDB-4619-BC41-8EAB3855DD0D}"/>
              </a:ext>
            </a:extLst>
          </p:cNvPr>
          <p:cNvSpPr>
            <a:spLocks noGrp="1"/>
          </p:cNvSpPr>
          <p:nvPr/>
        </p:nvSpPr>
        <p:spPr>
          <a:xfrm>
            <a:off x="9963150" y="2266950"/>
            <a:ext cx="400050" cy="228600"/>
          </a:xfrm>
          <a:prstGeom prst="rect">
            <a:avLst/>
          </a:prstGeom>
          <a:noFill/>
          <a:ln w="0">
            <a:noFill/>
            <a:prstDash val="solid"/>
          </a:ln>
        </p:spPr>
        <p:txBody>
          <a:bodyPr anchor="ctr"/>
          <a:lstStyle/>
          <a:p>
            <a:pPr algn="l">
              <a:buNone/>
              <a:defRPr sz="1050" b="1">
                <a:solidFill>
                  <a:srgbClr val="3BB7A0"/>
                </a:solidFill>
              </a:defRPr>
            </a:pPr>
            <a:r>
              <a:rPr sz="1050" b="1">
                <a:solidFill>
                  <a:srgbClr val="3BB7A0"/>
                </a:solidFill>
              </a:rPr>
              <a:t>05</a:t>
            </a:r>
          </a:p>
        </p:txBody>
      </p:sp>
      <p:sp>
        <p:nvSpPr>
          <p:cNvPr id="27" name="직사각형 26">
            <a:extLst>
              <a:ext uri="{FF2B5EF4-FFF2-40B4-BE49-F238E27FC236}">
                <a16:creationId xmlns:a16="http://schemas.microsoft.com/office/drawing/2014/main" xmlns="" id="{7E3A74F7-E443-48F4-BC90-2D580B2C5894}"/>
              </a:ext>
            </a:extLst>
          </p:cNvPr>
          <p:cNvSpPr>
            <a:spLocks noGrp="1"/>
          </p:cNvSpPr>
          <p:nvPr/>
        </p:nvSpPr>
        <p:spPr>
          <a:xfrm>
            <a:off x="9963150" y="2609850"/>
            <a:ext cx="1352550" cy="304800"/>
          </a:xfrm>
          <a:prstGeom prst="rect">
            <a:avLst/>
          </a:prstGeom>
          <a:noFill/>
          <a:ln w="0">
            <a:noFill/>
            <a:prstDash val="solid"/>
          </a:ln>
        </p:spPr>
        <p:txBody>
          <a:bodyPr anchor="ctr"/>
          <a:lstStyle/>
          <a:p>
            <a:pPr algn="l">
              <a:buNone/>
              <a:defRPr sz="1650" b="1">
                <a:solidFill>
                  <a:srgbClr val="FFFFFF"/>
                </a:solidFill>
              </a:defRPr>
            </a:pPr>
            <a:r>
              <a:rPr sz="1650" b="1">
                <a:solidFill>
                  <a:srgbClr val="FFFFFF"/>
                </a:solidFill>
              </a:rPr>
              <a:t>검증</a:t>
            </a:r>
          </a:p>
        </p:txBody>
      </p:sp>
      <p:sp>
        <p:nvSpPr>
          <p:cNvPr id="28" name="직사각형 27">
            <a:extLst>
              <a:ext uri="{FF2B5EF4-FFF2-40B4-BE49-F238E27FC236}">
                <a16:creationId xmlns:a16="http://schemas.microsoft.com/office/drawing/2014/main" xmlns="" id="{BC0DEFD3-A667-44B7-8FE3-36BD52F959E2}"/>
              </a:ext>
            </a:extLst>
          </p:cNvPr>
          <p:cNvSpPr>
            <a:spLocks noGrp="1"/>
          </p:cNvSpPr>
          <p:nvPr/>
        </p:nvSpPr>
        <p:spPr>
          <a:xfrm>
            <a:off x="9963150" y="3028950"/>
            <a:ext cx="1352550" cy="285750"/>
          </a:xfrm>
          <a:prstGeom prst="rect">
            <a:avLst/>
          </a:prstGeom>
          <a:noFill/>
          <a:ln w="0">
            <a:noFill/>
            <a:prstDash val="solid"/>
          </a:ln>
        </p:spPr>
        <p:txBody>
          <a:bodyPr anchor="ctr"/>
          <a:lstStyle/>
          <a:p>
            <a:pPr algn="l"/>
            <a:r>
              <a:rPr sz="1200" b="0">
                <a:solidFill>
                  <a:srgbClr val="B9CAD5"/>
                </a:solidFill>
              </a:rPr>
              <a:t>TestClient</a:t>
            </a:r>
          </a:p>
        </p:txBody>
      </p:sp>
      <p:sp>
        <p:nvSpPr>
          <p:cNvPr id="29" name="모서리가 둥근 직사각형 28">
            <a:extLst>
              <a:ext uri="{FF2B5EF4-FFF2-40B4-BE49-F238E27FC236}">
                <a16:creationId xmlns:a16="http://schemas.microsoft.com/office/drawing/2014/main" xmlns="" id="{92073966-4D19-4487-91E6-BCE90A14AE65}"/>
              </a:ext>
            </a:extLst>
          </p:cNvPr>
          <p:cNvSpPr>
            <a:spLocks noGrp="1"/>
          </p:cNvSpPr>
          <p:nvPr/>
        </p:nvSpPr>
        <p:spPr>
          <a:xfrm>
            <a:off x="819150" y="4248150"/>
            <a:ext cx="10553700" cy="1104900"/>
          </a:xfrm>
          <a:prstGeom prst="roundRect">
            <a:avLst>
              <a:gd name="adj" fmla="val 10345"/>
            </a:avLst>
          </a:prstGeom>
          <a:solidFill>
            <a:srgbClr val="17293A"/>
          </a:solidFill>
          <a:ln w="9525">
            <a:solidFill>
              <a:srgbClr val="355064"/>
            </a:solidFill>
            <a:prstDash val="solid"/>
          </a:ln>
        </p:spPr>
      </p:sp>
      <p:sp>
        <p:nvSpPr>
          <p:cNvPr id="30" name="직사각형 29">
            <a:extLst>
              <a:ext uri="{FF2B5EF4-FFF2-40B4-BE49-F238E27FC236}">
                <a16:creationId xmlns:a16="http://schemas.microsoft.com/office/drawing/2014/main" xmlns="" id="{EAD0AF6B-B278-40F4-A706-2A4A5CDDC133}"/>
              </a:ext>
            </a:extLst>
          </p:cNvPr>
          <p:cNvSpPr>
            <a:spLocks noGrp="1"/>
          </p:cNvSpPr>
          <p:nvPr/>
        </p:nvSpPr>
        <p:spPr>
          <a:xfrm>
            <a:off x="1066800" y="4457700"/>
            <a:ext cx="1143000" cy="266700"/>
          </a:xfrm>
          <a:prstGeom prst="rect">
            <a:avLst/>
          </a:prstGeom>
          <a:noFill/>
          <a:ln w="0">
            <a:noFill/>
            <a:prstDash val="solid"/>
          </a:ln>
        </p:spPr>
        <p:txBody>
          <a:bodyPr anchor="ctr"/>
          <a:lstStyle/>
          <a:p>
            <a:pPr algn="l">
              <a:buNone/>
              <a:defRPr sz="1275" b="1">
                <a:solidFill>
                  <a:srgbClr val="F59B23"/>
                </a:solidFill>
              </a:defRPr>
            </a:pPr>
            <a:r>
              <a:rPr sz="1275" b="1">
                <a:solidFill>
                  <a:srgbClr val="F59B23"/>
                </a:solidFill>
              </a:rPr>
              <a:t>산출물</a:t>
            </a:r>
          </a:p>
        </p:txBody>
      </p:sp>
      <p:sp>
        <p:nvSpPr>
          <p:cNvPr id="31" name="직사각형 30">
            <a:extLst>
              <a:ext uri="{FF2B5EF4-FFF2-40B4-BE49-F238E27FC236}">
                <a16:creationId xmlns:a16="http://schemas.microsoft.com/office/drawing/2014/main" xmlns="" id="{693FFED8-6304-478D-9928-A41A85629FEC}"/>
              </a:ext>
            </a:extLst>
          </p:cNvPr>
          <p:cNvSpPr>
            <a:spLocks noGrp="1"/>
          </p:cNvSpPr>
          <p:nvPr/>
        </p:nvSpPr>
        <p:spPr>
          <a:xfrm>
            <a:off x="2305050" y="4419600"/>
            <a:ext cx="8572500" cy="342900"/>
          </a:xfrm>
          <a:prstGeom prst="rect">
            <a:avLst/>
          </a:prstGeom>
          <a:noFill/>
          <a:ln w="0">
            <a:noFill/>
            <a:prstDash val="solid"/>
          </a:ln>
        </p:spPr>
        <p:txBody>
          <a:bodyPr anchor="ctr"/>
          <a:lstStyle/>
          <a:p>
            <a:pPr algn="l"/>
            <a:r>
              <a:rPr sz="1725" b="1">
                <a:solidFill>
                  <a:srgbClr val="FFFFFF"/>
                </a:solidFill>
              </a:rPr>
              <a:t>요구 분석 → 파일 생성 → 의존성 설치 → 테스트 → 오류 수정</a:t>
            </a:r>
          </a:p>
        </p:txBody>
      </p:sp>
      <p:sp>
        <p:nvSpPr>
          <p:cNvPr id="32" name="직사각형 31">
            <a:extLst>
              <a:ext uri="{FF2B5EF4-FFF2-40B4-BE49-F238E27FC236}">
                <a16:creationId xmlns:a16="http://schemas.microsoft.com/office/drawing/2014/main" xmlns="" id="{CB27B87D-D028-4359-9D34-80566116DCC4}"/>
              </a:ext>
            </a:extLst>
          </p:cNvPr>
          <p:cNvSpPr>
            <a:spLocks noGrp="1"/>
          </p:cNvSpPr>
          <p:nvPr/>
        </p:nvSpPr>
        <p:spPr>
          <a:xfrm>
            <a:off x="1066800" y="4895850"/>
            <a:ext cx="9810750" cy="266700"/>
          </a:xfrm>
          <a:prstGeom prst="rect">
            <a:avLst/>
          </a:prstGeom>
          <a:noFill/>
          <a:ln w="0">
            <a:noFill/>
            <a:prstDash val="solid"/>
          </a:ln>
        </p:spPr>
        <p:txBody>
          <a:bodyPr anchor="ctr"/>
          <a:lstStyle/>
          <a:p>
            <a:pPr algn="l"/>
            <a:r>
              <a:rPr sz="1275" b="0">
                <a:solidFill>
                  <a:srgbClr val="C6D5DF"/>
                </a:solidFill>
              </a:rPr>
              <a:t>422 오류: Depends(SessionLocal) → Depends(get_db)로 변경 후 재시험</a:t>
            </a:r>
          </a:p>
        </p:txBody>
      </p:sp>
    </p:spTree>
    <p:extLst>
      <p:ext uri="{BB962C8B-B14F-4D97-AF65-F5344CB8AC3E}">
        <p14:creationId xmlns:p14="http://schemas.microsoft.com/office/powerpoint/2010/main" val="21835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xmlns="" id="{0C618DC7-88DB-4C28-A1B8-A32D87F0EA80}"/>
              </a:ext>
            </a:extLst>
          </p:cNvPr>
          <p:cNvSpPr>
            <a:spLocks noGrp="1"/>
          </p:cNvSpPr>
          <p:nvPr/>
        </p:nvSpPr>
        <p:spPr>
          <a:xfrm>
            <a:off x="609600" y="381000"/>
            <a:ext cx="4762500" cy="266700"/>
          </a:xfrm>
          <a:prstGeom prst="rect">
            <a:avLst/>
          </a:prstGeom>
          <a:noFill/>
          <a:ln w="0">
            <a:noFill/>
            <a:prstDash val="solid"/>
          </a:ln>
        </p:spPr>
        <p:txBody>
          <a:bodyPr anchor="ctr"/>
          <a:lstStyle/>
          <a:p>
            <a:pPr algn="l">
              <a:buNone/>
              <a:defRPr sz="1050" b="1">
                <a:solidFill>
                  <a:srgbClr val="2878B5"/>
                </a:solidFill>
              </a:defRPr>
            </a:pPr>
            <a:r>
              <a:rPr sz="1050" b="1">
                <a:solidFill>
                  <a:srgbClr val="2878B5"/>
                </a:solidFill>
              </a:rPr>
              <a:t>주간 기술 세미나</a:t>
            </a:r>
          </a:p>
        </p:txBody>
      </p:sp>
      <p:sp>
        <p:nvSpPr>
          <p:cNvPr id="2" name="직사각형 1">
            <a:extLst>
              <a:ext uri="{FF2B5EF4-FFF2-40B4-BE49-F238E27FC236}">
                <a16:creationId xmlns:a16="http://schemas.microsoft.com/office/drawing/2014/main" xmlns="" id="{307BF151-B6D2-49FC-B9E4-631C1E92D6B6}"/>
              </a:ext>
            </a:extLst>
          </p:cNvPr>
          <p:cNvSpPr>
            <a:spLocks noGrp="1"/>
          </p:cNvSpPr>
          <p:nvPr/>
        </p:nvSpPr>
        <p:spPr>
          <a:xfrm>
            <a:off x="609600" y="685800"/>
            <a:ext cx="10477500" cy="590550"/>
          </a:xfrm>
          <a:prstGeom prst="rect">
            <a:avLst/>
          </a:prstGeom>
          <a:noFill/>
          <a:ln w="0">
            <a:noFill/>
            <a:prstDash val="solid"/>
          </a:ln>
        </p:spPr>
        <p:txBody>
          <a:bodyPr anchor="ctr"/>
          <a:lstStyle/>
          <a:p>
            <a:pPr algn="l"/>
            <a:r>
              <a:rPr sz="2550" b="1" dirty="0" err="1">
                <a:solidFill>
                  <a:srgbClr val="17212B"/>
                </a:solidFill>
              </a:rPr>
              <a:t>실습</a:t>
            </a:r>
            <a:r>
              <a:rPr sz="2550" b="1" dirty="0">
                <a:solidFill>
                  <a:srgbClr val="17212B"/>
                </a:solidFill>
              </a:rPr>
              <a:t> </a:t>
            </a:r>
            <a:r>
              <a:rPr sz="2550" b="1" dirty="0" err="1">
                <a:solidFill>
                  <a:srgbClr val="17212B"/>
                </a:solidFill>
              </a:rPr>
              <a:t>기록</a:t>
            </a:r>
            <a:r>
              <a:rPr sz="2550" b="1" dirty="0">
                <a:solidFill>
                  <a:srgbClr val="17212B"/>
                </a:solidFill>
              </a:rPr>
              <a:t> </a:t>
            </a:r>
            <a:r>
              <a:rPr sz="2550" b="1" dirty="0" smtClean="0">
                <a:solidFill>
                  <a:srgbClr val="17212B"/>
                </a:solidFill>
              </a:rPr>
              <a:t>·</a:t>
            </a:r>
            <a:endParaRPr sz="2550" b="1" dirty="0">
              <a:solidFill>
                <a:srgbClr val="17212B"/>
              </a:solidFill>
            </a:endParaRPr>
          </a:p>
        </p:txBody>
      </p:sp>
      <p:sp>
        <p:nvSpPr>
          <p:cNvPr id="3" name="직사각형 2">
            <a:extLst>
              <a:ext uri="{FF2B5EF4-FFF2-40B4-BE49-F238E27FC236}">
                <a16:creationId xmlns:a16="http://schemas.microsoft.com/office/drawing/2014/main" xmlns="" id="{5DE564FA-BC09-462F-A53D-E3E0BAD22BFB}"/>
              </a:ext>
            </a:extLst>
          </p:cNvPr>
          <p:cNvSpPr>
            <a:spLocks noGrp="1"/>
          </p:cNvSpPr>
          <p:nvPr/>
        </p:nvSpPr>
        <p:spPr>
          <a:xfrm>
            <a:off x="609600" y="1352550"/>
            <a:ext cx="10972800" cy="19050"/>
          </a:xfrm>
          <a:prstGeom prst="rect">
            <a:avLst/>
          </a:prstGeom>
          <a:solidFill>
            <a:srgbClr val="D8E1E8"/>
          </a:solidFill>
          <a:ln w="0">
            <a:solidFill>
              <a:srgbClr val="D8E1E8"/>
            </a:solidFill>
            <a:prstDash val="solid"/>
          </a:ln>
        </p:spPr>
      </p:sp>
      <p:sp>
        <p:nvSpPr>
          <p:cNvPr id="4" name="직사각형 3">
            <a:extLst>
              <a:ext uri="{FF2B5EF4-FFF2-40B4-BE49-F238E27FC236}">
                <a16:creationId xmlns:a16="http://schemas.microsoft.com/office/drawing/2014/main" xmlns="" id="{8D4F8D1D-E9A1-483F-8F87-A11B98E51EB6}"/>
              </a:ext>
            </a:extLst>
          </p:cNvPr>
          <p:cNvSpPr>
            <a:spLocks noGrp="1"/>
          </p:cNvSpPr>
          <p:nvPr/>
        </p:nvSpPr>
        <p:spPr>
          <a:xfrm>
            <a:off x="11163300" y="400050"/>
            <a:ext cx="419100" cy="228600"/>
          </a:xfrm>
          <a:prstGeom prst="rect">
            <a:avLst/>
          </a:prstGeom>
          <a:noFill/>
          <a:ln w="0">
            <a:noFill/>
            <a:prstDash val="solid"/>
          </a:ln>
        </p:spPr>
        <p:txBody>
          <a:bodyPr anchor="ctr"/>
          <a:lstStyle/>
          <a:p>
            <a:pPr algn="r">
              <a:buNone/>
              <a:defRPr sz="975" b="1">
                <a:solidFill>
                  <a:srgbClr val="93A0AA"/>
                </a:solidFill>
              </a:defRPr>
            </a:pPr>
            <a:r>
              <a:rPr sz="975" b="1">
                <a:solidFill>
                  <a:srgbClr val="93A0AA"/>
                </a:solidFill>
              </a:rPr>
              <a:t>09</a:t>
            </a:r>
          </a:p>
        </p:txBody>
      </p:sp>
      <p:sp>
        <p:nvSpPr>
          <p:cNvPr id="6" name="모서리가 둥근 직사각형 5">
            <a:extLst>
              <a:ext uri="{FF2B5EF4-FFF2-40B4-BE49-F238E27FC236}">
                <a16:creationId xmlns:a16="http://schemas.microsoft.com/office/drawing/2014/main" xmlns="" id="{CA01A729-E27C-4644-B193-69CB0CB6B9CA}"/>
              </a:ext>
            </a:extLst>
          </p:cNvPr>
          <p:cNvSpPr>
            <a:spLocks noGrp="1"/>
          </p:cNvSpPr>
          <p:nvPr/>
        </p:nvSpPr>
        <p:spPr>
          <a:xfrm>
            <a:off x="7962900" y="1752600"/>
            <a:ext cx="3333750" cy="2952750"/>
          </a:xfrm>
          <a:prstGeom prst="roundRect">
            <a:avLst>
              <a:gd name="adj" fmla="val 3871"/>
            </a:avLst>
          </a:prstGeom>
          <a:solidFill>
            <a:srgbClr val="FFFFFF"/>
          </a:solidFill>
          <a:ln w="9525">
            <a:solidFill>
              <a:srgbClr val="D8E1E8"/>
            </a:solidFill>
            <a:prstDash val="solid"/>
          </a:ln>
        </p:spPr>
      </p:sp>
      <p:sp>
        <p:nvSpPr>
          <p:cNvPr id="7" name="직사각형 6">
            <a:extLst>
              <a:ext uri="{FF2B5EF4-FFF2-40B4-BE49-F238E27FC236}">
                <a16:creationId xmlns:a16="http://schemas.microsoft.com/office/drawing/2014/main" xmlns="" id="{0564B3E0-6C1F-443D-B380-681D1D35C64C}"/>
              </a:ext>
            </a:extLst>
          </p:cNvPr>
          <p:cNvSpPr>
            <a:spLocks noGrp="1"/>
          </p:cNvSpPr>
          <p:nvPr/>
        </p:nvSpPr>
        <p:spPr>
          <a:xfrm>
            <a:off x="8239125" y="2000250"/>
            <a:ext cx="2714625" cy="266700"/>
          </a:xfrm>
          <a:prstGeom prst="rect">
            <a:avLst/>
          </a:prstGeom>
          <a:noFill/>
          <a:ln w="0">
            <a:noFill/>
            <a:prstDash val="solid"/>
          </a:ln>
        </p:spPr>
        <p:txBody>
          <a:bodyPr anchor="ctr"/>
          <a:lstStyle/>
          <a:p>
            <a:pPr algn="l">
              <a:buNone/>
              <a:defRPr sz="1350" b="1">
                <a:solidFill>
                  <a:srgbClr val="2878B5"/>
                </a:solidFill>
              </a:defRPr>
            </a:pPr>
            <a:r>
              <a:rPr sz="1350" b="1">
                <a:solidFill>
                  <a:srgbClr val="2878B5"/>
                </a:solidFill>
              </a:rPr>
              <a:t>실습 조건</a:t>
            </a:r>
          </a:p>
        </p:txBody>
      </p:sp>
      <p:sp>
        <p:nvSpPr>
          <p:cNvPr id="8" name="직사각형 7">
            <a:extLst>
              <a:ext uri="{FF2B5EF4-FFF2-40B4-BE49-F238E27FC236}">
                <a16:creationId xmlns:a16="http://schemas.microsoft.com/office/drawing/2014/main" xmlns="" id="{9348F8C8-AF07-4912-B016-B7108314CCA4}"/>
              </a:ext>
            </a:extLst>
          </p:cNvPr>
          <p:cNvSpPr>
            <a:spLocks noGrp="1"/>
          </p:cNvSpPr>
          <p:nvPr/>
        </p:nvSpPr>
        <p:spPr>
          <a:xfrm>
            <a:off x="8239125" y="2381250"/>
            <a:ext cx="2714625" cy="685800"/>
          </a:xfrm>
          <a:prstGeom prst="rect">
            <a:avLst/>
          </a:prstGeom>
          <a:noFill/>
          <a:ln w="0">
            <a:noFill/>
            <a:prstDash val="solid"/>
          </a:ln>
        </p:spPr>
        <p:txBody>
          <a:bodyPr anchor="ctr"/>
          <a:lstStyle/>
          <a:p>
            <a:pPr algn="l"/>
            <a:r>
              <a:rPr sz="1800" b="1">
                <a:solidFill>
                  <a:srgbClr val="17212B"/>
                </a:solidFill>
              </a:rPr>
              <a:t>Windows 11 · Git Bash</a:t>
            </a:r>
          </a:p>
          <a:p>
            <a:pPr algn="l"/>
            <a:r>
              <a:rPr sz="1800" b="1">
                <a:solidFill>
                  <a:srgbClr val="17212B"/>
                </a:solidFill>
              </a:rPr>
              <a:t>새 세션에서 재호출</a:t>
            </a:r>
          </a:p>
        </p:txBody>
      </p:sp>
      <p:sp>
        <p:nvSpPr>
          <p:cNvPr id="9" name="직사각형 8">
            <a:extLst>
              <a:ext uri="{FF2B5EF4-FFF2-40B4-BE49-F238E27FC236}">
                <a16:creationId xmlns:a16="http://schemas.microsoft.com/office/drawing/2014/main" xmlns="" id="{3A28BBC0-B0A4-49E6-A7E9-551781A96BB5}"/>
              </a:ext>
            </a:extLst>
          </p:cNvPr>
          <p:cNvSpPr>
            <a:spLocks noGrp="1"/>
          </p:cNvSpPr>
          <p:nvPr/>
        </p:nvSpPr>
        <p:spPr>
          <a:xfrm>
            <a:off x="8239125" y="3238500"/>
            <a:ext cx="2714625" cy="9525"/>
          </a:xfrm>
          <a:prstGeom prst="rect">
            <a:avLst/>
          </a:prstGeom>
          <a:solidFill>
            <a:srgbClr val="D8E1E8"/>
          </a:solidFill>
          <a:ln w="0">
            <a:solidFill>
              <a:srgbClr val="D8E1E8"/>
            </a:solidFill>
            <a:prstDash val="solid"/>
          </a:ln>
        </p:spPr>
      </p:sp>
      <p:sp>
        <p:nvSpPr>
          <p:cNvPr id="10" name="직사각형 9">
            <a:extLst>
              <a:ext uri="{FF2B5EF4-FFF2-40B4-BE49-F238E27FC236}">
                <a16:creationId xmlns:a16="http://schemas.microsoft.com/office/drawing/2014/main" xmlns="" id="{01A6ABA6-09EE-423A-9602-E5C8E8603804}"/>
              </a:ext>
            </a:extLst>
          </p:cNvPr>
          <p:cNvSpPr>
            <a:spLocks noGrp="1"/>
          </p:cNvSpPr>
          <p:nvPr/>
        </p:nvSpPr>
        <p:spPr>
          <a:xfrm>
            <a:off x="8239125" y="3486150"/>
            <a:ext cx="2714625" cy="266700"/>
          </a:xfrm>
          <a:prstGeom prst="rect">
            <a:avLst/>
          </a:prstGeom>
          <a:noFill/>
          <a:ln w="0">
            <a:noFill/>
            <a:prstDash val="solid"/>
          </a:ln>
        </p:spPr>
        <p:txBody>
          <a:bodyPr anchor="ctr"/>
          <a:lstStyle/>
          <a:p>
            <a:pPr algn="l">
              <a:buNone/>
              <a:defRPr sz="1350" b="1">
                <a:solidFill>
                  <a:srgbClr val="3BB7A0"/>
                </a:solidFill>
              </a:defRPr>
            </a:pPr>
            <a:r>
              <a:rPr sz="1350" b="1">
                <a:solidFill>
                  <a:srgbClr val="3BB7A0"/>
                </a:solidFill>
              </a:rPr>
              <a:t>관찰한 결과</a:t>
            </a:r>
          </a:p>
        </p:txBody>
      </p:sp>
      <p:sp>
        <p:nvSpPr>
          <p:cNvPr id="11" name="직사각형 10">
            <a:extLst>
              <a:ext uri="{FF2B5EF4-FFF2-40B4-BE49-F238E27FC236}">
                <a16:creationId xmlns:a16="http://schemas.microsoft.com/office/drawing/2014/main" xmlns="" id="{7C748A1F-CED9-42B3-8B04-810D780D9438}"/>
              </a:ext>
            </a:extLst>
          </p:cNvPr>
          <p:cNvSpPr>
            <a:spLocks noGrp="1"/>
          </p:cNvSpPr>
          <p:nvPr/>
        </p:nvSpPr>
        <p:spPr>
          <a:xfrm>
            <a:off x="8239125" y="3867150"/>
            <a:ext cx="2714625" cy="704850"/>
          </a:xfrm>
          <a:prstGeom prst="rect">
            <a:avLst/>
          </a:prstGeom>
          <a:noFill/>
          <a:ln w="0">
            <a:noFill/>
            <a:prstDash val="solid"/>
          </a:ln>
        </p:spPr>
        <p:txBody>
          <a:bodyPr anchor="ctr"/>
          <a:lstStyle/>
          <a:p>
            <a:pPr algn="l"/>
            <a:r>
              <a:rPr sz="1500" b="0">
                <a:solidFill>
                  <a:srgbClr val="17212B"/>
                </a:solidFill>
              </a:rPr>
              <a:t>Memory 저장·조회 성공</a:t>
            </a:r>
          </a:p>
          <a:p>
            <a:pPr algn="l"/>
            <a:r>
              <a:rPr sz="1500" b="0">
                <a:solidFill>
                  <a:srgbClr val="17212B"/>
                </a:solidFill>
              </a:rPr>
              <a:t>Skill 명시 호출 성공</a:t>
            </a:r>
          </a:p>
        </p:txBody>
      </p:sp>
      <p:sp>
        <p:nvSpPr>
          <p:cNvPr id="12" name="모서리가 둥근 직사각형 11">
            <a:extLst>
              <a:ext uri="{FF2B5EF4-FFF2-40B4-BE49-F238E27FC236}">
                <a16:creationId xmlns:a16="http://schemas.microsoft.com/office/drawing/2014/main" xmlns="" id="{FB7FCC49-C3C1-4413-BCC2-E3326F0E2346}"/>
              </a:ext>
            </a:extLst>
          </p:cNvPr>
          <p:cNvSpPr>
            <a:spLocks noGrp="1"/>
          </p:cNvSpPr>
          <p:nvPr/>
        </p:nvSpPr>
        <p:spPr>
          <a:xfrm>
            <a:off x="7962900" y="4953000"/>
            <a:ext cx="3333750" cy="647700"/>
          </a:xfrm>
          <a:prstGeom prst="roundRect">
            <a:avLst>
              <a:gd name="adj" fmla="val 17647"/>
            </a:avLst>
          </a:prstGeom>
          <a:solidFill>
            <a:srgbClr val="EAF4FB"/>
          </a:solidFill>
          <a:ln w="9525">
            <a:solidFill>
              <a:srgbClr val="EAF4FB"/>
            </a:solidFill>
            <a:prstDash val="solid"/>
          </a:ln>
        </p:spPr>
      </p:sp>
      <p:sp>
        <p:nvSpPr>
          <p:cNvPr id="13" name="직사각형 12">
            <a:extLst>
              <a:ext uri="{FF2B5EF4-FFF2-40B4-BE49-F238E27FC236}">
                <a16:creationId xmlns:a16="http://schemas.microsoft.com/office/drawing/2014/main" xmlns="" id="{03AC0ED0-A1C6-4479-AD29-E345812F5AA2}"/>
              </a:ext>
            </a:extLst>
          </p:cNvPr>
          <p:cNvSpPr>
            <a:spLocks noGrp="1"/>
          </p:cNvSpPr>
          <p:nvPr/>
        </p:nvSpPr>
        <p:spPr>
          <a:xfrm>
            <a:off x="8134350" y="5067300"/>
            <a:ext cx="2990850" cy="419100"/>
          </a:xfrm>
          <a:prstGeom prst="rect">
            <a:avLst/>
          </a:prstGeom>
          <a:noFill/>
          <a:ln w="0">
            <a:noFill/>
            <a:prstDash val="solid"/>
          </a:ln>
        </p:spPr>
        <p:txBody>
          <a:bodyPr anchor="ctr"/>
          <a:lstStyle/>
          <a:p>
            <a:pPr algn="ctr"/>
            <a:r>
              <a:rPr sz="1275" b="1">
                <a:solidFill>
                  <a:srgbClr val="2878B5"/>
                </a:solidFill>
              </a:rPr>
              <a:t>자동 적용은 별도 검증 필요</a:t>
            </a:r>
          </a:p>
        </p:txBody>
      </p:sp>
      <p:sp>
        <p:nvSpPr>
          <p:cNvPr id="14" name="직사각형 13">
            <a:extLst>
              <a:ext uri="{FF2B5EF4-FFF2-40B4-BE49-F238E27FC236}">
                <a16:creationId xmlns:a16="http://schemas.microsoft.com/office/drawing/2014/main" xmlns="" id="{E62BA0E1-3BE0-4595-A379-968C2868EC1D}"/>
              </a:ext>
            </a:extLst>
          </p:cNvPr>
          <p:cNvSpPr>
            <a:spLocks noGrp="1"/>
          </p:cNvSpPr>
          <p:nvPr/>
        </p:nvSpPr>
        <p:spPr>
          <a:xfrm>
            <a:off x="609600" y="6496050"/>
            <a:ext cx="8572500" cy="171450"/>
          </a:xfrm>
          <a:prstGeom prst="rect">
            <a:avLst/>
          </a:prstGeom>
          <a:noFill/>
          <a:ln w="0">
            <a:noFill/>
            <a:prstDash val="solid"/>
          </a:ln>
        </p:spPr>
        <p:txBody>
          <a:bodyPr anchor="ctr"/>
          <a:lstStyle/>
          <a:p>
            <a:pPr algn="l"/>
            <a:r>
              <a:rPr sz="825" b="0">
                <a:solidFill>
                  <a:srgbClr val="87939E"/>
                </a:solidFill>
              </a:rPr>
              <a:t>기업 온프레미스 AI · Hermes Agent 실습과 PoC</a:t>
            </a:r>
          </a:p>
        </p:txBody>
      </p:sp>
      <p:sp>
        <p:nvSpPr>
          <p:cNvPr id="16" name="교체용 스크린샷 영역">
            <a:extLst>
              <a:ext uri="{FF2B5EF4-FFF2-40B4-BE49-F238E27FC236}">
                <a16:creationId xmlns:a16="http://schemas.microsoft.com/office/drawing/2014/main" xmlns="" id="{E97D486A-CA13-4CCD-A4D2-A9A4D32CB1E2}"/>
              </a:ext>
            </a:extLst>
          </p:cNvPr>
          <p:cNvSpPr>
            <a:spLocks noGrp="1"/>
          </p:cNvSpPr>
          <p:nvPr/>
        </p:nvSpPr>
        <p:spPr>
          <a:xfrm>
            <a:off x="609600" y="1657350"/>
            <a:ext cx="7010400" cy="3943350"/>
          </a:xfrm>
          <a:prstGeom prst="rect">
            <a:avLst/>
          </a:prstGeom>
          <a:solidFill>
            <a:srgbClr val="FFFFFF"/>
          </a:solidFill>
          <a:ln w="9525">
            <a:solidFill>
              <a:srgbClr val="D8E1E8"/>
            </a:solidFill>
          </a:ln>
        </p:spPr>
      </p:sp>
      <p:sp>
        <p:nvSpPr>
          <p:cNvPr id="17" name="직사각형 16">
            <a:extLst>
              <a:ext uri="{FF2B5EF4-FFF2-40B4-BE49-F238E27FC236}">
                <a16:creationId xmlns:a16="http://schemas.microsoft.com/office/drawing/2014/main" xmlns="" id="{90729C21-E19F-436A-9142-2BE916523AC8}"/>
              </a:ext>
            </a:extLst>
          </p:cNvPr>
          <p:cNvSpPr>
            <a:spLocks noGrp="1"/>
          </p:cNvSpPr>
          <p:nvPr/>
        </p:nvSpPr>
        <p:spPr>
          <a:xfrm>
            <a:off x="876300" y="1971675"/>
            <a:ext cx="6334125" cy="428625"/>
          </a:xfrm>
          <a:prstGeom prst="rect">
            <a:avLst/>
          </a:prstGeom>
          <a:noFill/>
          <a:ln w="0">
            <a:noFill/>
          </a:ln>
        </p:spPr>
        <p:txBody>
          <a:bodyPr>
            <a:noAutofit/>
          </a:bodyPr>
          <a:lstStyle/>
          <a:p>
            <a:pPr>
              <a:defRPr sz="2100" b="1">
                <a:solidFill>
                  <a:srgbClr val="2878B5"/>
                </a:solidFill>
                <a:latin typeface="Calibri"/>
                <a:ea typeface="Calibri"/>
                <a:cs typeface="Calibri"/>
              </a:defRPr>
            </a:pPr>
            <a:r>
              <a:rPr sz="2100" b="1" dirty="0" err="1">
                <a:solidFill>
                  <a:srgbClr val="2878B5"/>
                </a:solidFill>
                <a:latin typeface="Calibri"/>
                <a:ea typeface="Calibri"/>
                <a:cs typeface="Calibri"/>
              </a:rPr>
              <a:t>실습</a:t>
            </a:r>
            <a:r>
              <a:rPr sz="2100" b="1" dirty="0">
                <a:solidFill>
                  <a:srgbClr val="2878B5"/>
                </a:solidFill>
                <a:latin typeface="Calibri"/>
                <a:ea typeface="Calibri"/>
                <a:cs typeface="Calibri"/>
              </a:rPr>
              <a:t> </a:t>
            </a:r>
            <a:r>
              <a:rPr sz="2100" b="1" dirty="0" err="1">
                <a:solidFill>
                  <a:srgbClr val="2878B5"/>
                </a:solidFill>
                <a:latin typeface="Calibri"/>
                <a:ea typeface="Calibri"/>
                <a:cs typeface="Calibri"/>
              </a:rPr>
              <a:t>기록</a:t>
            </a:r>
            <a:r>
              <a:rPr sz="2100" b="1" dirty="0">
                <a:solidFill>
                  <a:srgbClr val="2878B5"/>
                </a:solidFill>
                <a:latin typeface="Calibri"/>
                <a:ea typeface="Calibri"/>
                <a:cs typeface="Calibri"/>
              </a:rPr>
              <a:t> </a:t>
            </a:r>
            <a:r>
              <a:rPr sz="2100" b="1" dirty="0" err="1">
                <a:solidFill>
                  <a:srgbClr val="2878B5"/>
                </a:solidFill>
                <a:latin typeface="Calibri"/>
                <a:ea typeface="Calibri"/>
                <a:cs typeface="Calibri"/>
              </a:rPr>
              <a:t>요약</a:t>
            </a:r>
            <a:r>
              <a:rPr sz="2100" b="1" dirty="0">
                <a:solidFill>
                  <a:srgbClr val="2878B5"/>
                </a:solidFill>
                <a:latin typeface="Calibri"/>
                <a:ea typeface="Calibri"/>
                <a:cs typeface="Calibri"/>
              </a:rPr>
              <a:t> </a:t>
            </a:r>
          </a:p>
        </p:txBody>
      </p:sp>
      <p:sp>
        <p:nvSpPr>
          <p:cNvPr id="18" name="직사각형 17">
            <a:extLst>
              <a:ext uri="{FF2B5EF4-FFF2-40B4-BE49-F238E27FC236}">
                <a16:creationId xmlns:a16="http://schemas.microsoft.com/office/drawing/2014/main" xmlns="" id="{158D7DFC-5CDD-4A6B-8FA8-C1C89016B0A6}"/>
              </a:ext>
            </a:extLst>
          </p:cNvPr>
          <p:cNvSpPr>
            <a:spLocks noGrp="1"/>
          </p:cNvSpPr>
          <p:nvPr/>
        </p:nvSpPr>
        <p:spPr>
          <a:xfrm>
            <a:off x="876300" y="2628900"/>
            <a:ext cx="6191250" cy="333375"/>
          </a:xfrm>
          <a:prstGeom prst="rect">
            <a:avLst/>
          </a:prstGeom>
          <a:noFill/>
          <a:ln w="0">
            <a:noFill/>
          </a:ln>
        </p:spPr>
        <p:txBody>
          <a:bodyPr>
            <a:noAutofit/>
          </a:bodyPr>
          <a:lstStyle/>
          <a:p>
            <a:pPr>
              <a:defRPr sz="1875" b="1">
                <a:solidFill>
                  <a:srgbClr val="17212B"/>
                </a:solidFill>
                <a:latin typeface="Calibri"/>
                <a:ea typeface="Calibri"/>
                <a:cs typeface="Calibri"/>
              </a:defRPr>
            </a:pPr>
            <a:r>
              <a:rPr sz="1875" b="1">
                <a:solidFill>
                  <a:srgbClr val="17212B"/>
                </a:solidFill>
                <a:latin typeface="Calibri"/>
                <a:ea typeface="Calibri"/>
                <a:cs typeface="Calibri"/>
              </a:rPr>
              <a:t>Memory</a:t>
            </a:r>
          </a:p>
        </p:txBody>
      </p:sp>
      <p:sp>
        <p:nvSpPr>
          <p:cNvPr id="19" name="직사각형 18">
            <a:extLst>
              <a:ext uri="{FF2B5EF4-FFF2-40B4-BE49-F238E27FC236}">
                <a16:creationId xmlns:a16="http://schemas.microsoft.com/office/drawing/2014/main" xmlns="" id="{43AB40C0-CC40-468B-8FE3-EB42DDDA6F65}"/>
              </a:ext>
            </a:extLst>
          </p:cNvPr>
          <p:cNvSpPr>
            <a:spLocks noGrp="1"/>
          </p:cNvSpPr>
          <p:nvPr/>
        </p:nvSpPr>
        <p:spPr>
          <a:xfrm>
            <a:off x="876300" y="3038475"/>
            <a:ext cx="6191250" cy="723900"/>
          </a:xfrm>
          <a:prstGeom prst="rect">
            <a:avLst/>
          </a:prstGeom>
          <a:noFill/>
          <a:ln w="0">
            <a:noFill/>
          </a:ln>
        </p:spPr>
        <p:txBody>
          <a:bodyPr>
            <a:noAutofit/>
          </a:bodyPr>
          <a:lstStyle/>
          <a:p>
            <a:pPr>
              <a:defRPr sz="1725" b="0">
                <a:solidFill>
                  <a:srgbClr val="17212B"/>
                </a:solidFill>
                <a:latin typeface="Calibri"/>
                <a:ea typeface="Calibri"/>
                <a:cs typeface="Calibri"/>
              </a:defRPr>
            </a:pPr>
            <a:r>
              <a:rPr sz="1725" b="0">
                <a:solidFill>
                  <a:srgbClr val="17212B"/>
                </a:solidFill>
                <a:latin typeface="Calibri"/>
                <a:ea typeface="Calibri"/>
                <a:cs typeface="Calibri"/>
              </a:rPr>
              <a:t>4개 규칙 저장 → 새 세션에서 명시 조회 성공</a:t>
            </a:r>
          </a:p>
          <a:p>
            <a:pPr>
              <a:defRPr sz="1725" b="0">
                <a:solidFill>
                  <a:srgbClr val="17212B"/>
                </a:solidFill>
                <a:latin typeface="Calibri"/>
                <a:ea typeface="Calibri"/>
                <a:cs typeface="Calibri"/>
              </a:defRPr>
            </a:pPr>
            <a:r>
              <a:rPr sz="1725" b="0">
                <a:solidFill>
                  <a:srgbClr val="17212B"/>
                </a:solidFill>
                <a:latin typeface="Calibri"/>
                <a:ea typeface="Calibri"/>
                <a:cs typeface="Calibri"/>
              </a:rPr>
              <a:t>자동으로 활용하는지는 확인하지 못함</a:t>
            </a:r>
          </a:p>
        </p:txBody>
      </p:sp>
      <p:sp>
        <p:nvSpPr>
          <p:cNvPr id="20" name="직사각형 19">
            <a:extLst>
              <a:ext uri="{FF2B5EF4-FFF2-40B4-BE49-F238E27FC236}">
                <a16:creationId xmlns:a16="http://schemas.microsoft.com/office/drawing/2014/main" xmlns="" id="{51B3554B-A3AD-46EF-8958-15E1042478DC}"/>
              </a:ext>
            </a:extLst>
          </p:cNvPr>
          <p:cNvSpPr>
            <a:spLocks noGrp="1"/>
          </p:cNvSpPr>
          <p:nvPr/>
        </p:nvSpPr>
        <p:spPr>
          <a:xfrm>
            <a:off x="876300" y="3962400"/>
            <a:ext cx="6191250" cy="333375"/>
          </a:xfrm>
          <a:prstGeom prst="rect">
            <a:avLst/>
          </a:prstGeom>
          <a:noFill/>
          <a:ln w="0">
            <a:noFill/>
          </a:ln>
        </p:spPr>
        <p:txBody>
          <a:bodyPr>
            <a:noAutofit/>
          </a:bodyPr>
          <a:lstStyle/>
          <a:p>
            <a:pPr>
              <a:defRPr sz="1875" b="1">
                <a:solidFill>
                  <a:srgbClr val="17212B"/>
                </a:solidFill>
                <a:latin typeface="Calibri"/>
                <a:ea typeface="Calibri"/>
                <a:cs typeface="Calibri"/>
              </a:defRPr>
            </a:pPr>
            <a:r>
              <a:rPr sz="1875" b="1">
                <a:solidFill>
                  <a:srgbClr val="17212B"/>
                </a:solidFill>
                <a:latin typeface="Calibri"/>
                <a:ea typeface="Calibri"/>
                <a:cs typeface="Calibri"/>
              </a:rPr>
              <a:t>사용자 Skill</a:t>
            </a:r>
          </a:p>
        </p:txBody>
      </p:sp>
      <p:sp>
        <p:nvSpPr>
          <p:cNvPr id="21" name="직사각형 20">
            <a:extLst>
              <a:ext uri="{FF2B5EF4-FFF2-40B4-BE49-F238E27FC236}">
                <a16:creationId xmlns:a16="http://schemas.microsoft.com/office/drawing/2014/main" xmlns="" id="{6D0A9649-A6CF-471F-BFB2-8D3FA2C5DB1B}"/>
              </a:ext>
            </a:extLst>
          </p:cNvPr>
          <p:cNvSpPr>
            <a:spLocks noGrp="1"/>
          </p:cNvSpPr>
          <p:nvPr/>
        </p:nvSpPr>
        <p:spPr>
          <a:xfrm>
            <a:off x="876300" y="4371975"/>
            <a:ext cx="6191250" cy="742950"/>
          </a:xfrm>
          <a:prstGeom prst="rect">
            <a:avLst/>
          </a:prstGeom>
          <a:noFill/>
          <a:ln w="0">
            <a:noFill/>
          </a:ln>
        </p:spPr>
        <p:txBody>
          <a:bodyPr>
            <a:noAutofit/>
          </a:bodyPr>
          <a:lstStyle/>
          <a:p>
            <a:pPr>
              <a:defRPr sz="1725" b="0">
                <a:solidFill>
                  <a:srgbClr val="17212B"/>
                </a:solidFill>
                <a:latin typeface="Calibri"/>
                <a:ea typeface="Calibri"/>
                <a:cs typeface="Calibri"/>
              </a:defRPr>
            </a:pPr>
            <a:r>
              <a:rPr sz="1725" b="0">
                <a:solidFill>
                  <a:srgbClr val="17212B"/>
                </a:solidFill>
                <a:latin typeface="Calibri"/>
                <a:ea typeface="Calibri"/>
                <a:cs typeface="Calibri"/>
              </a:rPr>
              <a:t>생성·저장 → 명시 호출 성공</a:t>
            </a:r>
          </a:p>
          <a:p>
            <a:pPr>
              <a:defRPr sz="1725" b="0">
                <a:solidFill>
                  <a:srgbClr val="17212B"/>
                </a:solidFill>
                <a:latin typeface="Calibri"/>
                <a:ea typeface="Calibri"/>
                <a:cs typeface="Calibri"/>
              </a:defRPr>
            </a:pPr>
            <a:r>
              <a:rPr sz="1725" b="0">
                <a:solidFill>
                  <a:srgbClr val="17212B"/>
                </a:solidFill>
                <a:latin typeface="Calibri"/>
                <a:ea typeface="Calibri"/>
                <a:cs typeface="Calibri"/>
              </a:rPr>
              <a:t>자동 선택에서는 다른 Skill을 호출한 사례 존재</a:t>
            </a:r>
          </a:p>
        </p:txBody>
      </p:sp>
    </p:spTree>
    <p:extLst>
      <p:ext uri="{BB962C8B-B14F-4D97-AF65-F5344CB8AC3E}">
        <p14:creationId xmlns:p14="http://schemas.microsoft.com/office/powerpoint/2010/main" val="396755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11D29"/>
        </a:solidFill>
        <a:effectLst/>
      </p:bgPr>
    </p:bg>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xmlns="" id="{B5E639E6-683D-4DB4-B233-0FD3EB847467}"/>
              </a:ext>
            </a:extLst>
          </p:cNvPr>
          <p:cNvSpPr>
            <a:spLocks noGrp="1"/>
          </p:cNvSpPr>
          <p:nvPr/>
        </p:nvSpPr>
        <p:spPr>
          <a:xfrm>
            <a:off x="609600" y="381000"/>
            <a:ext cx="4762500" cy="266700"/>
          </a:xfrm>
          <a:prstGeom prst="rect">
            <a:avLst/>
          </a:prstGeom>
          <a:noFill/>
          <a:ln w="0">
            <a:noFill/>
            <a:prstDash val="solid"/>
          </a:ln>
        </p:spPr>
        <p:txBody>
          <a:bodyPr anchor="ctr"/>
          <a:lstStyle/>
          <a:p>
            <a:pPr algn="l">
              <a:buNone/>
              <a:defRPr sz="1050" b="1">
                <a:solidFill>
                  <a:srgbClr val="3BB7A0"/>
                </a:solidFill>
              </a:defRPr>
            </a:pPr>
            <a:r>
              <a:rPr sz="1050" b="1">
                <a:solidFill>
                  <a:srgbClr val="3BB7A0"/>
                </a:solidFill>
              </a:rPr>
              <a:t>주간 기술 세미나</a:t>
            </a:r>
          </a:p>
        </p:txBody>
      </p:sp>
      <p:sp>
        <p:nvSpPr>
          <p:cNvPr id="2" name="직사각형 1">
            <a:extLst>
              <a:ext uri="{FF2B5EF4-FFF2-40B4-BE49-F238E27FC236}">
                <a16:creationId xmlns:a16="http://schemas.microsoft.com/office/drawing/2014/main" xmlns="" id="{5711BA4E-9AF1-4BA8-B8D4-0DB3246327D6}"/>
              </a:ext>
            </a:extLst>
          </p:cNvPr>
          <p:cNvSpPr>
            <a:spLocks noGrp="1"/>
          </p:cNvSpPr>
          <p:nvPr/>
        </p:nvSpPr>
        <p:spPr>
          <a:xfrm>
            <a:off x="609600" y="685800"/>
            <a:ext cx="10477500" cy="590550"/>
          </a:xfrm>
          <a:prstGeom prst="rect">
            <a:avLst/>
          </a:prstGeom>
          <a:noFill/>
          <a:ln w="0">
            <a:noFill/>
            <a:prstDash val="solid"/>
          </a:ln>
        </p:spPr>
        <p:txBody>
          <a:bodyPr anchor="ctr"/>
          <a:lstStyle/>
          <a:p>
            <a:pPr algn="l">
              <a:buNone/>
              <a:defRPr sz="2550" b="1">
                <a:solidFill>
                  <a:srgbClr val="FFFFFF"/>
                </a:solidFill>
              </a:defRPr>
            </a:pPr>
            <a:r>
              <a:rPr sz="2550" b="1">
                <a:solidFill>
                  <a:srgbClr val="FFFFFF"/>
                </a:solidFill>
              </a:rPr>
              <a:t>테스트 결과</a:t>
            </a:r>
          </a:p>
        </p:txBody>
      </p:sp>
      <p:sp>
        <p:nvSpPr>
          <p:cNvPr id="3" name="직사각형 2">
            <a:extLst>
              <a:ext uri="{FF2B5EF4-FFF2-40B4-BE49-F238E27FC236}">
                <a16:creationId xmlns:a16="http://schemas.microsoft.com/office/drawing/2014/main" xmlns="" id="{F1838A89-523E-40BF-BEE5-DDBC25555FAA}"/>
              </a:ext>
            </a:extLst>
          </p:cNvPr>
          <p:cNvSpPr>
            <a:spLocks noGrp="1"/>
          </p:cNvSpPr>
          <p:nvPr/>
        </p:nvSpPr>
        <p:spPr>
          <a:xfrm>
            <a:off x="609600" y="1352550"/>
            <a:ext cx="10972800" cy="19050"/>
          </a:xfrm>
          <a:prstGeom prst="rect">
            <a:avLst/>
          </a:prstGeom>
          <a:solidFill>
            <a:srgbClr val="355064"/>
          </a:solidFill>
          <a:ln w="0">
            <a:solidFill>
              <a:srgbClr val="355064"/>
            </a:solidFill>
            <a:prstDash val="solid"/>
          </a:ln>
        </p:spPr>
      </p:sp>
      <p:sp>
        <p:nvSpPr>
          <p:cNvPr id="4" name="직사각형 3">
            <a:extLst>
              <a:ext uri="{FF2B5EF4-FFF2-40B4-BE49-F238E27FC236}">
                <a16:creationId xmlns:a16="http://schemas.microsoft.com/office/drawing/2014/main" xmlns="" id="{69B84CC0-A4DD-4E71-BB01-B25E3200FC7E}"/>
              </a:ext>
            </a:extLst>
          </p:cNvPr>
          <p:cNvSpPr>
            <a:spLocks noGrp="1"/>
          </p:cNvSpPr>
          <p:nvPr/>
        </p:nvSpPr>
        <p:spPr>
          <a:xfrm>
            <a:off x="11163300" y="400050"/>
            <a:ext cx="419100" cy="228600"/>
          </a:xfrm>
          <a:prstGeom prst="rect">
            <a:avLst/>
          </a:prstGeom>
          <a:noFill/>
          <a:ln w="0">
            <a:noFill/>
            <a:prstDash val="solid"/>
          </a:ln>
        </p:spPr>
        <p:txBody>
          <a:bodyPr anchor="ctr"/>
          <a:lstStyle/>
          <a:p>
            <a:pPr algn="r">
              <a:buNone/>
              <a:defRPr sz="975" b="1">
                <a:solidFill>
                  <a:srgbClr val="7891A4"/>
                </a:solidFill>
              </a:defRPr>
            </a:pPr>
            <a:r>
              <a:rPr sz="975" b="1">
                <a:solidFill>
                  <a:srgbClr val="7891A4"/>
                </a:solidFill>
              </a:rPr>
              <a:t>10</a:t>
            </a:r>
          </a:p>
        </p:txBody>
      </p:sp>
      <p:sp>
        <p:nvSpPr>
          <p:cNvPr id="6" name="모서리가 둥근 직사각형 5">
            <a:extLst>
              <a:ext uri="{FF2B5EF4-FFF2-40B4-BE49-F238E27FC236}">
                <a16:creationId xmlns:a16="http://schemas.microsoft.com/office/drawing/2014/main" xmlns="" id="{3D8CC99B-3645-49AE-86DC-EF507E95036E}"/>
              </a:ext>
            </a:extLst>
          </p:cNvPr>
          <p:cNvSpPr>
            <a:spLocks noGrp="1"/>
          </p:cNvSpPr>
          <p:nvPr/>
        </p:nvSpPr>
        <p:spPr>
          <a:xfrm>
            <a:off x="1428750" y="5657850"/>
            <a:ext cx="1714500" cy="361950"/>
          </a:xfrm>
          <a:prstGeom prst="roundRect">
            <a:avLst>
              <a:gd name="adj" fmla="val 31579"/>
            </a:avLst>
          </a:prstGeom>
          <a:solidFill>
            <a:srgbClr val="17293A"/>
          </a:solidFill>
          <a:ln w="9525">
            <a:solidFill>
              <a:srgbClr val="17293A"/>
            </a:solidFill>
            <a:prstDash val="solid"/>
          </a:ln>
        </p:spPr>
      </p:sp>
      <p:sp>
        <p:nvSpPr>
          <p:cNvPr id="7" name="직사각형 6">
            <a:extLst>
              <a:ext uri="{FF2B5EF4-FFF2-40B4-BE49-F238E27FC236}">
                <a16:creationId xmlns:a16="http://schemas.microsoft.com/office/drawing/2014/main" xmlns="" id="{F338392D-8595-4DC0-80A1-4D0AA94361D4}"/>
              </a:ext>
            </a:extLst>
          </p:cNvPr>
          <p:cNvSpPr>
            <a:spLocks noGrp="1"/>
          </p:cNvSpPr>
          <p:nvPr/>
        </p:nvSpPr>
        <p:spPr>
          <a:xfrm>
            <a:off x="1504950" y="5686425"/>
            <a:ext cx="1562100" cy="285750"/>
          </a:xfrm>
          <a:prstGeom prst="rect">
            <a:avLst/>
          </a:prstGeom>
          <a:noFill/>
          <a:ln w="0">
            <a:noFill/>
            <a:prstDash val="solid"/>
          </a:ln>
        </p:spPr>
        <p:txBody>
          <a:bodyPr anchor="ctr"/>
          <a:lstStyle/>
          <a:p>
            <a:pPr algn="ctr"/>
            <a:r>
              <a:rPr sz="1125" b="1">
                <a:solidFill>
                  <a:srgbClr val="3BB7A0"/>
                </a:solidFill>
              </a:rPr>
              <a:t>기록 11건</a:t>
            </a:r>
          </a:p>
        </p:txBody>
      </p:sp>
      <p:sp>
        <p:nvSpPr>
          <p:cNvPr id="8" name="모서리가 둥근 직사각형 7">
            <a:extLst>
              <a:ext uri="{FF2B5EF4-FFF2-40B4-BE49-F238E27FC236}">
                <a16:creationId xmlns:a16="http://schemas.microsoft.com/office/drawing/2014/main" xmlns="" id="{10A2D868-4165-47F9-B36E-B8E30D62DA07}"/>
              </a:ext>
            </a:extLst>
          </p:cNvPr>
          <p:cNvSpPr>
            <a:spLocks noGrp="1"/>
          </p:cNvSpPr>
          <p:nvPr/>
        </p:nvSpPr>
        <p:spPr>
          <a:xfrm>
            <a:off x="3333750" y="5657850"/>
            <a:ext cx="1714500" cy="361950"/>
          </a:xfrm>
          <a:prstGeom prst="roundRect">
            <a:avLst>
              <a:gd name="adj" fmla="val 31579"/>
            </a:avLst>
          </a:prstGeom>
          <a:solidFill>
            <a:srgbClr val="17293A"/>
          </a:solidFill>
          <a:ln w="9525">
            <a:solidFill>
              <a:srgbClr val="17293A"/>
            </a:solidFill>
            <a:prstDash val="solid"/>
          </a:ln>
        </p:spPr>
      </p:sp>
      <p:sp>
        <p:nvSpPr>
          <p:cNvPr id="9" name="직사각형 8">
            <a:extLst>
              <a:ext uri="{FF2B5EF4-FFF2-40B4-BE49-F238E27FC236}">
                <a16:creationId xmlns:a16="http://schemas.microsoft.com/office/drawing/2014/main" xmlns="" id="{F32681F1-EB6C-48B7-91E2-B7C391C866F3}"/>
              </a:ext>
            </a:extLst>
          </p:cNvPr>
          <p:cNvSpPr>
            <a:spLocks noGrp="1"/>
          </p:cNvSpPr>
          <p:nvPr/>
        </p:nvSpPr>
        <p:spPr>
          <a:xfrm>
            <a:off x="3409950" y="5686425"/>
            <a:ext cx="1562100" cy="285750"/>
          </a:xfrm>
          <a:prstGeom prst="rect">
            <a:avLst/>
          </a:prstGeom>
          <a:noFill/>
          <a:ln w="0">
            <a:noFill/>
            <a:prstDash val="solid"/>
          </a:ln>
        </p:spPr>
        <p:txBody>
          <a:bodyPr anchor="ctr"/>
          <a:lstStyle/>
          <a:p>
            <a:pPr algn="ctr"/>
            <a:r>
              <a:rPr sz="1125" b="1">
                <a:solidFill>
                  <a:srgbClr val="3BB7A0"/>
                </a:solidFill>
              </a:rPr>
              <a:t>통과 11건</a:t>
            </a:r>
          </a:p>
        </p:txBody>
      </p:sp>
      <p:sp>
        <p:nvSpPr>
          <p:cNvPr id="10" name="모서리가 둥근 직사각형 9">
            <a:extLst>
              <a:ext uri="{FF2B5EF4-FFF2-40B4-BE49-F238E27FC236}">
                <a16:creationId xmlns:a16="http://schemas.microsoft.com/office/drawing/2014/main" xmlns="" id="{DB127D20-8C60-4008-9443-4E84614EF410}"/>
              </a:ext>
            </a:extLst>
          </p:cNvPr>
          <p:cNvSpPr>
            <a:spLocks noGrp="1"/>
          </p:cNvSpPr>
          <p:nvPr/>
        </p:nvSpPr>
        <p:spPr>
          <a:xfrm>
            <a:off x="5238750" y="5657850"/>
            <a:ext cx="2190750" cy="361950"/>
          </a:xfrm>
          <a:prstGeom prst="roundRect">
            <a:avLst>
              <a:gd name="adj" fmla="val 31579"/>
            </a:avLst>
          </a:prstGeom>
          <a:solidFill>
            <a:srgbClr val="17293A"/>
          </a:solidFill>
          <a:ln w="9525">
            <a:solidFill>
              <a:srgbClr val="17293A"/>
            </a:solidFill>
            <a:prstDash val="solid"/>
          </a:ln>
        </p:spPr>
      </p:sp>
      <p:sp>
        <p:nvSpPr>
          <p:cNvPr id="11" name="직사각형 10">
            <a:extLst>
              <a:ext uri="{FF2B5EF4-FFF2-40B4-BE49-F238E27FC236}">
                <a16:creationId xmlns:a16="http://schemas.microsoft.com/office/drawing/2014/main" xmlns="" id="{9788E45D-7F6F-4AC3-A1CE-BC7738F9A435}"/>
              </a:ext>
            </a:extLst>
          </p:cNvPr>
          <p:cNvSpPr>
            <a:spLocks noGrp="1"/>
          </p:cNvSpPr>
          <p:nvPr/>
        </p:nvSpPr>
        <p:spPr>
          <a:xfrm>
            <a:off x="5314950" y="5686425"/>
            <a:ext cx="2038350" cy="285750"/>
          </a:xfrm>
          <a:prstGeom prst="rect">
            <a:avLst/>
          </a:prstGeom>
          <a:noFill/>
          <a:ln w="0">
            <a:noFill/>
            <a:prstDash val="solid"/>
          </a:ln>
        </p:spPr>
        <p:txBody>
          <a:bodyPr anchor="ctr"/>
          <a:lstStyle/>
          <a:p>
            <a:pPr algn="ctr"/>
            <a:r>
              <a:rPr sz="1125" b="1">
                <a:solidFill>
                  <a:srgbClr val="8FD12D"/>
                </a:solidFill>
              </a:rPr>
              <a:t>서버 검증 미완료</a:t>
            </a:r>
          </a:p>
        </p:txBody>
      </p:sp>
      <p:sp>
        <p:nvSpPr>
          <p:cNvPr id="12" name="모서리가 둥근 직사각형 11">
            <a:extLst>
              <a:ext uri="{FF2B5EF4-FFF2-40B4-BE49-F238E27FC236}">
                <a16:creationId xmlns:a16="http://schemas.microsoft.com/office/drawing/2014/main" xmlns="" id="{493546A3-8911-4472-8F1C-D747E25ECAB7}"/>
              </a:ext>
            </a:extLst>
          </p:cNvPr>
          <p:cNvSpPr>
            <a:spLocks noGrp="1"/>
          </p:cNvSpPr>
          <p:nvPr/>
        </p:nvSpPr>
        <p:spPr>
          <a:xfrm>
            <a:off x="8572500" y="5657850"/>
            <a:ext cx="2095500" cy="361950"/>
          </a:xfrm>
          <a:prstGeom prst="roundRect">
            <a:avLst>
              <a:gd name="adj" fmla="val 31579"/>
            </a:avLst>
          </a:prstGeom>
          <a:solidFill>
            <a:srgbClr val="19394A"/>
          </a:solidFill>
          <a:ln w="9525">
            <a:solidFill>
              <a:srgbClr val="19394A"/>
            </a:solidFill>
            <a:prstDash val="solid"/>
          </a:ln>
        </p:spPr>
      </p:sp>
      <p:sp>
        <p:nvSpPr>
          <p:cNvPr id="13" name="직사각형 12">
            <a:extLst>
              <a:ext uri="{FF2B5EF4-FFF2-40B4-BE49-F238E27FC236}">
                <a16:creationId xmlns:a16="http://schemas.microsoft.com/office/drawing/2014/main" xmlns="" id="{EBF15E63-7447-45B9-B6DF-086ACBDC144A}"/>
              </a:ext>
            </a:extLst>
          </p:cNvPr>
          <p:cNvSpPr>
            <a:spLocks noGrp="1"/>
          </p:cNvSpPr>
          <p:nvPr/>
        </p:nvSpPr>
        <p:spPr>
          <a:xfrm>
            <a:off x="8648700" y="5686425"/>
            <a:ext cx="1943100" cy="285750"/>
          </a:xfrm>
          <a:prstGeom prst="rect">
            <a:avLst/>
          </a:prstGeom>
          <a:noFill/>
          <a:ln w="0">
            <a:noFill/>
            <a:prstDash val="solid"/>
          </a:ln>
        </p:spPr>
        <p:txBody>
          <a:bodyPr anchor="ctr"/>
          <a:lstStyle/>
          <a:p>
            <a:pPr algn="ctr"/>
            <a:r>
              <a:rPr sz="1125" b="1">
                <a:solidFill>
                  <a:srgbClr val="8FD12D"/>
                </a:solidFill>
              </a:rPr>
              <a:t>부분 검증</a:t>
            </a:r>
          </a:p>
        </p:txBody>
      </p:sp>
      <p:graphicFrame>
        <p:nvGraphicFramePr>
          <p:cNvPr id="31" name="표 30"/>
          <p:cNvGraphicFramePr/>
          <p:nvPr/>
        </p:nvGraphicFramePr>
        <p:xfrm>
          <a:off x="704850" y="1752600"/>
          <a:ext cx="10782300" cy="2362200"/>
        </p:xfrm>
        <a:graphic>
          <a:graphicData uri="http://schemas.openxmlformats.org/drawingml/2006/table">
            <a:tbl>
              <a:tblPr/>
              <a:tblGrid>
                <a:gridCol w="2457450"/>
                <a:gridCol w="3086100"/>
                <a:gridCol w="3333750"/>
                <a:gridCol w="1905000"/>
              </a:tblGrid>
              <a:tr h="590550">
                <a:tc>
                  <a:txBody>
                    <a:bodyPr/>
                    <a:lstStyle/>
                    <a:p>
                      <a:r>
                        <a:rPr sz="1500" b="1">
                          <a:solidFill>
                            <a:srgbClr val="FFFFFF"/>
                          </a:solidFill>
                          <a:latin typeface="Calibri"/>
                          <a:ea typeface="Calibri"/>
                          <a:cs typeface="Calibri"/>
                        </a:rPr>
                        <a:t>테스트 묶음</a:t>
                      </a:r>
                    </a:p>
                  </a:txBody>
                  <a:tcPr>
                    <a:solidFill>
                      <a:srgbClr val="17212B"/>
                    </a:solidFill>
                  </a:tcPr>
                </a:tc>
                <a:tc>
                  <a:txBody>
                    <a:bodyPr/>
                    <a:lstStyle/>
                    <a:p>
                      <a:r>
                        <a:rPr sz="1500" b="1">
                          <a:solidFill>
                            <a:srgbClr val="FFFFFF"/>
                          </a:solidFill>
                          <a:latin typeface="Calibri"/>
                          <a:ea typeface="Calibri"/>
                          <a:cs typeface="Calibri"/>
                        </a:rPr>
                        <a:t>기대 결과</a:t>
                      </a:r>
                    </a:p>
                  </a:txBody>
                  <a:tcPr>
                    <a:solidFill>
                      <a:srgbClr val="17212B"/>
                    </a:solidFill>
                  </a:tcPr>
                </a:tc>
                <a:tc>
                  <a:txBody>
                    <a:bodyPr/>
                    <a:lstStyle/>
                    <a:p>
                      <a:r>
                        <a:rPr sz="1500" b="1">
                          <a:solidFill>
                            <a:srgbClr val="FFFFFF"/>
                          </a:solidFill>
                          <a:latin typeface="Calibri"/>
                          <a:ea typeface="Calibri"/>
                          <a:cs typeface="Calibri"/>
                        </a:rPr>
                        <a:t>기록된 결과</a:t>
                      </a:r>
                    </a:p>
                  </a:txBody>
                  <a:tcPr>
                    <a:solidFill>
                      <a:srgbClr val="17212B"/>
                    </a:solidFill>
                  </a:tcPr>
                </a:tc>
                <a:tc>
                  <a:txBody>
                    <a:bodyPr/>
                    <a:lstStyle/>
                    <a:p>
                      <a:r>
                        <a:rPr sz="1500" b="1">
                          <a:solidFill>
                            <a:srgbClr val="FFFFFF"/>
                          </a:solidFill>
                          <a:latin typeface="Calibri"/>
                          <a:ea typeface="Calibri"/>
                          <a:cs typeface="Calibri"/>
                        </a:rPr>
                        <a:t>판정</a:t>
                      </a:r>
                    </a:p>
                  </a:txBody>
                  <a:tcPr>
                    <a:solidFill>
                      <a:srgbClr val="17212B"/>
                    </a:solidFill>
                  </a:tcPr>
                </a:tc>
              </a:tr>
              <a:tr h="590550">
                <a:tc>
                  <a:txBody>
                    <a:bodyPr/>
                    <a:lstStyle/>
                    <a:p>
                      <a:r>
                        <a:rPr sz="1500" b="1">
                          <a:solidFill>
                            <a:srgbClr val="17212B"/>
                          </a:solidFill>
                          <a:latin typeface="Calibri"/>
                          <a:ea typeface="Calibri"/>
                          <a:cs typeface="Calibri"/>
                        </a:rPr>
                        <a:t>정상 CRUD · 8건</a:t>
                      </a:r>
                    </a:p>
                  </a:txBody>
                  <a:tcPr>
                    <a:solidFill>
                      <a:srgbClr val="EAF3F9"/>
                    </a:solidFill>
                  </a:tcPr>
                </a:tc>
                <a:tc>
                  <a:txBody>
                    <a:bodyPr/>
                    <a:lstStyle/>
                    <a:p>
                      <a:r>
                        <a:rPr sz="1500" b="0">
                          <a:solidFill>
                            <a:srgbClr val="17212B"/>
                          </a:solidFill>
                          <a:latin typeface="Calibri"/>
                          <a:ea typeface="Calibri"/>
                          <a:cs typeface="Calibri"/>
                        </a:rPr>
                        <a:t>200 / 201</a:t>
                      </a:r>
                    </a:p>
                  </a:txBody>
                  <a:tcPr>
                    <a:solidFill>
                      <a:srgbClr val="FFFFFF"/>
                    </a:solidFill>
                  </a:tcPr>
                </a:tc>
                <a:tc>
                  <a:txBody>
                    <a:bodyPr/>
                    <a:lstStyle/>
                    <a:p>
                      <a:r>
                        <a:rPr sz="1500" b="0">
                          <a:solidFill>
                            <a:srgbClr val="17212B"/>
                          </a:solidFill>
                          <a:latin typeface="Calibri"/>
                          <a:ea typeface="Calibri"/>
                          <a:cs typeface="Calibri"/>
                        </a:rPr>
                        <a:t>8건 기대 응답</a:t>
                      </a:r>
                    </a:p>
                  </a:txBody>
                  <a:tcPr>
                    <a:solidFill>
                      <a:srgbClr val="FFFFFF"/>
                    </a:solidFill>
                  </a:tcPr>
                </a:tc>
                <a:tc>
                  <a:txBody>
                    <a:bodyPr/>
                    <a:lstStyle/>
                    <a:p>
                      <a:r>
                        <a:rPr sz="1500" b="0">
                          <a:solidFill>
                            <a:srgbClr val="17212B"/>
                          </a:solidFill>
                          <a:latin typeface="Calibri"/>
                          <a:ea typeface="Calibri"/>
                          <a:cs typeface="Calibri"/>
                        </a:rPr>
                        <a:t>통과</a:t>
                      </a:r>
                    </a:p>
                  </a:txBody>
                  <a:tcPr>
                    <a:solidFill>
                      <a:srgbClr val="FFFFFF"/>
                    </a:solidFill>
                  </a:tcPr>
                </a:tc>
              </a:tr>
              <a:tr h="590550">
                <a:tc>
                  <a:txBody>
                    <a:bodyPr/>
                    <a:lstStyle/>
                    <a:p>
                      <a:r>
                        <a:rPr sz="1500" b="1">
                          <a:solidFill>
                            <a:srgbClr val="17212B"/>
                          </a:solidFill>
                          <a:latin typeface="Calibri"/>
                          <a:ea typeface="Calibri"/>
                          <a:cs typeface="Calibri"/>
                        </a:rPr>
                        <a:t>중복 이메일 · 1건</a:t>
                      </a:r>
                    </a:p>
                  </a:txBody>
                  <a:tcPr>
                    <a:solidFill>
                      <a:srgbClr val="EAF3F9"/>
                    </a:solidFill>
                  </a:tcPr>
                </a:tc>
                <a:tc>
                  <a:txBody>
                    <a:bodyPr/>
                    <a:lstStyle/>
                    <a:p>
                      <a:r>
                        <a:rPr sz="1500" b="0">
                          <a:solidFill>
                            <a:srgbClr val="17212B"/>
                          </a:solidFill>
                          <a:latin typeface="Calibri"/>
                          <a:ea typeface="Calibri"/>
                          <a:cs typeface="Calibri"/>
                        </a:rPr>
                        <a:t>400</a:t>
                      </a:r>
                    </a:p>
                  </a:txBody>
                  <a:tcPr>
                    <a:solidFill>
                      <a:srgbClr val="FFFFFF"/>
                    </a:solidFill>
                  </a:tcPr>
                </a:tc>
                <a:tc>
                  <a:txBody>
                    <a:bodyPr/>
                    <a:lstStyle/>
                    <a:p>
                      <a:r>
                        <a:rPr sz="1500" b="0">
                          <a:solidFill>
                            <a:srgbClr val="17212B"/>
                          </a:solidFill>
                          <a:latin typeface="Calibri"/>
                          <a:ea typeface="Calibri"/>
                          <a:cs typeface="Calibri"/>
                        </a:rPr>
                        <a:t>400</a:t>
                      </a:r>
                    </a:p>
                  </a:txBody>
                  <a:tcPr>
                    <a:solidFill>
                      <a:srgbClr val="FFFFFF"/>
                    </a:solidFill>
                  </a:tcPr>
                </a:tc>
                <a:tc>
                  <a:txBody>
                    <a:bodyPr/>
                    <a:lstStyle/>
                    <a:p>
                      <a:r>
                        <a:rPr sz="1500" b="0">
                          <a:solidFill>
                            <a:srgbClr val="17212B"/>
                          </a:solidFill>
                          <a:latin typeface="Calibri"/>
                          <a:ea typeface="Calibri"/>
                          <a:cs typeface="Calibri"/>
                        </a:rPr>
                        <a:t>통과</a:t>
                      </a:r>
                    </a:p>
                  </a:txBody>
                  <a:tcPr>
                    <a:solidFill>
                      <a:srgbClr val="FFFFFF"/>
                    </a:solidFill>
                  </a:tcPr>
                </a:tc>
              </a:tr>
              <a:tr h="590550">
                <a:tc>
                  <a:txBody>
                    <a:bodyPr/>
                    <a:lstStyle/>
                    <a:p>
                      <a:r>
                        <a:rPr sz="1500" b="1">
                          <a:solidFill>
                            <a:srgbClr val="17212B"/>
                          </a:solidFill>
                          <a:latin typeface="Calibri"/>
                          <a:ea typeface="Calibri"/>
                          <a:cs typeface="Calibri"/>
                        </a:rPr>
                        <a:t>없는 ID · 2건</a:t>
                      </a:r>
                    </a:p>
                  </a:txBody>
                  <a:tcPr>
                    <a:solidFill>
                      <a:srgbClr val="EAF3F9"/>
                    </a:solidFill>
                  </a:tcPr>
                </a:tc>
                <a:tc>
                  <a:txBody>
                    <a:bodyPr/>
                    <a:lstStyle/>
                    <a:p>
                      <a:r>
                        <a:rPr sz="1500" b="0">
                          <a:solidFill>
                            <a:srgbClr val="17212B"/>
                          </a:solidFill>
                          <a:latin typeface="Calibri"/>
                          <a:ea typeface="Calibri"/>
                          <a:cs typeface="Calibri"/>
                        </a:rPr>
                        <a:t>조회·삭제 404</a:t>
                      </a:r>
                    </a:p>
                  </a:txBody>
                  <a:tcPr>
                    <a:solidFill>
                      <a:srgbClr val="FFFFFF"/>
                    </a:solidFill>
                  </a:tcPr>
                </a:tc>
                <a:tc>
                  <a:txBody>
                    <a:bodyPr/>
                    <a:lstStyle/>
                    <a:p>
                      <a:r>
                        <a:rPr sz="1500" b="0">
                          <a:solidFill>
                            <a:srgbClr val="17212B"/>
                          </a:solidFill>
                          <a:latin typeface="Calibri"/>
                          <a:ea typeface="Calibri"/>
                          <a:cs typeface="Calibri"/>
                        </a:rPr>
                        <a:t>각각 404</a:t>
                      </a:r>
                    </a:p>
                  </a:txBody>
                  <a:tcPr>
                    <a:solidFill>
                      <a:srgbClr val="FFFFFF"/>
                    </a:solidFill>
                  </a:tcPr>
                </a:tc>
                <a:tc>
                  <a:txBody>
                    <a:bodyPr/>
                    <a:lstStyle/>
                    <a:p>
                      <a:r>
                        <a:rPr sz="1500" b="0">
                          <a:solidFill>
                            <a:srgbClr val="17212B"/>
                          </a:solidFill>
                          <a:latin typeface="Calibri"/>
                          <a:ea typeface="Calibri"/>
                          <a:cs typeface="Calibri"/>
                        </a:rPr>
                        <a:t>통과</a:t>
                      </a:r>
                    </a:p>
                  </a:txBody>
                  <a:tcPr>
                    <a:solidFill>
                      <a:srgbClr val="FFFFFF"/>
                    </a:solidFill>
                  </a:tcPr>
                </a:tc>
              </a:tr>
            </a:tbl>
          </a:graphicData>
        </a:graphic>
      </p:graphicFrame>
      <p:sp>
        <p:nvSpPr>
          <p:cNvPr id="16" name="실행 환경: [OS·버전·데이터]   실행 명령: [명령]   측정일: [날짜]">
            <a:extLst>
              <a:ext uri="{FF2B5EF4-FFF2-40B4-BE49-F238E27FC236}">
                <a16:creationId xmlns:a16="http://schemas.microsoft.com/office/drawing/2014/main" xmlns="" id="{99431157-C15E-438D-9B02-38F0F98B2219}"/>
              </a:ext>
            </a:extLst>
          </p:cNvPr>
          <p:cNvSpPr>
            <a:spLocks noGrp="1"/>
          </p:cNvSpPr>
          <p:nvPr/>
        </p:nvSpPr>
        <p:spPr>
          <a:xfrm>
            <a:off x="781050" y="4400550"/>
            <a:ext cx="10572750" cy="361950"/>
          </a:xfrm>
          <a:prstGeom prst="rect">
            <a:avLst/>
          </a:prstGeom>
          <a:noFill/>
          <a:ln w="0">
            <a:noFill/>
          </a:ln>
        </p:spPr>
        <p:txBody>
          <a:bodyPr anchor="ctr">
            <a:noAutofit/>
          </a:bodyPr>
          <a:lstStyle/>
          <a:p>
            <a:r>
              <a:rPr sz="1575" b="0">
                <a:solidFill>
                  <a:srgbClr val="D8E1E8"/>
                </a:solidFill>
                <a:latin typeface="Calibri"/>
                <a:ea typeface="Calibri"/>
                <a:cs typeface="Calibri"/>
              </a:rPr>
              <a:t>환경: Windows 11 · TestClient   근거: 「간단한 PoC 구현 결과」의 실행 기록</a:t>
            </a:r>
          </a:p>
        </p:txBody>
      </p:sp>
      <p:sp>
        <p:nvSpPr>
          <p:cNvPr id="17" name="증거: [로그·결과 파일 경로]   해석: [확인한 내용과 추가 검증]">
            <a:extLst>
              <a:ext uri="{FF2B5EF4-FFF2-40B4-BE49-F238E27FC236}">
                <a16:creationId xmlns:a16="http://schemas.microsoft.com/office/drawing/2014/main" xmlns="" id="{CB575954-B548-4B41-86B2-4493AAE4B7B1}"/>
              </a:ext>
            </a:extLst>
          </p:cNvPr>
          <p:cNvSpPr>
            <a:spLocks noGrp="1"/>
          </p:cNvSpPr>
          <p:nvPr/>
        </p:nvSpPr>
        <p:spPr>
          <a:xfrm>
            <a:off x="781050" y="4905375"/>
            <a:ext cx="10572750" cy="361950"/>
          </a:xfrm>
          <a:prstGeom prst="rect">
            <a:avLst/>
          </a:prstGeom>
          <a:noFill/>
          <a:ln w="0">
            <a:noFill/>
          </a:ln>
        </p:spPr>
        <p:txBody>
          <a:bodyPr anchor="ctr">
            <a:noAutofit/>
          </a:bodyPr>
          <a:lstStyle/>
          <a:p>
            <a:r>
              <a:rPr sz="1575" b="0">
                <a:solidFill>
                  <a:srgbClr val="D8E1E8"/>
                </a:solidFill>
                <a:latin typeface="Calibri"/>
                <a:ea typeface="Calibri"/>
                <a:cs typeface="Calibri"/>
              </a:rPr>
              <a:t>주의: 문서에 기록된 결과이며 재실행 검증은 아님. Uvicorn 일부 라우트 문제는 미해결.</a:t>
            </a:r>
          </a:p>
        </p:txBody>
      </p:sp>
    </p:spTree>
    <p:extLst>
      <p:ext uri="{BB962C8B-B14F-4D97-AF65-F5344CB8AC3E}">
        <p14:creationId xmlns:p14="http://schemas.microsoft.com/office/powerpoint/2010/main" val="1804295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6D25D2B8-37AE-4A71-A94E-1815F0A7E8B3}"/>
              </a:ext>
            </a:extLst>
          </p:cNvPr>
          <p:cNvSpPr>
            <a:spLocks noGrp="1"/>
          </p:cNvSpPr>
          <p:nvPr/>
        </p:nvSpPr>
        <p:spPr>
          <a:xfrm>
            <a:off x="609600" y="381000"/>
            <a:ext cx="4762500" cy="266700"/>
          </a:xfrm>
          <a:prstGeom prst="rect">
            <a:avLst/>
          </a:prstGeom>
          <a:noFill/>
          <a:ln w="0">
            <a:noFill/>
            <a:prstDash val="solid"/>
          </a:ln>
        </p:spPr>
        <p:txBody>
          <a:bodyPr anchor="ctr"/>
          <a:lstStyle/>
          <a:p>
            <a:pPr algn="l">
              <a:buNone/>
              <a:defRPr sz="1050" b="1">
                <a:solidFill>
                  <a:srgbClr val="2878B5"/>
                </a:solidFill>
              </a:defRPr>
            </a:pPr>
            <a:r>
              <a:rPr sz="1050" b="1">
                <a:solidFill>
                  <a:srgbClr val="2878B5"/>
                </a:solidFill>
              </a:rPr>
              <a:t>주간 기술 세미나</a:t>
            </a:r>
          </a:p>
        </p:txBody>
      </p:sp>
      <p:sp>
        <p:nvSpPr>
          <p:cNvPr id="2" name="직사각형 1">
            <a:extLst>
              <a:ext uri="{FF2B5EF4-FFF2-40B4-BE49-F238E27FC236}">
                <a16:creationId xmlns:a16="http://schemas.microsoft.com/office/drawing/2014/main" xmlns="" id="{57C8C16E-38E2-49C9-A048-63B3E27491C2}"/>
              </a:ext>
            </a:extLst>
          </p:cNvPr>
          <p:cNvSpPr>
            <a:spLocks noGrp="1"/>
          </p:cNvSpPr>
          <p:nvPr/>
        </p:nvSpPr>
        <p:spPr>
          <a:xfrm>
            <a:off x="609600" y="685800"/>
            <a:ext cx="10477500" cy="590550"/>
          </a:xfrm>
          <a:prstGeom prst="rect">
            <a:avLst/>
          </a:prstGeom>
          <a:noFill/>
          <a:ln w="0">
            <a:noFill/>
            <a:prstDash val="solid"/>
          </a:ln>
        </p:spPr>
        <p:txBody>
          <a:bodyPr anchor="ctr"/>
          <a:lstStyle/>
          <a:p>
            <a:pPr algn="l">
              <a:buNone/>
              <a:defRPr sz="2550" b="1">
                <a:solidFill>
                  <a:srgbClr val="17212B"/>
                </a:solidFill>
              </a:defRPr>
            </a:pPr>
            <a:r>
              <a:rPr sz="2550" b="1">
                <a:solidFill>
                  <a:srgbClr val="17212B"/>
                </a:solidFill>
              </a:rPr>
              <a:t>한계</a:t>
            </a:r>
          </a:p>
        </p:txBody>
      </p:sp>
      <p:sp>
        <p:nvSpPr>
          <p:cNvPr id="3" name="직사각형 2">
            <a:extLst>
              <a:ext uri="{FF2B5EF4-FFF2-40B4-BE49-F238E27FC236}">
                <a16:creationId xmlns:a16="http://schemas.microsoft.com/office/drawing/2014/main" xmlns="" id="{A7B27A5E-4C78-44FE-8B4D-9B1A8426CACE}"/>
              </a:ext>
            </a:extLst>
          </p:cNvPr>
          <p:cNvSpPr>
            <a:spLocks noGrp="1"/>
          </p:cNvSpPr>
          <p:nvPr/>
        </p:nvSpPr>
        <p:spPr>
          <a:xfrm>
            <a:off x="609600" y="1352550"/>
            <a:ext cx="10972800" cy="19050"/>
          </a:xfrm>
          <a:prstGeom prst="rect">
            <a:avLst/>
          </a:prstGeom>
          <a:solidFill>
            <a:srgbClr val="D8E1E8"/>
          </a:solidFill>
          <a:ln w="0">
            <a:solidFill>
              <a:srgbClr val="D8E1E8"/>
            </a:solidFill>
            <a:prstDash val="solid"/>
          </a:ln>
        </p:spPr>
      </p:sp>
      <p:sp>
        <p:nvSpPr>
          <p:cNvPr id="4" name="직사각형 3">
            <a:extLst>
              <a:ext uri="{FF2B5EF4-FFF2-40B4-BE49-F238E27FC236}">
                <a16:creationId xmlns:a16="http://schemas.microsoft.com/office/drawing/2014/main" xmlns="" id="{2984471E-A5D6-4761-A736-E0898B7E38CA}"/>
              </a:ext>
            </a:extLst>
          </p:cNvPr>
          <p:cNvSpPr>
            <a:spLocks noGrp="1"/>
          </p:cNvSpPr>
          <p:nvPr/>
        </p:nvSpPr>
        <p:spPr>
          <a:xfrm>
            <a:off x="11163300" y="400050"/>
            <a:ext cx="419100" cy="228600"/>
          </a:xfrm>
          <a:prstGeom prst="rect">
            <a:avLst/>
          </a:prstGeom>
          <a:noFill/>
          <a:ln w="0">
            <a:noFill/>
            <a:prstDash val="solid"/>
          </a:ln>
        </p:spPr>
        <p:txBody>
          <a:bodyPr anchor="ctr"/>
          <a:lstStyle/>
          <a:p>
            <a:pPr algn="r">
              <a:buNone/>
              <a:defRPr sz="975" b="1">
                <a:solidFill>
                  <a:srgbClr val="93A0AA"/>
                </a:solidFill>
              </a:defRPr>
            </a:pPr>
            <a:r>
              <a:rPr sz="975" b="1">
                <a:solidFill>
                  <a:srgbClr val="93A0AA"/>
                </a:solidFill>
              </a:rPr>
              <a:t>11</a:t>
            </a:r>
          </a:p>
        </p:txBody>
      </p:sp>
      <p:sp>
        <p:nvSpPr>
          <p:cNvPr id="5" name="모서리가 둥근 직사각형 4">
            <a:extLst>
              <a:ext uri="{FF2B5EF4-FFF2-40B4-BE49-F238E27FC236}">
                <a16:creationId xmlns:a16="http://schemas.microsoft.com/office/drawing/2014/main" xmlns="" id="{D4F7D8D9-F88E-4F68-A21E-05F2AA11C81F}"/>
              </a:ext>
            </a:extLst>
          </p:cNvPr>
          <p:cNvSpPr>
            <a:spLocks noGrp="1"/>
          </p:cNvSpPr>
          <p:nvPr/>
        </p:nvSpPr>
        <p:spPr>
          <a:xfrm>
            <a:off x="609600" y="1733550"/>
            <a:ext cx="5095875" cy="3429000"/>
          </a:xfrm>
          <a:prstGeom prst="roundRect">
            <a:avLst>
              <a:gd name="adj" fmla="val 3333"/>
            </a:avLst>
          </a:prstGeom>
          <a:solidFill>
            <a:srgbClr val="EAF7F3"/>
          </a:solidFill>
          <a:ln w="9525">
            <a:solidFill>
              <a:srgbClr val="B7E3D7"/>
            </a:solidFill>
            <a:prstDash val="solid"/>
          </a:ln>
        </p:spPr>
      </p:sp>
      <p:sp>
        <p:nvSpPr>
          <p:cNvPr id="6" name="직사각형 5">
            <a:extLst>
              <a:ext uri="{FF2B5EF4-FFF2-40B4-BE49-F238E27FC236}">
                <a16:creationId xmlns:a16="http://schemas.microsoft.com/office/drawing/2014/main" xmlns="" id="{CBAC6F85-A7A7-4D90-8F4D-8EEC3AF651DF}"/>
              </a:ext>
            </a:extLst>
          </p:cNvPr>
          <p:cNvSpPr>
            <a:spLocks noGrp="1"/>
          </p:cNvSpPr>
          <p:nvPr/>
        </p:nvSpPr>
        <p:spPr>
          <a:xfrm>
            <a:off x="895350" y="1981200"/>
            <a:ext cx="4476750" cy="323850"/>
          </a:xfrm>
          <a:prstGeom prst="rect">
            <a:avLst/>
          </a:prstGeom>
          <a:noFill/>
          <a:ln w="0">
            <a:noFill/>
            <a:prstDash val="solid"/>
          </a:ln>
        </p:spPr>
        <p:txBody>
          <a:bodyPr anchor="ctr"/>
          <a:lstStyle/>
          <a:p>
            <a:pPr algn="l">
              <a:buNone/>
              <a:defRPr sz="1875" b="1">
                <a:solidFill>
                  <a:srgbClr val="3BB7A0"/>
                </a:solidFill>
              </a:defRPr>
            </a:pPr>
            <a:r>
              <a:rPr sz="1875" b="1">
                <a:solidFill>
                  <a:srgbClr val="3BB7A0"/>
                </a:solidFill>
              </a:rPr>
              <a:t>확인한 범위</a:t>
            </a:r>
          </a:p>
        </p:txBody>
      </p:sp>
      <p:sp>
        <p:nvSpPr>
          <p:cNvPr id="7" name="직사각형 6">
            <a:extLst>
              <a:ext uri="{FF2B5EF4-FFF2-40B4-BE49-F238E27FC236}">
                <a16:creationId xmlns:a16="http://schemas.microsoft.com/office/drawing/2014/main" xmlns="" id="{F4C41555-151E-44FB-9DB4-ACF598C7225B}"/>
              </a:ext>
            </a:extLst>
          </p:cNvPr>
          <p:cNvSpPr>
            <a:spLocks noGrp="1"/>
          </p:cNvSpPr>
          <p:nvPr/>
        </p:nvSpPr>
        <p:spPr>
          <a:xfrm>
            <a:off x="895350" y="2457450"/>
            <a:ext cx="4476750" cy="9525"/>
          </a:xfrm>
          <a:prstGeom prst="rect">
            <a:avLst/>
          </a:prstGeom>
          <a:solidFill>
            <a:srgbClr val="B7E3D7"/>
          </a:solidFill>
          <a:ln w="0">
            <a:solidFill>
              <a:srgbClr val="B7E3D7"/>
            </a:solidFill>
            <a:prstDash val="solid"/>
          </a:ln>
        </p:spPr>
      </p:sp>
      <p:sp>
        <p:nvSpPr>
          <p:cNvPr id="8" name="직사각형 7">
            <a:extLst>
              <a:ext uri="{FF2B5EF4-FFF2-40B4-BE49-F238E27FC236}">
                <a16:creationId xmlns:a16="http://schemas.microsoft.com/office/drawing/2014/main" xmlns="" id="{57FBFD40-D6C9-4A68-AF31-1DFF13C57772}"/>
              </a:ext>
            </a:extLst>
          </p:cNvPr>
          <p:cNvSpPr>
            <a:spLocks noGrp="1"/>
          </p:cNvSpPr>
          <p:nvPr/>
        </p:nvSpPr>
        <p:spPr>
          <a:xfrm>
            <a:off x="895350" y="2724150"/>
            <a:ext cx="4333875" cy="2000250"/>
          </a:xfrm>
          <a:prstGeom prst="rect">
            <a:avLst/>
          </a:prstGeom>
          <a:noFill/>
          <a:ln w="0">
            <a:noFill/>
            <a:prstDash val="solid"/>
          </a:ln>
        </p:spPr>
        <p:txBody>
          <a:bodyPr anchor="ctr"/>
          <a:lstStyle/>
          <a:p>
            <a:pPr algn="l"/>
            <a:r>
              <a:rPr sz="1500" b="1">
                <a:solidFill>
                  <a:srgbClr val="17212B"/>
                </a:solidFill>
              </a:rPr>
              <a:t>파일·코드 생성과 터미널 실행</a:t>
            </a:r>
          </a:p>
          <a:p>
            <a:pPr algn="l"/>
            <a:r>
              <a:rPr sz="1500" b="1">
                <a:solidFill>
                  <a:srgbClr val="17212B"/>
                </a:solidFill>
              </a:rPr>
              <a:t>CRUD 테스트 및 일부 오류 수정</a:t>
            </a:r>
          </a:p>
          <a:p>
            <a:pPr algn="l"/>
            <a:r>
              <a:rPr sz="1500" b="1">
                <a:solidFill>
                  <a:srgbClr val="17212B"/>
                </a:solidFill>
              </a:rPr>
              <a:t>Memory 저장·명시 조회</a:t>
            </a:r>
          </a:p>
          <a:p>
            <a:pPr algn="l"/>
            <a:r>
              <a:rPr sz="1500" b="1">
                <a:solidFill>
                  <a:srgbClr val="17212B"/>
                </a:solidFill>
              </a:rPr>
              <a:t>사용자 Skill 생성·명시 호출</a:t>
            </a:r>
          </a:p>
        </p:txBody>
      </p:sp>
      <p:sp>
        <p:nvSpPr>
          <p:cNvPr id="9" name="모서리가 둥근 직사각형 8">
            <a:extLst>
              <a:ext uri="{FF2B5EF4-FFF2-40B4-BE49-F238E27FC236}">
                <a16:creationId xmlns:a16="http://schemas.microsoft.com/office/drawing/2014/main" xmlns="" id="{113372CF-AEC7-4AE2-95E1-DD47A8EF954B}"/>
              </a:ext>
            </a:extLst>
          </p:cNvPr>
          <p:cNvSpPr>
            <a:spLocks noGrp="1"/>
          </p:cNvSpPr>
          <p:nvPr/>
        </p:nvSpPr>
        <p:spPr>
          <a:xfrm>
            <a:off x="6048375" y="1733550"/>
            <a:ext cx="5286375" cy="3429000"/>
          </a:xfrm>
          <a:prstGeom prst="roundRect">
            <a:avLst>
              <a:gd name="adj" fmla="val 3333"/>
            </a:avLst>
          </a:prstGeom>
          <a:solidFill>
            <a:srgbClr val="FFF5E8"/>
          </a:solidFill>
          <a:ln w="9525">
            <a:solidFill>
              <a:srgbClr val="F0D0A1"/>
            </a:solidFill>
            <a:prstDash val="solid"/>
          </a:ln>
        </p:spPr>
      </p:sp>
      <p:sp>
        <p:nvSpPr>
          <p:cNvPr id="10" name="직사각형 9">
            <a:extLst>
              <a:ext uri="{FF2B5EF4-FFF2-40B4-BE49-F238E27FC236}">
                <a16:creationId xmlns:a16="http://schemas.microsoft.com/office/drawing/2014/main" xmlns="" id="{C52D3E52-554A-42E2-BE7E-7C2E714F2654}"/>
              </a:ext>
            </a:extLst>
          </p:cNvPr>
          <p:cNvSpPr>
            <a:spLocks noGrp="1"/>
          </p:cNvSpPr>
          <p:nvPr/>
        </p:nvSpPr>
        <p:spPr>
          <a:xfrm>
            <a:off x="6334125" y="1981200"/>
            <a:ext cx="4667250" cy="323850"/>
          </a:xfrm>
          <a:prstGeom prst="rect">
            <a:avLst/>
          </a:prstGeom>
          <a:noFill/>
          <a:ln w="0">
            <a:noFill/>
            <a:prstDash val="solid"/>
          </a:ln>
        </p:spPr>
        <p:txBody>
          <a:bodyPr anchor="ctr"/>
          <a:lstStyle/>
          <a:p>
            <a:pPr algn="l">
              <a:buNone/>
              <a:defRPr sz="1875" b="1">
                <a:solidFill>
                  <a:srgbClr val="F59B23"/>
                </a:solidFill>
              </a:defRPr>
            </a:pPr>
            <a:r>
              <a:rPr sz="1875" b="1">
                <a:solidFill>
                  <a:srgbClr val="F59B23"/>
                </a:solidFill>
              </a:rPr>
              <a:t>한계와 미검증 항목</a:t>
            </a:r>
          </a:p>
        </p:txBody>
      </p:sp>
      <p:sp>
        <p:nvSpPr>
          <p:cNvPr id="11" name="직사각형 10">
            <a:extLst>
              <a:ext uri="{FF2B5EF4-FFF2-40B4-BE49-F238E27FC236}">
                <a16:creationId xmlns:a16="http://schemas.microsoft.com/office/drawing/2014/main" xmlns="" id="{FB362333-9C7C-4939-B51F-D7617CBEAB0A}"/>
              </a:ext>
            </a:extLst>
          </p:cNvPr>
          <p:cNvSpPr>
            <a:spLocks noGrp="1"/>
          </p:cNvSpPr>
          <p:nvPr/>
        </p:nvSpPr>
        <p:spPr>
          <a:xfrm>
            <a:off x="6334125" y="2457450"/>
            <a:ext cx="4667250" cy="9525"/>
          </a:xfrm>
          <a:prstGeom prst="rect">
            <a:avLst/>
          </a:prstGeom>
          <a:solidFill>
            <a:srgbClr val="F0D0A1"/>
          </a:solidFill>
          <a:ln w="0">
            <a:solidFill>
              <a:srgbClr val="F0D0A1"/>
            </a:solidFill>
            <a:prstDash val="solid"/>
          </a:ln>
        </p:spPr>
      </p:sp>
      <p:sp>
        <p:nvSpPr>
          <p:cNvPr id="12" name="직사각형 11">
            <a:extLst>
              <a:ext uri="{FF2B5EF4-FFF2-40B4-BE49-F238E27FC236}">
                <a16:creationId xmlns:a16="http://schemas.microsoft.com/office/drawing/2014/main" xmlns="" id="{86DFDF4C-9FA9-43EF-82D4-7501A56AFA5E}"/>
              </a:ext>
            </a:extLst>
          </p:cNvPr>
          <p:cNvSpPr>
            <a:spLocks noGrp="1"/>
          </p:cNvSpPr>
          <p:nvPr/>
        </p:nvSpPr>
        <p:spPr>
          <a:xfrm>
            <a:off x="6334125" y="2724150"/>
            <a:ext cx="4524375" cy="2000250"/>
          </a:xfrm>
          <a:prstGeom prst="rect">
            <a:avLst/>
          </a:prstGeom>
          <a:noFill/>
          <a:ln w="0">
            <a:noFill/>
            <a:prstDash val="solid"/>
          </a:ln>
        </p:spPr>
        <p:txBody>
          <a:bodyPr anchor="ctr"/>
          <a:lstStyle/>
          <a:p>
            <a:pPr algn="l"/>
            <a:r>
              <a:rPr sz="1500" b="1">
                <a:solidFill>
                  <a:srgbClr val="17212B"/>
                </a:solidFill>
              </a:rPr>
              <a:t>Uvicorn 라우트 문제 미해결</a:t>
            </a:r>
          </a:p>
          <a:p>
            <a:pPr algn="l"/>
            <a:r>
              <a:rPr sz="1500" b="1">
                <a:solidFill>
                  <a:srgbClr val="17212B"/>
                </a:solidFill>
              </a:rPr>
              <a:t>Memory·Skill 자동 적용 불확실</a:t>
            </a:r>
          </a:p>
          <a:p>
            <a:pPr algn="l"/>
            <a:r>
              <a:rPr sz="1500" b="1">
                <a:solidFill>
                  <a:srgbClr val="17212B"/>
                </a:solidFill>
              </a:rPr>
              <a:t>웹 추출 실패와 답변 근거 불일치</a:t>
            </a:r>
          </a:p>
          <a:p>
            <a:pPr algn="l"/>
            <a:r>
              <a:rPr sz="1500" b="1">
                <a:solidFill>
                  <a:srgbClr val="17212B"/>
                </a:solidFill>
              </a:rPr>
              <a:t>모델·추론 위치·성능 조건 미기록</a:t>
            </a:r>
          </a:p>
        </p:txBody>
      </p:sp>
      <p:sp>
        <p:nvSpPr>
          <p:cNvPr id="13" name="모서리가 둥근 직사각형 12">
            <a:extLst>
              <a:ext uri="{FF2B5EF4-FFF2-40B4-BE49-F238E27FC236}">
                <a16:creationId xmlns:a16="http://schemas.microsoft.com/office/drawing/2014/main" xmlns="" id="{5D9A957E-640E-48E3-8D81-D1F669E6D17A}"/>
              </a:ext>
            </a:extLst>
          </p:cNvPr>
          <p:cNvSpPr>
            <a:spLocks noGrp="1"/>
          </p:cNvSpPr>
          <p:nvPr/>
        </p:nvSpPr>
        <p:spPr>
          <a:xfrm>
            <a:off x="609600" y="5467350"/>
            <a:ext cx="10725150" cy="590550"/>
          </a:xfrm>
          <a:prstGeom prst="roundRect">
            <a:avLst>
              <a:gd name="adj" fmla="val 19355"/>
            </a:avLst>
          </a:prstGeom>
          <a:solidFill>
            <a:srgbClr val="111D29"/>
          </a:solidFill>
          <a:ln w="9525">
            <a:solidFill>
              <a:srgbClr val="111D29"/>
            </a:solidFill>
            <a:prstDash val="solid"/>
          </a:ln>
        </p:spPr>
      </p:sp>
      <p:sp>
        <p:nvSpPr>
          <p:cNvPr id="14" name="직사각형 13">
            <a:extLst>
              <a:ext uri="{FF2B5EF4-FFF2-40B4-BE49-F238E27FC236}">
                <a16:creationId xmlns:a16="http://schemas.microsoft.com/office/drawing/2014/main" xmlns="" id="{E4BC0995-3E8B-4D8E-A3EB-C42D18EFF25D}"/>
              </a:ext>
            </a:extLst>
          </p:cNvPr>
          <p:cNvSpPr>
            <a:spLocks noGrp="1"/>
          </p:cNvSpPr>
          <p:nvPr/>
        </p:nvSpPr>
        <p:spPr>
          <a:xfrm>
            <a:off x="819150" y="5591175"/>
            <a:ext cx="10306050" cy="342900"/>
          </a:xfrm>
          <a:prstGeom prst="rect">
            <a:avLst/>
          </a:prstGeom>
          <a:noFill/>
          <a:ln w="0">
            <a:noFill/>
            <a:prstDash val="solid"/>
          </a:ln>
        </p:spPr>
        <p:txBody>
          <a:bodyPr anchor="ctr"/>
          <a:lstStyle/>
          <a:p>
            <a:pPr algn="ctr"/>
            <a:r>
              <a:rPr sz="1425" b="1">
                <a:solidFill>
                  <a:srgbClr val="FFFFFF"/>
                </a:solidFill>
              </a:rPr>
              <a:t>적용 전 확인: 도구 권한·변경 이력·출처·재현 로그 — 자율 실행이 정확성을 보장하지는 않는다.</a:t>
            </a:r>
          </a:p>
        </p:txBody>
      </p:sp>
      <p:sp>
        <p:nvSpPr>
          <p:cNvPr id="15" name="직사각형 14">
            <a:extLst>
              <a:ext uri="{FF2B5EF4-FFF2-40B4-BE49-F238E27FC236}">
                <a16:creationId xmlns:a16="http://schemas.microsoft.com/office/drawing/2014/main" xmlns="" id="{B5C0FFF5-E894-497F-8A51-B2C1A6783495}"/>
              </a:ext>
            </a:extLst>
          </p:cNvPr>
          <p:cNvSpPr>
            <a:spLocks noGrp="1"/>
          </p:cNvSpPr>
          <p:nvPr/>
        </p:nvSpPr>
        <p:spPr>
          <a:xfrm>
            <a:off x="609600" y="6496050"/>
            <a:ext cx="8572500" cy="171450"/>
          </a:xfrm>
          <a:prstGeom prst="rect">
            <a:avLst/>
          </a:prstGeom>
          <a:noFill/>
          <a:ln w="0">
            <a:noFill/>
            <a:prstDash val="solid"/>
          </a:ln>
        </p:spPr>
        <p:txBody>
          <a:bodyPr anchor="ctr"/>
          <a:lstStyle/>
          <a:p>
            <a:pPr algn="l"/>
            <a:r>
              <a:rPr sz="825" b="0">
                <a:solidFill>
                  <a:srgbClr val="87939E"/>
                </a:solidFill>
              </a:rPr>
              <a:t>기업 온프레미스 AI · Hermes Agent 실습과 PoC</a:t>
            </a:r>
          </a:p>
        </p:txBody>
      </p:sp>
    </p:spTree>
    <p:extLst>
      <p:ext uri="{BB962C8B-B14F-4D97-AF65-F5344CB8AC3E}">
        <p14:creationId xmlns:p14="http://schemas.microsoft.com/office/powerpoint/2010/main" val="933409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11D29"/>
        </a:solidFill>
        <a:effectLst/>
      </p:bgPr>
    </p:bg>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xmlns="" id="{89D0FCCC-E720-42F2-B0FC-30768266FAF3}"/>
              </a:ext>
            </a:extLst>
          </p:cNvPr>
          <p:cNvSpPr>
            <a:spLocks noGrp="1"/>
          </p:cNvSpPr>
          <p:nvPr/>
        </p:nvSpPr>
        <p:spPr>
          <a:xfrm>
            <a:off x="685800" y="666750"/>
            <a:ext cx="2857500" cy="247650"/>
          </a:xfrm>
          <a:prstGeom prst="rect">
            <a:avLst/>
          </a:prstGeom>
          <a:noFill/>
          <a:ln w="0">
            <a:noFill/>
            <a:prstDash val="solid"/>
          </a:ln>
        </p:spPr>
        <p:txBody>
          <a:bodyPr anchor="ctr"/>
          <a:lstStyle/>
          <a:p>
            <a:pPr algn="l">
              <a:buNone/>
              <a:defRPr sz="1050" b="1">
                <a:solidFill>
                  <a:srgbClr val="8FD12D"/>
                </a:solidFill>
              </a:defRPr>
            </a:pPr>
            <a:r>
              <a:rPr sz="1050" b="1">
                <a:solidFill>
                  <a:srgbClr val="8FD12D"/>
                </a:solidFill>
              </a:rPr>
              <a:t>결론·향후 과제</a:t>
            </a:r>
          </a:p>
        </p:txBody>
      </p:sp>
      <p:sp>
        <p:nvSpPr>
          <p:cNvPr id="2" name="직사각형 1">
            <a:extLst>
              <a:ext uri="{FF2B5EF4-FFF2-40B4-BE49-F238E27FC236}">
                <a16:creationId xmlns:a16="http://schemas.microsoft.com/office/drawing/2014/main" xmlns="" id="{4D258933-28F8-4A75-B0DB-C80BC9C46CBB}"/>
              </a:ext>
            </a:extLst>
          </p:cNvPr>
          <p:cNvSpPr>
            <a:spLocks noGrp="1"/>
          </p:cNvSpPr>
          <p:nvPr/>
        </p:nvSpPr>
        <p:spPr>
          <a:xfrm>
            <a:off x="685800" y="1257300"/>
            <a:ext cx="6762750" cy="1066800"/>
          </a:xfrm>
          <a:prstGeom prst="rect">
            <a:avLst/>
          </a:prstGeom>
          <a:noFill/>
          <a:ln w="0">
            <a:noFill/>
            <a:prstDash val="solid"/>
          </a:ln>
        </p:spPr>
        <p:txBody>
          <a:bodyPr anchor="ctr"/>
          <a:lstStyle/>
          <a:p>
            <a:pPr algn="l"/>
            <a:r>
              <a:rPr sz="3600" b="1">
                <a:solidFill>
                  <a:srgbClr val="FFFFFF"/>
                </a:solidFill>
              </a:rPr>
              <a:t>도입은 조건으로 판단하고</a:t>
            </a:r>
          </a:p>
          <a:p>
            <a:pPr algn="l"/>
            <a:r>
              <a:rPr sz="3600" b="1">
                <a:solidFill>
                  <a:srgbClr val="FFFFFF"/>
                </a:solidFill>
              </a:rPr>
              <a:t>자동화는 증거로 검증한다</a:t>
            </a:r>
          </a:p>
        </p:txBody>
      </p:sp>
      <p:sp>
        <p:nvSpPr>
          <p:cNvPr id="3" name="모서리가 둥근 직사각형 2">
            <a:extLst>
              <a:ext uri="{FF2B5EF4-FFF2-40B4-BE49-F238E27FC236}">
                <a16:creationId xmlns:a16="http://schemas.microsoft.com/office/drawing/2014/main" xmlns="" id="{7243CD3C-2A0A-4AC1-946A-86D2FC2C6A08}"/>
              </a:ext>
            </a:extLst>
          </p:cNvPr>
          <p:cNvSpPr>
            <a:spLocks noGrp="1"/>
          </p:cNvSpPr>
          <p:nvPr/>
        </p:nvSpPr>
        <p:spPr>
          <a:xfrm>
            <a:off x="685800" y="3105150"/>
            <a:ext cx="2286000" cy="1143000"/>
          </a:xfrm>
          <a:prstGeom prst="roundRect">
            <a:avLst>
              <a:gd name="adj" fmla="val 10000"/>
            </a:avLst>
          </a:prstGeom>
          <a:solidFill>
            <a:srgbClr val="17293A"/>
          </a:solidFill>
          <a:ln w="9525">
            <a:solidFill>
              <a:srgbClr val="355064"/>
            </a:solidFill>
            <a:prstDash val="solid"/>
          </a:ln>
        </p:spPr>
      </p:sp>
      <p:sp>
        <p:nvSpPr>
          <p:cNvPr id="4" name="직사각형 3">
            <a:extLst>
              <a:ext uri="{FF2B5EF4-FFF2-40B4-BE49-F238E27FC236}">
                <a16:creationId xmlns:a16="http://schemas.microsoft.com/office/drawing/2014/main" xmlns="" id="{BA7BC74C-C688-4C7D-9EA2-865B1DB66041}"/>
              </a:ext>
            </a:extLst>
          </p:cNvPr>
          <p:cNvSpPr>
            <a:spLocks noGrp="1"/>
          </p:cNvSpPr>
          <p:nvPr/>
        </p:nvSpPr>
        <p:spPr>
          <a:xfrm>
            <a:off x="828675" y="3295650"/>
            <a:ext cx="2000250" cy="285750"/>
          </a:xfrm>
          <a:prstGeom prst="rect">
            <a:avLst/>
          </a:prstGeom>
          <a:noFill/>
          <a:ln w="0">
            <a:noFill/>
            <a:prstDash val="solid"/>
          </a:ln>
        </p:spPr>
        <p:txBody>
          <a:bodyPr anchor="ctr"/>
          <a:lstStyle/>
          <a:p>
            <a:pPr algn="ctr">
              <a:buNone/>
              <a:defRPr sz="1575" b="1">
                <a:solidFill>
                  <a:srgbClr val="3BB7A0"/>
                </a:solidFill>
              </a:defRPr>
            </a:pPr>
            <a:r>
              <a:rPr sz="1575" b="1">
                <a:solidFill>
                  <a:srgbClr val="3BB7A0"/>
                </a:solidFill>
              </a:rPr>
              <a:t>조사</a:t>
            </a:r>
          </a:p>
        </p:txBody>
      </p:sp>
      <p:sp>
        <p:nvSpPr>
          <p:cNvPr id="5" name="직사각형 4">
            <a:extLst>
              <a:ext uri="{FF2B5EF4-FFF2-40B4-BE49-F238E27FC236}">
                <a16:creationId xmlns:a16="http://schemas.microsoft.com/office/drawing/2014/main" xmlns="" id="{1DC7FA5F-8CA9-4742-B22B-74F89A485BD3}"/>
              </a:ext>
            </a:extLst>
          </p:cNvPr>
          <p:cNvSpPr>
            <a:spLocks noGrp="1"/>
          </p:cNvSpPr>
          <p:nvPr/>
        </p:nvSpPr>
        <p:spPr>
          <a:xfrm>
            <a:off x="828675" y="3714750"/>
            <a:ext cx="2000250" cy="266700"/>
          </a:xfrm>
          <a:prstGeom prst="rect">
            <a:avLst/>
          </a:prstGeom>
          <a:noFill/>
          <a:ln w="0">
            <a:noFill/>
            <a:prstDash val="solid"/>
          </a:ln>
        </p:spPr>
        <p:txBody>
          <a:bodyPr anchor="ctr"/>
          <a:lstStyle/>
          <a:p>
            <a:pPr algn="ctr"/>
            <a:r>
              <a:rPr sz="1200" b="1">
                <a:solidFill>
                  <a:srgbClr val="FFFFFF"/>
                </a:solidFill>
              </a:rPr>
              <a:t>데이터 통제 조건</a:t>
            </a:r>
          </a:p>
        </p:txBody>
      </p:sp>
      <p:sp>
        <p:nvSpPr>
          <p:cNvPr id="6" name="직사각형 5">
            <a:extLst>
              <a:ext uri="{FF2B5EF4-FFF2-40B4-BE49-F238E27FC236}">
                <a16:creationId xmlns:a16="http://schemas.microsoft.com/office/drawing/2014/main" xmlns="" id="{F9F561CD-B0A3-4E80-82A2-BD0A4AE7336A}"/>
              </a:ext>
            </a:extLst>
          </p:cNvPr>
          <p:cNvSpPr>
            <a:spLocks noGrp="1"/>
          </p:cNvSpPr>
          <p:nvPr/>
        </p:nvSpPr>
        <p:spPr>
          <a:xfrm>
            <a:off x="3009900" y="3476625"/>
            <a:ext cx="400050" cy="285750"/>
          </a:xfrm>
          <a:prstGeom prst="rect">
            <a:avLst/>
          </a:prstGeom>
          <a:noFill/>
          <a:ln w="0">
            <a:noFill/>
            <a:prstDash val="solid"/>
          </a:ln>
        </p:spPr>
        <p:txBody>
          <a:bodyPr anchor="ctr"/>
          <a:lstStyle/>
          <a:p>
            <a:pPr algn="ctr">
              <a:buNone/>
              <a:defRPr sz="1800" b="1">
                <a:solidFill>
                  <a:srgbClr val="6D8798"/>
                </a:solidFill>
              </a:defRPr>
            </a:pPr>
            <a:r>
              <a:rPr sz="1800" b="1">
                <a:solidFill>
                  <a:srgbClr val="6D8798"/>
                </a:solidFill>
              </a:rPr>
              <a:t>→</a:t>
            </a:r>
          </a:p>
        </p:txBody>
      </p:sp>
      <p:sp>
        <p:nvSpPr>
          <p:cNvPr id="7" name="모서리가 둥근 직사각형 6">
            <a:extLst>
              <a:ext uri="{FF2B5EF4-FFF2-40B4-BE49-F238E27FC236}">
                <a16:creationId xmlns:a16="http://schemas.microsoft.com/office/drawing/2014/main" xmlns="" id="{CDFE6183-FFE7-432D-A781-51DE30D6EBFD}"/>
              </a:ext>
            </a:extLst>
          </p:cNvPr>
          <p:cNvSpPr>
            <a:spLocks noGrp="1"/>
          </p:cNvSpPr>
          <p:nvPr/>
        </p:nvSpPr>
        <p:spPr>
          <a:xfrm>
            <a:off x="3429000" y="3105150"/>
            <a:ext cx="2286000" cy="1143000"/>
          </a:xfrm>
          <a:prstGeom prst="roundRect">
            <a:avLst>
              <a:gd name="adj" fmla="val 10000"/>
            </a:avLst>
          </a:prstGeom>
          <a:solidFill>
            <a:srgbClr val="17293A"/>
          </a:solidFill>
          <a:ln w="9525">
            <a:solidFill>
              <a:srgbClr val="355064"/>
            </a:solidFill>
            <a:prstDash val="solid"/>
          </a:ln>
        </p:spPr>
      </p:sp>
      <p:sp>
        <p:nvSpPr>
          <p:cNvPr id="8" name="직사각형 7">
            <a:extLst>
              <a:ext uri="{FF2B5EF4-FFF2-40B4-BE49-F238E27FC236}">
                <a16:creationId xmlns:a16="http://schemas.microsoft.com/office/drawing/2014/main" xmlns="" id="{33E38F1F-AA4A-4A76-967A-70CC6CCA87B0}"/>
              </a:ext>
            </a:extLst>
          </p:cNvPr>
          <p:cNvSpPr>
            <a:spLocks noGrp="1"/>
          </p:cNvSpPr>
          <p:nvPr/>
        </p:nvSpPr>
        <p:spPr>
          <a:xfrm>
            <a:off x="3571875" y="3295650"/>
            <a:ext cx="2000250" cy="285750"/>
          </a:xfrm>
          <a:prstGeom prst="rect">
            <a:avLst/>
          </a:prstGeom>
          <a:noFill/>
          <a:ln w="0">
            <a:noFill/>
            <a:prstDash val="solid"/>
          </a:ln>
        </p:spPr>
        <p:txBody>
          <a:bodyPr anchor="ctr"/>
          <a:lstStyle/>
          <a:p>
            <a:pPr algn="ctr">
              <a:buNone/>
              <a:defRPr sz="1575" b="1">
                <a:solidFill>
                  <a:srgbClr val="3BB7A0"/>
                </a:solidFill>
              </a:defRPr>
            </a:pPr>
            <a:r>
              <a:rPr sz="1575" b="1">
                <a:solidFill>
                  <a:srgbClr val="3BB7A0"/>
                </a:solidFill>
              </a:rPr>
              <a:t>설계</a:t>
            </a:r>
          </a:p>
        </p:txBody>
      </p:sp>
      <p:sp>
        <p:nvSpPr>
          <p:cNvPr id="9" name="직사각형 8">
            <a:extLst>
              <a:ext uri="{FF2B5EF4-FFF2-40B4-BE49-F238E27FC236}">
                <a16:creationId xmlns:a16="http://schemas.microsoft.com/office/drawing/2014/main" xmlns="" id="{A60CD9EF-986D-4BB3-A82C-07DCAB71266C}"/>
              </a:ext>
            </a:extLst>
          </p:cNvPr>
          <p:cNvSpPr>
            <a:spLocks noGrp="1"/>
          </p:cNvSpPr>
          <p:nvPr/>
        </p:nvSpPr>
        <p:spPr>
          <a:xfrm>
            <a:off x="3571875" y="3714750"/>
            <a:ext cx="2000250" cy="266700"/>
          </a:xfrm>
          <a:prstGeom prst="rect">
            <a:avLst/>
          </a:prstGeom>
          <a:noFill/>
          <a:ln w="0">
            <a:noFill/>
            <a:prstDash val="solid"/>
          </a:ln>
        </p:spPr>
        <p:txBody>
          <a:bodyPr anchor="ctr"/>
          <a:lstStyle/>
          <a:p>
            <a:pPr algn="ctr"/>
            <a:r>
              <a:rPr sz="1200" b="1">
                <a:solidFill>
                  <a:srgbClr val="FFFFFF"/>
                </a:solidFill>
              </a:rPr>
              <a:t>작은 CRUD 범위</a:t>
            </a:r>
          </a:p>
        </p:txBody>
      </p:sp>
      <p:sp>
        <p:nvSpPr>
          <p:cNvPr id="10" name="직사각형 9">
            <a:extLst>
              <a:ext uri="{FF2B5EF4-FFF2-40B4-BE49-F238E27FC236}">
                <a16:creationId xmlns:a16="http://schemas.microsoft.com/office/drawing/2014/main" xmlns="" id="{84FC6484-EA24-4A26-B6C6-6219DF8F08F2}"/>
              </a:ext>
            </a:extLst>
          </p:cNvPr>
          <p:cNvSpPr>
            <a:spLocks noGrp="1"/>
          </p:cNvSpPr>
          <p:nvPr/>
        </p:nvSpPr>
        <p:spPr>
          <a:xfrm>
            <a:off x="5753100" y="3476625"/>
            <a:ext cx="400050" cy="285750"/>
          </a:xfrm>
          <a:prstGeom prst="rect">
            <a:avLst/>
          </a:prstGeom>
          <a:noFill/>
          <a:ln w="0">
            <a:noFill/>
            <a:prstDash val="solid"/>
          </a:ln>
        </p:spPr>
        <p:txBody>
          <a:bodyPr anchor="ctr"/>
          <a:lstStyle/>
          <a:p>
            <a:pPr algn="ctr">
              <a:buNone/>
              <a:defRPr sz="1800" b="1">
                <a:solidFill>
                  <a:srgbClr val="6D8798"/>
                </a:solidFill>
              </a:defRPr>
            </a:pPr>
            <a:r>
              <a:rPr sz="1800" b="1">
                <a:solidFill>
                  <a:srgbClr val="6D8798"/>
                </a:solidFill>
              </a:rPr>
              <a:t>→</a:t>
            </a:r>
          </a:p>
        </p:txBody>
      </p:sp>
      <p:sp>
        <p:nvSpPr>
          <p:cNvPr id="11" name="모서리가 둥근 직사각형 10">
            <a:extLst>
              <a:ext uri="{FF2B5EF4-FFF2-40B4-BE49-F238E27FC236}">
                <a16:creationId xmlns:a16="http://schemas.microsoft.com/office/drawing/2014/main" xmlns="" id="{C7D2D49A-5CB2-49CE-AB93-CEC76DF87D3D}"/>
              </a:ext>
            </a:extLst>
          </p:cNvPr>
          <p:cNvSpPr>
            <a:spLocks noGrp="1"/>
          </p:cNvSpPr>
          <p:nvPr/>
        </p:nvSpPr>
        <p:spPr>
          <a:xfrm>
            <a:off x="6172200" y="3105150"/>
            <a:ext cx="2286000" cy="1143000"/>
          </a:xfrm>
          <a:prstGeom prst="roundRect">
            <a:avLst>
              <a:gd name="adj" fmla="val 10000"/>
            </a:avLst>
          </a:prstGeom>
          <a:solidFill>
            <a:srgbClr val="17293A"/>
          </a:solidFill>
          <a:ln w="9525">
            <a:solidFill>
              <a:srgbClr val="355064"/>
            </a:solidFill>
            <a:prstDash val="solid"/>
          </a:ln>
        </p:spPr>
      </p:sp>
      <p:sp>
        <p:nvSpPr>
          <p:cNvPr id="12" name="직사각형 11">
            <a:extLst>
              <a:ext uri="{FF2B5EF4-FFF2-40B4-BE49-F238E27FC236}">
                <a16:creationId xmlns:a16="http://schemas.microsoft.com/office/drawing/2014/main" xmlns="" id="{3075F9D4-B6CD-4CD7-82CC-B8223C3E9DCF}"/>
              </a:ext>
            </a:extLst>
          </p:cNvPr>
          <p:cNvSpPr>
            <a:spLocks noGrp="1"/>
          </p:cNvSpPr>
          <p:nvPr/>
        </p:nvSpPr>
        <p:spPr>
          <a:xfrm>
            <a:off x="6315075" y="3295650"/>
            <a:ext cx="2000250" cy="285750"/>
          </a:xfrm>
          <a:prstGeom prst="rect">
            <a:avLst/>
          </a:prstGeom>
          <a:noFill/>
          <a:ln w="0">
            <a:noFill/>
            <a:prstDash val="solid"/>
          </a:ln>
        </p:spPr>
        <p:txBody>
          <a:bodyPr anchor="ctr"/>
          <a:lstStyle/>
          <a:p>
            <a:pPr algn="ctr">
              <a:buNone/>
              <a:defRPr sz="1575" b="1">
                <a:solidFill>
                  <a:srgbClr val="3BB7A0"/>
                </a:solidFill>
              </a:defRPr>
            </a:pPr>
            <a:r>
              <a:rPr sz="1575" b="1">
                <a:solidFill>
                  <a:srgbClr val="3BB7A0"/>
                </a:solidFill>
              </a:rPr>
              <a:t>구현</a:t>
            </a:r>
          </a:p>
        </p:txBody>
      </p:sp>
      <p:sp>
        <p:nvSpPr>
          <p:cNvPr id="13" name="직사각형 12">
            <a:extLst>
              <a:ext uri="{FF2B5EF4-FFF2-40B4-BE49-F238E27FC236}">
                <a16:creationId xmlns:a16="http://schemas.microsoft.com/office/drawing/2014/main" xmlns="" id="{4E792EE7-9FEC-41DD-9158-4AEA87DF8749}"/>
              </a:ext>
            </a:extLst>
          </p:cNvPr>
          <p:cNvSpPr>
            <a:spLocks noGrp="1"/>
          </p:cNvSpPr>
          <p:nvPr/>
        </p:nvSpPr>
        <p:spPr>
          <a:xfrm>
            <a:off x="6315075" y="3714750"/>
            <a:ext cx="2000250" cy="266700"/>
          </a:xfrm>
          <a:prstGeom prst="rect">
            <a:avLst/>
          </a:prstGeom>
          <a:noFill/>
          <a:ln w="0">
            <a:noFill/>
            <a:prstDash val="solid"/>
          </a:ln>
        </p:spPr>
        <p:txBody>
          <a:bodyPr anchor="ctr"/>
          <a:lstStyle/>
          <a:p>
            <a:pPr algn="ctr"/>
            <a:r>
              <a:rPr sz="1200" b="1">
                <a:solidFill>
                  <a:srgbClr val="FFFFFF"/>
                </a:solidFill>
              </a:rPr>
              <a:t>생성·수정 자동화</a:t>
            </a:r>
          </a:p>
        </p:txBody>
      </p:sp>
      <p:sp>
        <p:nvSpPr>
          <p:cNvPr id="14" name="직사각형 13">
            <a:extLst>
              <a:ext uri="{FF2B5EF4-FFF2-40B4-BE49-F238E27FC236}">
                <a16:creationId xmlns:a16="http://schemas.microsoft.com/office/drawing/2014/main" xmlns="" id="{18C72F43-DBC4-432C-8D3B-8EDCACAD87F1}"/>
              </a:ext>
            </a:extLst>
          </p:cNvPr>
          <p:cNvSpPr>
            <a:spLocks noGrp="1"/>
          </p:cNvSpPr>
          <p:nvPr/>
        </p:nvSpPr>
        <p:spPr>
          <a:xfrm>
            <a:off x="8496300" y="3476625"/>
            <a:ext cx="400050" cy="285750"/>
          </a:xfrm>
          <a:prstGeom prst="rect">
            <a:avLst/>
          </a:prstGeom>
          <a:noFill/>
          <a:ln w="0">
            <a:noFill/>
            <a:prstDash val="solid"/>
          </a:ln>
        </p:spPr>
        <p:txBody>
          <a:bodyPr anchor="ctr"/>
          <a:lstStyle/>
          <a:p>
            <a:pPr algn="ctr">
              <a:buNone/>
              <a:defRPr sz="1800" b="1">
                <a:solidFill>
                  <a:srgbClr val="6D8798"/>
                </a:solidFill>
              </a:defRPr>
            </a:pPr>
            <a:r>
              <a:rPr sz="1800" b="1">
                <a:solidFill>
                  <a:srgbClr val="6D8798"/>
                </a:solidFill>
              </a:rPr>
              <a:t>→</a:t>
            </a:r>
          </a:p>
        </p:txBody>
      </p:sp>
      <p:sp>
        <p:nvSpPr>
          <p:cNvPr id="15" name="모서리가 둥근 직사각형 14">
            <a:extLst>
              <a:ext uri="{FF2B5EF4-FFF2-40B4-BE49-F238E27FC236}">
                <a16:creationId xmlns:a16="http://schemas.microsoft.com/office/drawing/2014/main" xmlns="" id="{39D631D5-969C-4397-BFF7-CA8BD956643E}"/>
              </a:ext>
            </a:extLst>
          </p:cNvPr>
          <p:cNvSpPr>
            <a:spLocks noGrp="1"/>
          </p:cNvSpPr>
          <p:nvPr/>
        </p:nvSpPr>
        <p:spPr>
          <a:xfrm>
            <a:off x="8915400" y="3105150"/>
            <a:ext cx="2286000" cy="1143000"/>
          </a:xfrm>
          <a:prstGeom prst="roundRect">
            <a:avLst>
              <a:gd name="adj" fmla="val 10000"/>
            </a:avLst>
          </a:prstGeom>
          <a:solidFill>
            <a:srgbClr val="17293A"/>
          </a:solidFill>
          <a:ln w="9525">
            <a:solidFill>
              <a:srgbClr val="8FD12D"/>
            </a:solidFill>
            <a:prstDash val="solid"/>
          </a:ln>
        </p:spPr>
      </p:sp>
      <p:sp>
        <p:nvSpPr>
          <p:cNvPr id="16" name="직사각형 15">
            <a:extLst>
              <a:ext uri="{FF2B5EF4-FFF2-40B4-BE49-F238E27FC236}">
                <a16:creationId xmlns:a16="http://schemas.microsoft.com/office/drawing/2014/main" xmlns="" id="{1102ED4B-FA47-433E-99BA-28FDB8161650}"/>
              </a:ext>
            </a:extLst>
          </p:cNvPr>
          <p:cNvSpPr>
            <a:spLocks noGrp="1"/>
          </p:cNvSpPr>
          <p:nvPr/>
        </p:nvSpPr>
        <p:spPr>
          <a:xfrm>
            <a:off x="9058275" y="3295650"/>
            <a:ext cx="2000250" cy="285750"/>
          </a:xfrm>
          <a:prstGeom prst="rect">
            <a:avLst/>
          </a:prstGeom>
          <a:noFill/>
          <a:ln w="0">
            <a:noFill/>
            <a:prstDash val="solid"/>
          </a:ln>
        </p:spPr>
        <p:txBody>
          <a:bodyPr anchor="ctr"/>
          <a:lstStyle/>
          <a:p>
            <a:pPr algn="ctr">
              <a:buNone/>
              <a:defRPr sz="1575" b="1">
                <a:solidFill>
                  <a:srgbClr val="8FD12D"/>
                </a:solidFill>
              </a:defRPr>
            </a:pPr>
            <a:r>
              <a:rPr sz="1575" b="1">
                <a:solidFill>
                  <a:srgbClr val="8FD12D"/>
                </a:solidFill>
              </a:rPr>
              <a:t>검증</a:t>
            </a:r>
          </a:p>
        </p:txBody>
      </p:sp>
      <p:sp>
        <p:nvSpPr>
          <p:cNvPr id="17" name="직사각형 16">
            <a:extLst>
              <a:ext uri="{FF2B5EF4-FFF2-40B4-BE49-F238E27FC236}">
                <a16:creationId xmlns:a16="http://schemas.microsoft.com/office/drawing/2014/main" xmlns="" id="{644AFCC9-57A9-4F1E-826C-EA930A406AE2}"/>
              </a:ext>
            </a:extLst>
          </p:cNvPr>
          <p:cNvSpPr>
            <a:spLocks noGrp="1"/>
          </p:cNvSpPr>
          <p:nvPr/>
        </p:nvSpPr>
        <p:spPr>
          <a:xfrm>
            <a:off x="9058275" y="3714750"/>
            <a:ext cx="2000250" cy="266700"/>
          </a:xfrm>
          <a:prstGeom prst="rect">
            <a:avLst/>
          </a:prstGeom>
          <a:noFill/>
          <a:ln w="0">
            <a:noFill/>
            <a:prstDash val="solid"/>
          </a:ln>
        </p:spPr>
        <p:txBody>
          <a:bodyPr anchor="ctr"/>
          <a:lstStyle/>
          <a:p>
            <a:pPr algn="ctr"/>
            <a:r>
              <a:rPr sz="1200" b="1">
                <a:solidFill>
                  <a:srgbClr val="FFFFFF"/>
                </a:solidFill>
              </a:rPr>
              <a:t>기록상 11건 통과</a:t>
            </a:r>
          </a:p>
        </p:txBody>
      </p:sp>
      <p:sp>
        <p:nvSpPr>
          <p:cNvPr id="18" name="모서리가 둥근 직사각형 17">
            <a:extLst>
              <a:ext uri="{FF2B5EF4-FFF2-40B4-BE49-F238E27FC236}">
                <a16:creationId xmlns:a16="http://schemas.microsoft.com/office/drawing/2014/main" xmlns="" id="{B1FD9D6E-1966-4685-8720-08F69C39D7B2}"/>
              </a:ext>
            </a:extLst>
          </p:cNvPr>
          <p:cNvSpPr>
            <a:spLocks noGrp="1"/>
          </p:cNvSpPr>
          <p:nvPr/>
        </p:nvSpPr>
        <p:spPr>
          <a:xfrm>
            <a:off x="685800" y="4781550"/>
            <a:ext cx="10515600" cy="781050"/>
          </a:xfrm>
          <a:prstGeom prst="roundRect">
            <a:avLst>
              <a:gd name="adj" fmla="val 14634"/>
            </a:avLst>
          </a:prstGeom>
          <a:solidFill>
            <a:srgbClr val="19394A"/>
          </a:solidFill>
          <a:ln w="9525">
            <a:solidFill>
              <a:srgbClr val="3BB7A0"/>
            </a:solidFill>
            <a:prstDash val="solid"/>
          </a:ln>
        </p:spPr>
      </p:sp>
      <p:sp>
        <p:nvSpPr>
          <p:cNvPr id="19" name="직사각형 18">
            <a:extLst>
              <a:ext uri="{FF2B5EF4-FFF2-40B4-BE49-F238E27FC236}">
                <a16:creationId xmlns:a16="http://schemas.microsoft.com/office/drawing/2014/main" xmlns="" id="{5E5D1321-140F-411B-A86E-C4B80DCF8C59}"/>
              </a:ext>
            </a:extLst>
          </p:cNvPr>
          <p:cNvSpPr>
            <a:spLocks noGrp="1"/>
          </p:cNvSpPr>
          <p:nvPr/>
        </p:nvSpPr>
        <p:spPr>
          <a:xfrm>
            <a:off x="914400" y="4933950"/>
            <a:ext cx="10058400" cy="438150"/>
          </a:xfrm>
          <a:prstGeom prst="rect">
            <a:avLst/>
          </a:prstGeom>
          <a:noFill/>
          <a:ln w="0">
            <a:noFill/>
            <a:prstDash val="solid"/>
          </a:ln>
        </p:spPr>
        <p:txBody>
          <a:bodyPr anchor="ctr"/>
          <a:lstStyle/>
          <a:p>
            <a:pPr algn="ctr"/>
            <a:r>
              <a:rPr sz="1875" b="1">
                <a:solidFill>
                  <a:srgbClr val="FFFFFF"/>
                </a:solidFill>
              </a:rPr>
              <a:t>다음: 서버 문제 재현 → 자동 호출 검증 → 온프레미스 조건 확인</a:t>
            </a:r>
          </a:p>
        </p:txBody>
      </p:sp>
      <p:sp>
        <p:nvSpPr>
          <p:cNvPr id="20" name="직사각형 19">
            <a:extLst>
              <a:ext uri="{FF2B5EF4-FFF2-40B4-BE49-F238E27FC236}">
                <a16:creationId xmlns:a16="http://schemas.microsoft.com/office/drawing/2014/main" xmlns="" id="{2377E058-A833-4BE8-ABBD-B4EDE0721A80}"/>
              </a:ext>
            </a:extLst>
          </p:cNvPr>
          <p:cNvSpPr>
            <a:spLocks noGrp="1"/>
          </p:cNvSpPr>
          <p:nvPr/>
        </p:nvSpPr>
        <p:spPr>
          <a:xfrm>
            <a:off x="685800" y="5924550"/>
            <a:ext cx="10515600" cy="285750"/>
          </a:xfrm>
          <a:prstGeom prst="rect">
            <a:avLst/>
          </a:prstGeom>
          <a:noFill/>
          <a:ln w="0">
            <a:noFill/>
            <a:prstDash val="solid"/>
          </a:ln>
        </p:spPr>
        <p:txBody>
          <a:bodyPr anchor="ctr"/>
          <a:lstStyle/>
          <a:p>
            <a:pPr algn="ctr"/>
            <a:r>
              <a:rPr sz="1350" b="0">
                <a:solidFill>
                  <a:srgbClr val="BFD0DB"/>
                </a:solidFill>
              </a:rPr>
              <a:t>완료 기준: 실제 HTTP 재시험 · 캡처/로그 확보 · 모델 및 추론 위치 명시</a:t>
            </a:r>
          </a:p>
        </p:txBody>
      </p:sp>
    </p:spTree>
    <p:extLst>
      <p:ext uri="{BB962C8B-B14F-4D97-AF65-F5344CB8AC3E}">
        <p14:creationId xmlns:p14="http://schemas.microsoft.com/office/powerpoint/2010/main" val="29418153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1462</Words>
  <Application>Microsoft Office PowerPoint</Application>
  <DocSecurity>0</DocSecurity>
  <PresentationFormat>와이드스크린</PresentationFormat>
  <Paragraphs>237</Paragraphs>
  <Slides>12</Slides>
  <Notes>12</Notes>
  <HiddenSlides>0</HiddenSlides>
  <MMClips>0</MMClips>
  <ScaleCrop>false</ScaleCrop>
  <HeadingPairs>
    <vt:vector size="6" baseType="variant">
      <vt:variant>
        <vt:lpstr>사용한 글꼴</vt:lpstr>
      </vt:variant>
      <vt:variant>
        <vt:i4>1</vt:i4>
      </vt:variant>
      <vt:variant>
        <vt:lpstr>테마</vt:lpstr>
      </vt:variant>
      <vt:variant>
        <vt:i4>1</vt:i4>
      </vt:variant>
      <vt:variant>
        <vt:lpstr>슬라이드 제목</vt:lpstr>
      </vt:variant>
      <vt:variant>
        <vt:i4>12</vt:i4>
      </vt:variant>
    </vt:vector>
  </HeadingPairs>
  <TitlesOfParts>
    <vt:vector size="14" baseType="lpstr">
      <vt:lpstr>Calibri</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Microsoft 계정</cp:lastModifiedBy>
  <cp:revision>1</cp:revision>
  <dcterms:created xsi:type="dcterms:W3CDTF">2026-09-08T01:36:37Z</dcterms:created>
  <dcterms:modified xsi:type="dcterms:W3CDTF">2026-09-08T23:35:03Z</dcterms:modified>
</cp:coreProperties>
</file>