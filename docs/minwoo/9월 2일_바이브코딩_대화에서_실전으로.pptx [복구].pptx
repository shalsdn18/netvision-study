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4" autoAdjust="0"/>
    <p:restoredTop sz="94610"/>
  </p:normalViewPr>
  <p:slideViewPr>
    <p:cSldViewPr snapToGrid="0" snapToObjects="1">
      <p:cViewPr>
        <p:scale>
          <a:sx n="118" d="100"/>
          <a:sy n="118" d="100"/>
        </p:scale>
        <p:origin x="114" y="-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TerminalBench 2.0 (%)</c:v>
                </c:pt>
              </c:strCache>
            </c:strRef>
          </c:tx>
          <c:spPr>
            <a:solidFill>
              <a:srgbClr val="3B6E8F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E0872E"/>
              </a:solidFill>
              <a:effectLst/>
            </c:spPr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변경 전
(기본 하네스)</c:v>
                </c:pt>
                <c:pt idx="1">
                  <c:v>변경 후
(최적화 하네스)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52.8</c:v>
                </c:pt>
                <c:pt idx="1">
                  <c:v>66.5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08136320"/>
        <c:axId val="1808121088"/>
      </c:barChart>
      <c:catAx>
        <c:axId val="18081363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Arial"/>
              </a:defRPr>
            </a:pPr>
            <a:endParaRPr lang="ko-KR"/>
          </a:p>
        </c:txPr>
        <c:crossAx val="1808121088"/>
        <c:crosses val="autoZero"/>
        <c:auto val="1"/>
        <c:lblAlgn val="ctr"/>
        <c:lblOffset val="100"/>
        <c:noMultiLvlLbl val="1"/>
      </c:catAx>
      <c:valAx>
        <c:axId val="1808121088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1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Arial"/>
              </a:defRPr>
            </a:pPr>
            <a:endParaRPr lang="ko-KR"/>
          </a:p>
        </c:txPr>
        <c:crossAx val="1808136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369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05840"/>
            <a:ext cx="914400" cy="731520"/>
          </a:xfrm>
          <a:prstGeom prst="line">
            <a:avLst/>
          </a:prstGeom>
          <a:noFill/>
          <a:ln w="12700">
            <a:solidFill>
              <a:srgbClr val="3B6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1737360"/>
            <a:ext cx="0" cy="640080"/>
          </a:xfrm>
          <a:prstGeom prst="line">
            <a:avLst/>
          </a:prstGeom>
          <a:noFill/>
          <a:ln w="12700">
            <a:solidFill>
              <a:srgbClr val="3B6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2377440"/>
            <a:ext cx="1828800" cy="365760"/>
          </a:xfrm>
          <a:prstGeom prst="line">
            <a:avLst/>
          </a:prstGeom>
          <a:noFill/>
          <a:ln w="12700">
            <a:solidFill>
              <a:srgbClr val="3B6E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2743200"/>
            <a:ext cx="0" cy="548640"/>
          </a:xfrm>
          <a:prstGeom prst="line">
            <a:avLst/>
          </a:prstGeom>
          <a:noFill/>
          <a:ln w="12700">
            <a:solidFill>
              <a:srgbClr val="3B6E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37776" y="950976"/>
            <a:ext cx="109728" cy="10972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7" name="Shape 5"/>
          <p:cNvSpPr/>
          <p:nvPr/>
        </p:nvSpPr>
        <p:spPr>
          <a:xfrm>
            <a:off x="10552176" y="1682496"/>
            <a:ext cx="109728" cy="10972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8" name="Shape 6"/>
          <p:cNvSpPr/>
          <p:nvPr/>
        </p:nvSpPr>
        <p:spPr>
          <a:xfrm>
            <a:off x="9272016" y="2322576"/>
            <a:ext cx="109728" cy="10972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9" name="Shape 7"/>
          <p:cNvSpPr/>
          <p:nvPr/>
        </p:nvSpPr>
        <p:spPr>
          <a:xfrm>
            <a:off x="11100816" y="2688336"/>
            <a:ext cx="109728" cy="10972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0" name="Shape 8"/>
          <p:cNvSpPr/>
          <p:nvPr/>
        </p:nvSpPr>
        <p:spPr>
          <a:xfrm>
            <a:off x="10003536" y="3236976"/>
            <a:ext cx="109728" cy="10972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스터디 세미나 · 2026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2402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바이브 코딩, 대화에서 실전으로</a:t>
            </a:r>
            <a:endParaRPr lang="en-US" sz="4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291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패러다임의 전환부터, 여섯 단계 실전 루프까지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1280160" cy="0"/>
          </a:xfrm>
          <a:prstGeom prst="line">
            <a:avLst/>
          </a:prstGeom>
          <a:noFill/>
          <a:ln w="31750">
            <a:solidFill>
              <a:srgbClr val="E08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왜 바뀌는가        Part 2 · 실전 6단계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왜 바뀌는가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개발 패러다임의 4단계 진화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83080"/>
            <a:ext cx="2423160" cy="27432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778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4088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560320"/>
            <a:ext cx="2020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3355848"/>
            <a:ext cx="2020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인간이 한 줄씩 작성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" y="3995928"/>
            <a:ext cx="2020824" cy="310896"/>
          </a:xfrm>
          <a:prstGeom prst="rect">
            <a:avLst/>
          </a:prstGeom>
          <a:solidFill>
            <a:srgbClr val="6B7785">
              <a:alpha val="12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" y="3995928"/>
            <a:ext cx="2020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8803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182112" y="1783080"/>
            <a:ext cx="2423160" cy="27432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6E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8328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560320"/>
            <a:ext cx="2020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355848"/>
            <a:ext cx="2020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Copilot형 자동완성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3995928"/>
            <a:ext cx="2020824" cy="310896"/>
          </a:xfrm>
          <a:prstGeom prst="rect">
            <a:avLst/>
          </a:prstGeom>
          <a:solidFill>
            <a:srgbClr val="3B6E8F">
              <a:alpha val="12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383280" y="3995928"/>
            <a:ext cx="2020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인간이 리뷰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605272" y="28803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861304" y="1783080"/>
            <a:ext cx="2423160" cy="27432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62472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087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062472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062472" y="2560320"/>
            <a:ext cx="2020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 Coding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(2025)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062472" y="3355848"/>
            <a:ext cx="2020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지시, 결과 위주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62472" y="3995928"/>
            <a:ext cx="2020824" cy="310896"/>
          </a:xfrm>
          <a:prstGeom prst="rect">
            <a:avLst/>
          </a:prstGeom>
          <a:solidFill>
            <a:srgbClr val="E0872E">
              <a:alpha val="12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062472" y="3995928"/>
            <a:ext cx="2020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All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84464" y="28803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540496" y="1783080"/>
            <a:ext cx="2423160" cy="27432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741664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FA7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41664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741664" y="2560320"/>
            <a:ext cx="2020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(2026)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741664" y="3355848"/>
            <a:ext cx="2020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설계 + Eval 루프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741664" y="3995928"/>
            <a:ext cx="2020824" cy="310896"/>
          </a:xfrm>
          <a:prstGeom prst="rect">
            <a:avLst/>
          </a:prstGeom>
          <a:solidFill>
            <a:srgbClr val="3FA796">
              <a:alpha val="12000"/>
            </a:srgbClr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741664" y="3995928"/>
            <a:ext cx="2020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480060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1F2E3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1520" y="4800600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0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중간 단계가 필요한가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“AI를 조금이라도 쓰면 바이브 코딩인가?” 라는 질문에 답하려면 AI-assisted 단계를 구분해야 한다. 이 덱의 Part 2는 3~4번째 단계를 실무에 붙이는 방법을 다룬다.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왜 바뀌는가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 Coding이란?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54864" cy="1417320"/>
          </a:xfrm>
          <a:prstGeom prst="rect">
            <a:avLst/>
          </a:prstGeom>
          <a:solidFill>
            <a:srgbClr val="E08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8288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2월 2일, Andrej Karpathy가 제안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286000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직접 검토하지 않고 AI의 제안을 그대로 수용하며(Accept All), 결과와 느낌(Vibe)에 의존해 반복적으로 완성해가는 개발 방식.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461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(카파시 본인의 원문 취지를 요약·파라프레이즈한 것)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4343400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특징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434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검증 수단이 코드 리뷰 → 결과물을 눈으로 확인(Human Eyeballing)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72744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자연어 의도 전달 → 지속적 피드백 루프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1149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비개발자도 진입 가능 — 진입장벽을 크게 낮춤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1600200"/>
            <a:ext cx="5696712" cy="4480560"/>
          </a:xfrm>
          <a:prstGeom prst="roundRect">
            <a:avLst>
              <a:gd name="adj" fmla="val 1633"/>
            </a:avLst>
          </a:prstGeom>
          <a:solidFill>
            <a:srgbClr val="15202B"/>
          </a:solidFill>
          <a:ln/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63640" y="18105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 반복 루프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2423160"/>
            <a:ext cx="457200" cy="457200"/>
          </a:xfrm>
          <a:prstGeom prst="ellipse">
            <a:avLst/>
          </a:prstGeom>
          <a:solidFill>
            <a:srgbClr val="3B6E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395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23957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정의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2880360"/>
            <a:ext cx="0" cy="201168"/>
          </a:xfrm>
          <a:prstGeom prst="line">
            <a:avLst/>
          </a:prstGeom>
          <a:noFill/>
          <a:ln w="15875">
            <a:solidFill>
              <a:srgbClr val="3B6E8F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309360" y="3081528"/>
            <a:ext cx="457200" cy="457200"/>
          </a:xfrm>
          <a:prstGeom prst="ellipse">
            <a:avLst/>
          </a:prstGeom>
          <a:solidFill>
            <a:srgbClr val="3B6E8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30540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098280" y="30540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구성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3538728"/>
            <a:ext cx="0" cy="201168"/>
          </a:xfrm>
          <a:prstGeom prst="line">
            <a:avLst/>
          </a:prstGeom>
          <a:noFill/>
          <a:ln w="15875">
            <a:solidFill>
              <a:srgbClr val="3B6E8F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309360" y="3739896"/>
            <a:ext cx="457200" cy="457200"/>
          </a:xfrm>
          <a:prstGeom prst="ellipse">
            <a:avLst/>
          </a:prstGeom>
          <a:solidFill>
            <a:srgbClr val="3B6E8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09360" y="3739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371246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098280" y="37124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및 관찰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4197096"/>
            <a:ext cx="0" cy="201168"/>
          </a:xfrm>
          <a:prstGeom prst="line">
            <a:avLst/>
          </a:prstGeom>
          <a:noFill/>
          <a:ln w="15875">
            <a:solidFill>
              <a:srgbClr val="3B6E8F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309360" y="4398264"/>
            <a:ext cx="457200" cy="457200"/>
          </a:xfrm>
          <a:prstGeom prst="ellipse">
            <a:avLst/>
          </a:prstGeom>
          <a:solidFill>
            <a:srgbClr val="3B6E8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0936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43708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098280" y="4370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피드백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37960" y="4855464"/>
            <a:ext cx="0" cy="201168"/>
          </a:xfrm>
          <a:prstGeom prst="line">
            <a:avLst/>
          </a:prstGeom>
          <a:noFill/>
          <a:ln w="15875">
            <a:solidFill>
              <a:srgbClr val="3B6E8F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309360" y="5056632"/>
            <a:ext cx="457200" cy="457200"/>
          </a:xfrm>
          <a:prstGeom prst="ellipse">
            <a:avLst/>
          </a:prstGeom>
          <a:solidFill>
            <a:srgbClr val="E0872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09360" y="5056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5029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098280" y="5029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수정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309360" y="5669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0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만족스러울 때까지 1→5 반복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왜 바뀌는가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빠르다는 착각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3B6E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361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 랜덤화대조실험(RCT) · 2025.7 · 숙련 오픈소스 개발자 16명 · 실제 이슈 246개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1F2E3D"/>
          </a:solidFill>
          <a:ln w="19050">
            <a:solidFill>
              <a:srgbClr val="E087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4688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08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−19%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결과 — 더 오래 걸림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2025년 AI 도구 사용 허용 조건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9080" y="2148840"/>
            <a:ext cx="7619695" cy="2286000"/>
          </a:xfrm>
          <a:prstGeom prst="roundRect">
            <a:avLst>
              <a:gd name="adj" fmla="val 3200"/>
            </a:avLst>
          </a:prstGeom>
          <a:solidFill>
            <a:srgbClr val="1F2E3D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2514600"/>
            <a:ext cx="6888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전 기대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807208"/>
            <a:ext cx="68881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+24%  </a:t>
            </a:r>
            <a:r>
              <a:rPr lang="en-US" sz="13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빨라질 것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429000"/>
            <a:ext cx="6888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후 체감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3721608"/>
            <a:ext cx="68881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 </a:t>
            </a:r>
            <a:r>
              <a:rPr lang="en-US" sz="13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빨라졌다고 느낌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2920" y="4754880"/>
            <a:ext cx="11185855" cy="566928"/>
          </a:xfrm>
          <a:prstGeom prst="roundRect">
            <a:avLst>
              <a:gd name="adj" fmla="val 9677"/>
            </a:avLst>
          </a:prstGeom>
          <a:solidFill>
            <a:srgbClr val="3FA796">
              <a:alpha val="1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754880"/>
            <a:ext cx="107286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교훈: 생성량이 아니라 완료 시간과 검증 비용을 측정한다.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542239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특정 개발자·저장소·도구 조건의 RCT이며 전체 개발을 일반화하지 않음 · METR은 2026년 초 후속실험에서 선택편향으로 해석에 한계가 있었다고 밝힘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왜 바뀌는가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생산성 뒤에 쌓이는 보안 부채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00200"/>
            <a:ext cx="2606040" cy="73152"/>
          </a:xfrm>
          <a:prstGeom prst="rect">
            <a:avLst/>
          </a:prstGeom>
          <a:solidFill>
            <a:srgbClr val="E08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9280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8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4261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08376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취약한 코드를 만들고도 더 안전하다고 믿음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160020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600200"/>
            <a:ext cx="2606040" cy="73152"/>
          </a:xfrm>
          <a:prstGeom prst="rect">
            <a:avLst/>
          </a:prstGeom>
          <a:solidFill>
            <a:srgbClr val="E087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47288" y="189280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8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6→35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64261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Tech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3008376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코드 관련 CVE, 2026년 1~3월 (6배)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17336" y="160020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17336" y="1600200"/>
            <a:ext cx="2606040" cy="73152"/>
          </a:xfrm>
          <a:prstGeom prst="rect">
            <a:avLst/>
          </a:prstGeom>
          <a:solidFill>
            <a:srgbClr val="E087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54496" y="189280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8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15/15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64261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Tenzai · CIO.com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00216" y="3008376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앱 전체에서 취약점 발견, 총 69건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24544" y="160020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24544" y="1600200"/>
            <a:ext cx="2606040" cy="73152"/>
          </a:xfrm>
          <a:prstGeom prst="rect">
            <a:avLst/>
          </a:prstGeom>
          <a:solidFill>
            <a:srgbClr val="E087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61704" y="189280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8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9061704" y="264261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슬롭스쿼팅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07424" y="3008376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패키지명이 재실행해도 동일하게 반복되는 비율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279392"/>
            <a:ext cx="11185855" cy="868680"/>
          </a:xfrm>
          <a:prstGeom prst="roundRect">
            <a:avLst>
              <a:gd name="adj" fmla="val 6316"/>
            </a:avLst>
          </a:prstGeom>
          <a:solidFill>
            <a:srgbClr val="1520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279392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사건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240280" y="4279392"/>
            <a:ext cx="91741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Kiro가 환경을 삭제/재생성하기로 결정해 13시간 장애 (2025.12)
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Moonwell · 오라클 설정 오류로 $1.8M 배드데트 발생 (2026.2, AI 생성 코드 의심 정황 보도)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왜 바뀌는가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“Vibe Coding은 이제 Passé”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08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 · Sequoia Capital AI Ascent · 2026.4.30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585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434840"/>
                <a:gridCol w="443484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Vibe Coding (2025)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Engineering (2026)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지향점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바닥(Floor) 높임 — 비개발자도 구축 가능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천장(Ceiling) 높임 — 전문가가 더 큰 시스템 구축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코드 리뷰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거의 안 함 (Diff 미확인, Accept All)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필수 — 정확성·아키텍처 검증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적합 대상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프로토타입, 단기 사이드 프로젝트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상용 프로덕션 시스템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책임 소재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암묵적 — AI가 짠 대로 방치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인간이 명시적으로 책임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02920" y="4983480"/>
            <a:ext cx="11185855" cy="548640"/>
          </a:xfrm>
          <a:prstGeom prst="roundRect">
            <a:avLst>
              <a:gd name="adj" fmla="val 10000"/>
            </a:avLst>
          </a:prstGeom>
          <a:solidFill>
            <a:srgbClr val="E0872E">
              <a:alpha val="12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498348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선언의 의미는 '종말'이 아니라 '한계 인정' — 프로토타입에는 바이브 코딩이 여전히 유효하다.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실전 6단계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숙제는 '더 길게 대화하기'가 아니었다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64008" cy="914400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28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대화로 하지 말고, 도구를 써서 요구사항을 정의하고 설계한 다음, 그 설계대로 코딩하게 하라.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8412480" cy="0"/>
          </a:xfrm>
          <a:prstGeom prst="line">
            <a:avLst/>
          </a:prstGeom>
          <a:noFill/>
          <a:ln w="25400">
            <a:solidFill>
              <a:srgbClr val="1A23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7033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어떤 도구를 쓰느냐보다, 언제 대화에서 문서와 검증으로 승격할 것인가?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663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1이 '왜'를 다뤘다면, 지금부터는 그 승격 기준과 실제 작업 순서를 다룬다.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경계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프롬프트 → 코드만 반복하면 속도는 나지만 통제는 사라진다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3B6E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대화형 바이브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86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말한다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788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생성된다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일단 실행한다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160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첫 화면에는 강하다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89320" y="1828800"/>
            <a:ext cx="0" cy="2926080"/>
          </a:xfrm>
          <a:prstGeom prst="line">
            <a:avLst/>
          </a:prstGeom>
          <a:noFill/>
          <a:ln w="12700">
            <a:solidFill>
              <a:srgbClr val="3B6E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828800"/>
            <a:ext cx="5242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실전형 바이브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86000"/>
            <a:ext cx="5242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의도를 문서화한다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743200"/>
            <a:ext cx="5242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설계 경계를 정한다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200400"/>
            <a:ext cx="5242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작은 단위로 맡긴다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657600"/>
            <a:ext cx="5242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증거로 검증한다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389120"/>
            <a:ext cx="5242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가능한 결과물로 닫는다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승격 기준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작고 되돌리기 쉬우면 대화로, 커지고 위험해지면 문서로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8288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대화로 충분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3317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한 파일 안의 작은 수정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71576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실패해도 바로 되돌릴 수 있음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09981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완료 조건이 눈으로 명확함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48386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데이터·권한·비용 영향이 낮음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828800"/>
            <a:ext cx="5562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문서와 검증이 필요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331720"/>
            <a:ext cx="5562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여러 파일·서비스가 연결됨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715768"/>
            <a:ext cx="5562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요구사항이 자주 바뀜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099816"/>
            <a:ext cx="5562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인증·결제·개인정보를 다룸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483864"/>
            <a:ext cx="5562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다른 사람이 이어받아야 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1828800"/>
            <a:ext cx="0" cy="201168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846320"/>
            <a:ext cx="11185855" cy="0"/>
          </a:xfrm>
          <a:prstGeom prst="line">
            <a:avLst/>
          </a:prstGeom>
          <a:noFill/>
          <a:ln w="12700">
            <a:solidFill>
              <a:srgbClr val="6B77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90008" y="457200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90008" y="4572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승격 기준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16636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범위 × 위험 × 인계 필요성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실전 방법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실전 바이브 코딩은 여섯 단계의 닫힌 루프다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3B6E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011680"/>
            <a:ext cx="1742389" cy="1371600"/>
          </a:xfrm>
          <a:prstGeom prst="roundRect">
            <a:avLst>
              <a:gd name="adj" fmla="val 5333"/>
            </a:avLst>
          </a:prstGeom>
          <a:solidFill>
            <a:srgbClr val="1F2E3D"/>
          </a:solidFill>
          <a:ln w="15875">
            <a:solidFill>
              <a:srgbClr val="8FC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21031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C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95728"/>
            <a:ext cx="1559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 계약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2245309" y="2011680"/>
            <a:ext cx="1463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91613" y="2011680"/>
            <a:ext cx="1742389" cy="1371600"/>
          </a:xfrm>
          <a:prstGeom prst="roundRect">
            <a:avLst>
              <a:gd name="adj" fmla="val 5333"/>
            </a:avLst>
          </a:prstGeom>
          <a:solidFill>
            <a:srgbClr val="1F2E3D"/>
          </a:solidFill>
          <a:ln w="15875">
            <a:solidFill>
              <a:srgbClr val="8FCB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01341" y="21031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C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83053" y="2395728"/>
            <a:ext cx="1559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134002" y="2011680"/>
            <a:ext cx="1463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80306" y="2011680"/>
            <a:ext cx="1742389" cy="1371600"/>
          </a:xfrm>
          <a:prstGeom prst="roundRect">
            <a:avLst>
              <a:gd name="adj" fmla="val 5333"/>
            </a:avLst>
          </a:prstGeom>
          <a:solidFill>
            <a:srgbClr val="1F2E3D"/>
          </a:solidFill>
          <a:ln w="15875">
            <a:solidFill>
              <a:srgbClr val="8FCB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90034" y="21031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C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371746" y="2395728"/>
            <a:ext cx="1559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022696" y="2011680"/>
            <a:ext cx="1463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69000" y="2011680"/>
            <a:ext cx="1742389" cy="1371600"/>
          </a:xfrm>
          <a:prstGeom prst="roundRect">
            <a:avLst>
              <a:gd name="adj" fmla="val 5333"/>
            </a:avLst>
          </a:prstGeom>
          <a:solidFill>
            <a:srgbClr val="1F2E3D"/>
          </a:solidFill>
          <a:ln w="15875">
            <a:solidFill>
              <a:srgbClr val="4FC3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78728" y="21031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60440" y="2395728"/>
            <a:ext cx="1559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하네스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7911389" y="2011680"/>
            <a:ext cx="1463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57693" y="2011680"/>
            <a:ext cx="1742389" cy="1371600"/>
          </a:xfrm>
          <a:prstGeom prst="roundRect">
            <a:avLst>
              <a:gd name="adj" fmla="val 5333"/>
            </a:avLst>
          </a:prstGeom>
          <a:solidFill>
            <a:srgbClr val="1F2E3D"/>
          </a:solidFill>
          <a:ln w="15875">
            <a:solidFill>
              <a:srgbClr val="4FC3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67421" y="21031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49133" y="2395728"/>
            <a:ext cx="1559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9800082" y="2011680"/>
            <a:ext cx="1463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946386" y="2011680"/>
            <a:ext cx="1742389" cy="1371600"/>
          </a:xfrm>
          <a:prstGeom prst="roundRect">
            <a:avLst>
              <a:gd name="adj" fmla="val 5333"/>
            </a:avLst>
          </a:prstGeom>
          <a:solidFill>
            <a:srgbClr val="1F2E3D"/>
          </a:solidFill>
          <a:ln w="15875">
            <a:solidFill>
              <a:srgbClr val="4FC3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6114" y="21031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37826" y="2395728"/>
            <a:ext cx="1559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3566160"/>
            <a:ext cx="201670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목표·문맥·제약·완료 조건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254453" y="3566160"/>
            <a:ext cx="201670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누구의 어떤 문제인지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143146" y="3566160"/>
            <a:ext cx="201670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흐름·인터페이스·데이터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031840" y="3566160"/>
            <a:ext cx="201670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규칙·권한·복구·테스트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920533" y="3566160"/>
            <a:ext cx="201670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변경 단위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809226" y="3566160"/>
            <a:ext cx="201670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증거로 판정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44348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 결과가 다음 작업 계약을 갱신한다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93776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검증 → 1 작업 계약으로 순환 (오른쪽에서 왼쪽으로 진행)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작업 계약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좋은 시작은 프롬프트가 아니라 '작업 계약'이다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달라져야 하는가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4572000" cy="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788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788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문맥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788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어디를 읽고 무엇을 보존할 것인가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611880"/>
            <a:ext cx="4572000" cy="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749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749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제약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749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 말아야 할 변경은 무엇인가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572000"/>
            <a:ext cx="4572000" cy="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709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709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조건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788920" y="4709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보여주면 끝인가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0" y="1600200"/>
            <a:ext cx="5745175" cy="4480560"/>
          </a:xfrm>
          <a:prstGeom prst="roundRect">
            <a:avLst>
              <a:gd name="adj" fmla="val 1633"/>
            </a:avLst>
          </a:prstGeom>
          <a:solidFill>
            <a:srgbClr val="15202B"/>
          </a:solidFill>
          <a:ln/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6364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예시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2194560"/>
            <a:ext cx="5105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C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목표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2487168"/>
            <a:ext cx="51050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로컬 LLM에 질문하는 POST /chat 구현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163824"/>
            <a:ext cx="5105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C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문맥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3456432"/>
            <a:ext cx="51050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기존 FastAPI 구조와 JSON 응답 유지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4133088"/>
            <a:ext cx="5105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C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제약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4425696"/>
            <a:ext cx="51050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새 프레임워크 추가 금지, 타임아웃 15초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5102352"/>
            <a:ext cx="5105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C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완료 조건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5394960"/>
            <a:ext cx="51050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테스트 통과 + 한국어 응답 + 오류 예시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6025896"/>
            <a:ext cx="5105095" cy="0"/>
          </a:xfrm>
          <a:prstGeom prst="line">
            <a:avLst/>
          </a:prstGeom>
          <a:noFill/>
          <a:ln w="9525">
            <a:solidFill>
              <a:srgbClr val="3B6E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3640" y="6163056"/>
            <a:ext cx="5105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이 4줄이 다음 단계(PRD·설계·구현)의 기준선이 된다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·  PRD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PRD는 길게 쓰는 문서가 아니라 판단을 고정하는 한 장이다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783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언제 쓰는가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7406640" cy="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359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35915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무엇이 불편한가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816352"/>
            <a:ext cx="7406640" cy="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9352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흐름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2935224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어떤 순서로 성공하는가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392424"/>
            <a:ext cx="7406640" cy="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351129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511296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이번에 반드시 포함할 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968496"/>
            <a:ext cx="7406640" cy="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40873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408736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이번에는 만들지 않을 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544568"/>
            <a:ext cx="7406640" cy="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663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 조건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46634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동작을 판정할 테스트 문장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0" y="1783080"/>
            <a:ext cx="3459175" cy="3566160"/>
          </a:xfrm>
          <a:prstGeom prst="roundRect">
            <a:avLst>
              <a:gd name="adj" fmla="val 2643"/>
            </a:avLst>
          </a:prstGeom>
          <a:solidFill>
            <a:srgbClr val="F1F0E8"/>
          </a:solidFill>
          <a:ln w="15875">
            <a:solidFill>
              <a:srgbClr val="3FA79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0" y="2011680"/>
            <a:ext cx="2910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PRD의 기준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2514600"/>
            <a:ext cx="29105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읽었을 때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추측할 빈칸이 줄고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3429000"/>
            <a:ext cx="29105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읽었을 때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포기할 범위가 보이며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4343400"/>
            <a:ext cx="29105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테스트가 읽었을 때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성공·실패가 갈린다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설계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설계는 '코드 모양'보다 입력과 출력의 경계를 먼저 그린다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3B6E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3768" y="21945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F2E3D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3768" y="219456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6608" y="32461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형식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483968" y="21945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48560" y="21945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F2E3D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48560" y="219456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511400" y="32461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언어·길이·금칙어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248760" y="21945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13352" y="21945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F2E3D"/>
          </a:solidFill>
          <a:ln w="19050">
            <a:solidFill>
              <a:srgbClr val="8FCB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13352" y="219456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C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76192" y="32461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모델·온도·시간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013552" y="21945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8144" y="21945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F2E3D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8144" y="219456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검색·보강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40984" y="32461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근거·문서·도구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778344" y="21945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942936" y="21945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F2E3D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42936" y="219456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후처리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05776" y="32461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검증·재시도·정리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543136" y="219456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707728" y="21945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F2E3D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07728" y="219456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570568" y="32461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JSON·오류 코드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429768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1F2E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429768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흐름 하나가 체인이고, 여러 체인과 자원·시간·권한을 제어하면 오케스트레이션이 된다.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·  하네스 · 증거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모델이 아니라 하네스가 성능을 가른다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08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자사 블로그, 2026.2.17 — 모델(GPT-5.2-Codex) 고정, 하네스만 교체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63093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TerminalBench 2.0 점수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22960" y="2487168"/>
          <a:ext cx="566928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452360" y="1920240"/>
            <a:ext cx="4236415" cy="1874520"/>
          </a:xfrm>
          <a:prstGeom prst="roundRect">
            <a:avLst>
              <a:gd name="adj" fmla="val 3902"/>
            </a:avLst>
          </a:prstGeom>
          <a:solidFill>
            <a:srgbClr val="15202B"/>
          </a:solidFill>
          <a:ln/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26680" y="2103120"/>
            <a:ext cx="3687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순위 변화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2395728"/>
            <a:ext cx="3687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30권 → Top 5</a:t>
            </a:r>
            <a:endParaRPr lang="en-US" sz="25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3108960"/>
            <a:ext cx="368777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+13.7%p 상승 — 모델은 동일, 하네스만 변경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52360" y="3977640"/>
            <a:ext cx="423641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80960" y="4096512"/>
            <a:ext cx="3779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 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툴 80% 제거 → 성공률 80%→100%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680960" y="4480560"/>
            <a:ext cx="3779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Princeton CORE-Bench  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모델, 스캐폴드만 다르게 42%→78%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452360" y="5029200"/>
            <a:ext cx="4236415" cy="1051560"/>
          </a:xfrm>
          <a:prstGeom prst="roundRect">
            <a:avLst>
              <a:gd name="adj" fmla="val 6957"/>
            </a:avLst>
          </a:prstGeom>
          <a:solidFill>
            <a:srgbClr val="E0872E">
              <a:alpha val="10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80960" y="5029200"/>
            <a:ext cx="37792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모델을 교체해 5% 개선하는 것보다, 하네스를 설계해 15% 개선하는 것이 현실적이다.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·  하네스 · 구성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하네스는 모델이 아니라 '일하는 환경'을 설계하는 일이다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96596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8FCB3E"/>
            </a:solidFill>
            <a:prstDash val="solid"/>
          </a:ln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2167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규칙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157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/ 팀 기준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762695" y="196596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8FCB3E"/>
            </a:solidFill>
            <a:prstDash val="solid"/>
          </a:ln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991295" y="2167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도구·권한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991295" y="27157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 우선 / 승인선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4FC3D9"/>
            </a:solidFill>
            <a:prstDash val="solid"/>
          </a:ln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43616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문맥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9103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/ 설계 / 인계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62695" y="416052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4FC3D9"/>
            </a:solidFill>
            <a:prstDash val="solid"/>
          </a:ln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91295" y="43616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검증·복구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991295" y="49103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/ diff / rollback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07128" y="306324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1A2332"/>
          </a:solidFill>
          <a:ln/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907128" y="30632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 flipV="1">
            <a:off x="3429000" y="3063240"/>
            <a:ext cx="1478128" cy="32004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 flipV="1">
            <a:off x="7284568" y="3063240"/>
            <a:ext cx="1478128" cy="32004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4160520"/>
            <a:ext cx="1478128" cy="9144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7284568" y="4160520"/>
            <a:ext cx="1478128" cy="9144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585216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하네스가 강할수록 더 많이 맡기면서도 덜 불안하다.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·  도구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도구는 서열이 아니라 역할로 섞는다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783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탐색·정리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· Gemini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080760" y="1783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비교, 질문 구체화, PRD 초안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11185855" cy="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설계·시각화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560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도구 · Canva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2560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흐름도, 스토리보드, 발표 자료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11185855" cy="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3337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구현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· Claude Code · Cursor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3375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탐색, 수정, 테스트, diff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11185855" cy="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검증·합류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· CI · GitHub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4114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재현, 자동 테스트, 리뷰, 되돌리기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120640"/>
            <a:ext cx="11185855" cy="594360"/>
          </a:xfrm>
          <a:prstGeom prst="roundRect">
            <a:avLst>
              <a:gd name="adj" fmla="val 9231"/>
            </a:avLst>
          </a:prstGeom>
          <a:solidFill>
            <a:srgbClr val="1A23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512064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도구에 끝까지 버티지 말고, 질문이 바뀌면 작업 창구를 바꾼다.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·  검증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검증은 AI에게 '잘했니?'라고 다시 묻는 일이 아니다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3B6E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74520"/>
            <a:ext cx="3520440" cy="0"/>
          </a:xfrm>
          <a:prstGeom prst="line">
            <a:avLst/>
          </a:prstGeom>
          <a:noFill/>
          <a:ln w="38100">
            <a:solidFill>
              <a:srgbClr val="8FC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1031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결정적 검사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6517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형식·숫자·기한·스키마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테스트·lint·타입·쿼리 결과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874520"/>
            <a:ext cx="3520440" cy="0"/>
          </a:xfrm>
          <a:prstGeom prst="line">
            <a:avLst/>
          </a:prstGeom>
          <a:noFill/>
          <a:ln w="38100">
            <a:solidFill>
              <a:srgbClr val="4FC3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21031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동작 관찰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6517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API 호출·화면·로그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오류·타임아웃·경계값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2440" y="1874520"/>
            <a:ext cx="3520440" cy="0"/>
          </a:xfrm>
          <a:prstGeom prst="line">
            <a:avLst/>
          </a:prstGeom>
          <a:noFill/>
          <a:ln w="38100">
            <a:solidFill>
              <a:srgbClr val="E08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21031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사람 판단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26517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diff·보안·설계 의도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배포·승인·책임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206240"/>
            <a:ext cx="11185855" cy="777240"/>
          </a:xfrm>
          <a:prstGeom prst="roundRect">
            <a:avLst>
              <a:gd name="adj" fmla="val 7059"/>
            </a:avLst>
          </a:prstGeom>
          <a:solidFill>
            <a:srgbClr val="1F2E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20624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LLM은 설명과 후보 생성에 강하고, 판정은 가능한 한 코드와 증거에 맡긴다.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1663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세미나 사례: 숫자·기한은 즉시 검증, 설명은 LLM 활용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 ·  책임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AI의 답을 전달하지 말고, 자기 판단을 전달한다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고기 프록시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만든 코드·문서를 이해 없이 다른 사람에게 그대로 넘기는 인간 전달자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063240"/>
            <a:ext cx="4846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C65D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46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 → 전달 → 책임 전가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947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“AI가 이렇게 말했습니다”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06440" y="1783080"/>
            <a:ext cx="5882335" cy="4297680"/>
          </a:xfrm>
          <a:prstGeom prst="roundRect">
            <a:avLst>
              <a:gd name="adj" fmla="val 1702"/>
            </a:avLst>
          </a:prstGeom>
          <a:solidFill>
            <a:srgbClr val="15202B"/>
          </a:solidFill>
          <a:ln/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26480" y="2011680"/>
            <a:ext cx="5242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C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소화 → 검증 → 재구성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2606040"/>
            <a:ext cx="365760" cy="365760"/>
          </a:xfrm>
          <a:prstGeom prst="ellipse">
            <a:avLst/>
          </a:prstGeom>
          <a:solidFill>
            <a:srgbClr val="8FCB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587752"/>
            <a:ext cx="4739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맡겼는지 말한다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3172968"/>
            <a:ext cx="365760" cy="365760"/>
          </a:xfrm>
          <a:prstGeom prst="ellipse">
            <a:avLst/>
          </a:prstGeom>
          <a:solidFill>
            <a:srgbClr val="8FCB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154680"/>
            <a:ext cx="4739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무엇으로 검증했는지 보여준다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3739896"/>
            <a:ext cx="365760" cy="365760"/>
          </a:xfrm>
          <a:prstGeom prst="ellipse">
            <a:avLst/>
          </a:prstGeom>
          <a:solidFill>
            <a:srgbClr val="8FCB3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26480" y="3739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721608"/>
            <a:ext cx="4739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위험을 자기 언어로 설명한다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4306824"/>
            <a:ext cx="365760" cy="365760"/>
          </a:xfrm>
          <a:prstGeom prst="ellipse">
            <a:avLst/>
          </a:prstGeom>
          <a:solidFill>
            <a:srgbClr val="8FCB3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26480" y="4306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288536"/>
            <a:ext cx="4739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선택과 책임은 사람이 진다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 ·  실습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실습: 로컬 LLM API를 '문서부터' 만든다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737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0116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/chat 하나를 만들고, 실패해도 설명 가능한 상태로 닫기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계약 4줄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66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6674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1페이지 PRD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087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873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체인 설계도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507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507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diff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928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92861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증거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5486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처음에는 챗봇 전체가 아니라 '문자열 입력 → 응답 반환'부터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1737360"/>
            <a:ext cx="5333695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76200" dist="25400" dir="5400000" algn="bl" rotWithShape="0">
              <a:srgbClr val="0B1118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629400" y="1920240"/>
            <a:ext cx="47850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조건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2331720"/>
            <a:ext cx="478505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질문을 JSON으로 받는다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2816352"/>
            <a:ext cx="478505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로컬 모델을 호출한다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3300984"/>
            <a:ext cx="478505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한국어 응답과 길이를 보장한다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3785616"/>
            <a:ext cx="478505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15초 타임아웃과 오류 응답이 있다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270248"/>
            <a:ext cx="478505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정상·오류 테스트가 모두 통과한다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4754880"/>
            <a:ext cx="478505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변경 이유와 남은 위험을 설명한다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FC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마지막으로 세 문장만 남긴다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1732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맡길 것인가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9601200" cy="0"/>
          </a:xfrm>
          <a:prstGeom prst="line">
            <a:avLst/>
          </a:prstGeom>
          <a:noFill/>
          <a:ln w="9525">
            <a:solidFill>
              <a:srgbClr val="3B6E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207568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무엇으로 검증할 것인가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2624328"/>
            <a:ext cx="9601200" cy="0"/>
          </a:xfrm>
          <a:prstGeom prst="line">
            <a:avLst/>
          </a:prstGeom>
          <a:noFill/>
          <a:ln w="9525">
            <a:solidFill>
              <a:srgbClr val="3B6E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734056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끝까지 책임질 것인가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3712464"/>
            <a:ext cx="11185855" cy="1005840"/>
          </a:xfrm>
          <a:prstGeom prst="roundRect">
            <a:avLst>
              <a:gd name="adj" fmla="val 9091"/>
            </a:avLst>
          </a:prstGeom>
          <a:solidFill>
            <a:srgbClr val="8FCB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712464"/>
            <a:ext cx="1045433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코딩의 실력은 많이 생성하는 능력이 아니라,</a:t>
            </a:r>
            <a:endParaRPr lang="en-US" sz="15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정확히 맡기고 싸게 검증하고 책임 있게 닫는 능력이다.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901184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→ Specifier / Supervisor — Part 1에서 다룬 역할 전환이, 지금 이 여섯 단계의 실전 근거다.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대화에서 실전으로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1648</Words>
  <Application>Microsoft Office PowerPoint</Application>
  <PresentationFormat>와이드스크린</PresentationFormat>
  <Paragraphs>381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계정</cp:lastModifiedBy>
  <cp:revision>1</cp:revision>
  <dcterms:created xsi:type="dcterms:W3CDTF">2026-08-28T08:22:08Z</dcterms:created>
  <dcterms:modified xsi:type="dcterms:W3CDTF">2026-09-01T23:38:05Z</dcterms:modified>
</cp:coreProperties>
</file>