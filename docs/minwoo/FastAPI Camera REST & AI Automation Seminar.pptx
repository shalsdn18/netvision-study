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Heebo Light" charset="1" panose="00000400000000000000"/>
      <p:regular r:id="rId20"/>
    </p:embeddedFont>
    <p:embeddedFont>
      <p:font typeface="프리텐다드" charset="1" panose="02000503000000020004"/>
      <p:regular r:id="rId21"/>
    </p:embeddedFont>
    <p:embeddedFont>
      <p:font typeface="Heebo Medium" charset="1" panose="00000600000000000000"/>
      <p:regular r:id="rId22"/>
    </p:embeddedFont>
    <p:embeddedFont>
      <p:font typeface="Heebo" charset="1" panose="00000500000000000000"/>
      <p:regular r:id="rId23"/>
    </p:embeddedFont>
    <p:embeddedFont>
      <p:font typeface="프리텐다드 Medium" charset="1" panose="02000603000000020004"/>
      <p:regular r:id="rId24"/>
    </p:embeddedFont>
    <p:embeddedFont>
      <p:font typeface="프리텐다드 Light" charset="1" panose="02000403000000020004"/>
      <p:regular r:id="rId25"/>
    </p:embeddedFont>
    <p:embeddedFont>
      <p:font typeface="프리텐다드 Semi-Bold" charset="1" panose="02000703000000020004"/>
      <p:regular r:id="rId26"/>
    </p:embeddedFont>
    <p:embeddedFont>
      <p:font typeface="프리텐다드 Bold" charset="1" panose="020008030000000200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2" Target="../media/image7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21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png" Type="http://schemas.openxmlformats.org/officeDocument/2006/relationships/image"/><Relationship Id="rId4" Target="../media/image32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2" Target="../media/image33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37375" y="4954288"/>
            <a:ext cx="7413251" cy="601995"/>
            <a:chOff x="0" y="0"/>
            <a:chExt cx="1952461" cy="158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2461" cy="158550"/>
            </a:xfrm>
            <a:custGeom>
              <a:avLst/>
              <a:gdLst/>
              <a:ahLst/>
              <a:cxnLst/>
              <a:rect r="r" b="b" t="t" l="l"/>
              <a:pathLst>
                <a:path h="158550" w="1952461">
                  <a:moveTo>
                    <a:pt x="0" y="0"/>
                  </a:moveTo>
                  <a:lnTo>
                    <a:pt x="1952461" y="0"/>
                  </a:lnTo>
                  <a:lnTo>
                    <a:pt x="1952461" y="158550"/>
                  </a:lnTo>
                  <a:lnTo>
                    <a:pt x="0" y="158550"/>
                  </a:lnTo>
                  <a:close/>
                </a:path>
              </a:pathLst>
            </a:custGeom>
            <a:solidFill>
              <a:srgbClr val="4D80E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952461" cy="206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796381" y="5085550"/>
            <a:ext cx="6695237" cy="348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30"/>
              </a:lnSpc>
            </a:pPr>
            <a:r>
              <a:rPr lang="en-US" sz="2398">
                <a:solidFill>
                  <a:srgbClr val="F6F4F1"/>
                </a:solidFill>
                <a:latin typeface="Heebo Light"/>
                <a:ea typeface="Heebo Light"/>
                <a:cs typeface="Heebo Light"/>
                <a:sym typeface="Heebo Light"/>
              </a:rPr>
              <a:t>IT/ICT 연구개발 세미나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539067" y="6531346"/>
            <a:ext cx="7209866" cy="2518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65"/>
              </a:lnSpc>
            </a:pPr>
            <a:r>
              <a:rPr lang="en-US" sz="5332" spc="-159">
                <a:solidFill>
                  <a:srgbClr val="3D3D3D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FASTAPI 기반 카메라 관리 REST API와</a:t>
            </a:r>
          </a:p>
          <a:p>
            <a:pPr algn="ctr" marL="0" indent="0" lvl="0">
              <a:lnSpc>
                <a:spcPts val="6665"/>
              </a:lnSpc>
            </a:pPr>
            <a:r>
              <a:rPr lang="en-US" sz="5332" spc="-159">
                <a:solidFill>
                  <a:srgbClr val="3D3D3D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AI AGENT 기반 창업 자동화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14273" y="3142696"/>
            <a:ext cx="13059453" cy="1490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125"/>
              </a:lnSpc>
            </a:pPr>
            <a:r>
              <a:rPr lang="en-US" b="true" sz="11237" spc="-337">
                <a:solidFill>
                  <a:srgbClr val="3D3D3D"/>
                </a:solidFill>
                <a:latin typeface="Heebo Medium"/>
                <a:ea typeface="Heebo Medium"/>
                <a:cs typeface="Heebo Medium"/>
                <a:sym typeface="Heebo Medium"/>
              </a:rPr>
              <a:t>REST API × AI AGENT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007690" y="2133864"/>
            <a:ext cx="10272619" cy="1003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41"/>
              </a:lnSpc>
            </a:pPr>
            <a:r>
              <a:rPr lang="en-US" sz="7617" spc="-228">
                <a:solidFill>
                  <a:srgbClr val="3D3D3D"/>
                </a:solidFill>
                <a:latin typeface="Heebo Light"/>
                <a:ea typeface="Heebo Light"/>
                <a:cs typeface="Heebo Light"/>
                <a:sym typeface="Heebo Light"/>
              </a:rPr>
              <a:t>TECH SEMINAR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2034004" y="4676166"/>
            <a:ext cx="1540658" cy="1420855"/>
          </a:xfrm>
          <a:custGeom>
            <a:avLst/>
            <a:gdLst/>
            <a:ahLst/>
            <a:cxnLst/>
            <a:rect r="r" b="b" t="t" l="l"/>
            <a:pathLst>
              <a:path h="1420855" w="1540658">
                <a:moveTo>
                  <a:pt x="0" y="0"/>
                </a:moveTo>
                <a:lnTo>
                  <a:pt x="1540658" y="0"/>
                </a:lnTo>
                <a:lnTo>
                  <a:pt x="1540658" y="1420856"/>
                </a:lnTo>
                <a:lnTo>
                  <a:pt x="0" y="14208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04768" y="1057392"/>
            <a:ext cx="14478464" cy="6337688"/>
            <a:chOff x="0" y="0"/>
            <a:chExt cx="3813258" cy="16691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13258" cy="1669185"/>
            </a:xfrm>
            <a:custGeom>
              <a:avLst/>
              <a:gdLst/>
              <a:ahLst/>
              <a:cxnLst/>
              <a:rect r="r" b="b" t="t" l="l"/>
              <a:pathLst>
                <a:path h="1669185" w="3813258">
                  <a:moveTo>
                    <a:pt x="0" y="0"/>
                  </a:moveTo>
                  <a:lnTo>
                    <a:pt x="3813258" y="0"/>
                  </a:lnTo>
                  <a:lnTo>
                    <a:pt x="3813258" y="1669185"/>
                  </a:lnTo>
                  <a:lnTo>
                    <a:pt x="0" y="1669185"/>
                  </a:lnTo>
                  <a:close/>
                </a:path>
              </a:pathLst>
            </a:custGeom>
            <a:solidFill>
              <a:srgbClr val="FFFFFF"/>
            </a:solidFill>
            <a:ln w="190500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3813258" cy="16596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77332" y="2825362"/>
            <a:ext cx="15533337" cy="6337688"/>
            <a:chOff x="0" y="0"/>
            <a:chExt cx="4091085" cy="16691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91084" cy="1669185"/>
            </a:xfrm>
            <a:custGeom>
              <a:avLst/>
              <a:gdLst/>
              <a:ahLst/>
              <a:cxnLst/>
              <a:rect r="r" b="b" t="t" l="l"/>
              <a:pathLst>
                <a:path h="1669185" w="4091084">
                  <a:moveTo>
                    <a:pt x="0" y="0"/>
                  </a:moveTo>
                  <a:lnTo>
                    <a:pt x="4091084" y="0"/>
                  </a:lnTo>
                  <a:lnTo>
                    <a:pt x="4091084" y="1669185"/>
                  </a:lnTo>
                  <a:lnTo>
                    <a:pt x="0" y="166918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4091085" cy="16596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755235" y="3759697"/>
            <a:ext cx="3842664" cy="2783378"/>
            <a:chOff x="0" y="0"/>
            <a:chExt cx="1012060" cy="7330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12060" cy="733071"/>
            </a:xfrm>
            <a:custGeom>
              <a:avLst/>
              <a:gdLst/>
              <a:ahLst/>
              <a:cxnLst/>
              <a:rect r="r" b="b" t="t" l="l"/>
              <a:pathLst>
                <a:path h="733071" w="1012060">
                  <a:moveTo>
                    <a:pt x="0" y="0"/>
                  </a:moveTo>
                  <a:lnTo>
                    <a:pt x="1012060" y="0"/>
                  </a:lnTo>
                  <a:lnTo>
                    <a:pt x="1012060" y="733071"/>
                  </a:lnTo>
                  <a:lnTo>
                    <a:pt x="0" y="733071"/>
                  </a:lnTo>
                  <a:close/>
                </a:path>
              </a:pathLst>
            </a:custGeom>
            <a:solidFill>
              <a:srgbClr val="F8F7F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1012060" cy="7235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95970" y="3759697"/>
            <a:ext cx="3842664" cy="2783378"/>
            <a:chOff x="0" y="0"/>
            <a:chExt cx="1012060" cy="7330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12060" cy="733071"/>
            </a:xfrm>
            <a:custGeom>
              <a:avLst/>
              <a:gdLst/>
              <a:ahLst/>
              <a:cxnLst/>
              <a:rect r="r" b="b" t="t" l="l"/>
              <a:pathLst>
                <a:path h="733071" w="1012060">
                  <a:moveTo>
                    <a:pt x="0" y="0"/>
                  </a:moveTo>
                  <a:lnTo>
                    <a:pt x="1012060" y="0"/>
                  </a:lnTo>
                  <a:lnTo>
                    <a:pt x="1012060" y="733071"/>
                  </a:lnTo>
                  <a:lnTo>
                    <a:pt x="0" y="733071"/>
                  </a:lnTo>
                  <a:close/>
                </a:path>
              </a:pathLst>
            </a:custGeom>
            <a:solidFill>
              <a:srgbClr val="F8F7F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1012060" cy="7235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636706" y="3759697"/>
            <a:ext cx="3842664" cy="2783378"/>
            <a:chOff x="0" y="0"/>
            <a:chExt cx="1012060" cy="7330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12060" cy="733071"/>
            </a:xfrm>
            <a:custGeom>
              <a:avLst/>
              <a:gdLst/>
              <a:ahLst/>
              <a:cxnLst/>
              <a:rect r="r" b="b" t="t" l="l"/>
              <a:pathLst>
                <a:path h="733071" w="1012060">
                  <a:moveTo>
                    <a:pt x="0" y="0"/>
                  </a:moveTo>
                  <a:lnTo>
                    <a:pt x="1012060" y="0"/>
                  </a:lnTo>
                  <a:lnTo>
                    <a:pt x="1012060" y="733071"/>
                  </a:lnTo>
                  <a:lnTo>
                    <a:pt x="0" y="733071"/>
                  </a:lnTo>
                  <a:close/>
                </a:path>
              </a:pathLst>
            </a:custGeom>
            <a:solidFill>
              <a:srgbClr val="F8F7F4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9525"/>
              <a:ext cx="1012060" cy="7235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716183" y="9163050"/>
            <a:ext cx="8855635" cy="200895"/>
            <a:chOff x="0" y="0"/>
            <a:chExt cx="2332348" cy="5291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332348" cy="52911"/>
            </a:xfrm>
            <a:custGeom>
              <a:avLst/>
              <a:gdLst/>
              <a:ahLst/>
              <a:cxnLst/>
              <a:rect r="r" b="b" t="t" l="l"/>
              <a:pathLst>
                <a:path h="52911" w="2332348">
                  <a:moveTo>
                    <a:pt x="0" y="0"/>
                  </a:moveTo>
                  <a:lnTo>
                    <a:pt x="2332348" y="0"/>
                  </a:lnTo>
                  <a:lnTo>
                    <a:pt x="2332348" y="52911"/>
                  </a:lnTo>
                  <a:lnTo>
                    <a:pt x="0" y="52911"/>
                  </a:ln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332348" cy="1005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8448571" y="4523284"/>
            <a:ext cx="1366149" cy="1238195"/>
          </a:xfrm>
          <a:custGeom>
            <a:avLst/>
            <a:gdLst/>
            <a:ahLst/>
            <a:cxnLst/>
            <a:rect r="r" b="b" t="t" l="l"/>
            <a:pathLst>
              <a:path h="1238195" w="1366149">
                <a:moveTo>
                  <a:pt x="0" y="0"/>
                </a:moveTo>
                <a:lnTo>
                  <a:pt x="1366149" y="0"/>
                </a:lnTo>
                <a:lnTo>
                  <a:pt x="1366149" y="1238195"/>
                </a:lnTo>
                <a:lnTo>
                  <a:pt x="0" y="12381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3562083" y="4465675"/>
            <a:ext cx="2240842" cy="1282882"/>
          </a:xfrm>
          <a:custGeom>
            <a:avLst/>
            <a:gdLst/>
            <a:ahLst/>
            <a:cxnLst/>
            <a:rect r="r" b="b" t="t" l="l"/>
            <a:pathLst>
              <a:path h="1282882" w="2240842">
                <a:moveTo>
                  <a:pt x="0" y="0"/>
                </a:moveTo>
                <a:lnTo>
                  <a:pt x="2240842" y="0"/>
                </a:lnTo>
                <a:lnTo>
                  <a:pt x="2240842" y="1282882"/>
                </a:lnTo>
                <a:lnTo>
                  <a:pt x="0" y="12828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2588797" y="4483839"/>
            <a:ext cx="1946332" cy="1282619"/>
          </a:xfrm>
          <a:custGeom>
            <a:avLst/>
            <a:gdLst/>
            <a:ahLst/>
            <a:cxnLst/>
            <a:rect r="r" b="b" t="t" l="l"/>
            <a:pathLst>
              <a:path h="1282619" w="1946332">
                <a:moveTo>
                  <a:pt x="0" y="0"/>
                </a:moveTo>
                <a:lnTo>
                  <a:pt x="1946332" y="0"/>
                </a:lnTo>
                <a:lnTo>
                  <a:pt x="1946332" y="1282619"/>
                </a:lnTo>
                <a:lnTo>
                  <a:pt x="0" y="12826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6240915" y="2390260"/>
            <a:ext cx="5806169" cy="206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64"/>
              </a:lnSpc>
            </a:pPr>
            <a:r>
              <a:rPr lang="en-US" sz="1200" spc="-36">
                <a:solidFill>
                  <a:srgbClr val="737373"/>
                </a:solidFill>
                <a:latin typeface="Heebo"/>
                <a:ea typeface="Heebo"/>
                <a:cs typeface="Heebo"/>
                <a:sym typeface="Heebo"/>
              </a:rPr>
              <a:t>웹 애플리케이션 개발을 구조화하고 반복 작업을 줄이는 핵심 소프트웨어 기반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077854" y="1751181"/>
            <a:ext cx="4132292" cy="592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74"/>
              </a:lnSpc>
            </a:pPr>
            <a:r>
              <a:rPr lang="en-US" b="true" sz="4197" spc="-125">
                <a:solidFill>
                  <a:srgbClr val="3D3D3D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웹 프레임워크란?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162444" y="6826757"/>
            <a:ext cx="3028245" cy="296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87"/>
              </a:lnSpc>
            </a:pPr>
            <a:r>
              <a:rPr lang="en-US" b="true" sz="2098" spc="-62">
                <a:solidFill>
                  <a:srgbClr val="3D3D3D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개발 구조 제공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842070" y="7251069"/>
            <a:ext cx="3668993" cy="749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61"/>
              </a:lnSpc>
            </a:pPr>
            <a:r>
              <a:rPr lang="en-US" sz="1799" spc="-53">
                <a:solidFill>
                  <a:srgbClr val="3D3D3D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라우팅, 요청 처리, 응답 반환 등 웹 애플리케이션의 기본 흐름을 일정한 구조로 설계합니다.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603180" y="6826757"/>
            <a:ext cx="3028245" cy="296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87"/>
              </a:lnSpc>
            </a:pPr>
            <a:r>
              <a:rPr lang="en-US" b="true" sz="2098" spc="-62">
                <a:solidFill>
                  <a:srgbClr val="3D3D3D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반복 작업 간소화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282806" y="7251069"/>
            <a:ext cx="3668993" cy="749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61"/>
              </a:lnSpc>
            </a:pPr>
            <a:r>
              <a:rPr lang="en-US" sz="1799" spc="-53">
                <a:solidFill>
                  <a:srgbClr val="3D3D3D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인증, 데이터 검증, 예외 처리와 같은 공통 기능을 재사용하여 개발 속도와 유지보수성을 높입니다.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043915" y="6826757"/>
            <a:ext cx="3028245" cy="296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87"/>
              </a:lnSpc>
            </a:pPr>
            <a:r>
              <a:rPr lang="en-US" b="true" sz="2098" spc="-62">
                <a:solidFill>
                  <a:srgbClr val="3D3D3D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확장성과 안정성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723542" y="7251069"/>
            <a:ext cx="3668993" cy="749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61"/>
              </a:lnSpc>
            </a:pPr>
            <a:r>
              <a:rPr lang="en-US" sz="1799" spc="-53">
                <a:solidFill>
                  <a:srgbClr val="3D3D3D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표준화된 규칙과 모듈화된 구성으로 기능을 확장하고 여러 서비스와 안전하게 연동할 수 있습니다.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879310" y="9176249"/>
            <a:ext cx="8529379" cy="174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16"/>
              </a:lnSpc>
            </a:pPr>
            <a:r>
              <a:rPr lang="en-US" sz="1200" spc="-36">
                <a:solidFill>
                  <a:srgbClr val="F6F4F1"/>
                </a:solidFill>
                <a:latin typeface="Heebo"/>
                <a:ea typeface="Heebo"/>
                <a:cs typeface="Heebo"/>
                <a:sym typeface="Heebo"/>
              </a:rPr>
              <a:t>웹 프레임워크의 정의와 역할을 구조·생산성·확장성의 관점에서 정리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5632279" y="1418582"/>
            <a:ext cx="385905" cy="385905"/>
          </a:xfrm>
          <a:custGeom>
            <a:avLst/>
            <a:gdLst/>
            <a:ahLst/>
            <a:cxnLst/>
            <a:rect r="r" b="b" t="t" l="l"/>
            <a:pathLst>
              <a:path h="385905" w="385905">
                <a:moveTo>
                  <a:pt x="0" y="0"/>
                </a:moveTo>
                <a:lnTo>
                  <a:pt x="385905" y="0"/>
                </a:lnTo>
                <a:lnTo>
                  <a:pt x="385905" y="385905"/>
                </a:lnTo>
                <a:lnTo>
                  <a:pt x="0" y="3859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04768" y="1057392"/>
            <a:ext cx="14478464" cy="6337688"/>
            <a:chOff x="0" y="0"/>
            <a:chExt cx="3813258" cy="16691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13258" cy="1669185"/>
            </a:xfrm>
            <a:custGeom>
              <a:avLst/>
              <a:gdLst/>
              <a:ahLst/>
              <a:cxnLst/>
              <a:rect r="r" b="b" t="t" l="l"/>
              <a:pathLst>
                <a:path h="1669185" w="3813258">
                  <a:moveTo>
                    <a:pt x="0" y="0"/>
                  </a:moveTo>
                  <a:lnTo>
                    <a:pt x="3813258" y="0"/>
                  </a:lnTo>
                  <a:lnTo>
                    <a:pt x="3813258" y="1669185"/>
                  </a:lnTo>
                  <a:lnTo>
                    <a:pt x="0" y="1669185"/>
                  </a:lnTo>
                  <a:close/>
                </a:path>
              </a:pathLst>
            </a:custGeom>
            <a:solidFill>
              <a:srgbClr val="FFFFFF"/>
            </a:solidFill>
            <a:ln w="190500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3813258" cy="16596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77332" y="2825362"/>
            <a:ext cx="15533337" cy="6337688"/>
            <a:chOff x="0" y="0"/>
            <a:chExt cx="4091085" cy="16691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91084" cy="1669185"/>
            </a:xfrm>
            <a:custGeom>
              <a:avLst/>
              <a:gdLst/>
              <a:ahLst/>
              <a:cxnLst/>
              <a:rect r="r" b="b" t="t" l="l"/>
              <a:pathLst>
                <a:path h="1669185" w="4091084">
                  <a:moveTo>
                    <a:pt x="0" y="0"/>
                  </a:moveTo>
                  <a:lnTo>
                    <a:pt x="4091084" y="0"/>
                  </a:lnTo>
                  <a:lnTo>
                    <a:pt x="4091084" y="1669185"/>
                  </a:lnTo>
                  <a:lnTo>
                    <a:pt x="0" y="166918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4091085" cy="16596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941852" y="3151226"/>
            <a:ext cx="9953190" cy="4074538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 rot="0">
            <a:off x="4716183" y="9163050"/>
            <a:ext cx="8855635" cy="200895"/>
            <a:chOff x="0" y="0"/>
            <a:chExt cx="2332348" cy="5291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32348" cy="52911"/>
            </a:xfrm>
            <a:custGeom>
              <a:avLst/>
              <a:gdLst/>
              <a:ahLst/>
              <a:cxnLst/>
              <a:rect r="r" b="b" t="t" l="l"/>
              <a:pathLst>
                <a:path h="52911" w="2332348">
                  <a:moveTo>
                    <a:pt x="0" y="0"/>
                  </a:moveTo>
                  <a:lnTo>
                    <a:pt x="2332348" y="0"/>
                  </a:lnTo>
                  <a:lnTo>
                    <a:pt x="2332348" y="52911"/>
                  </a:lnTo>
                  <a:lnTo>
                    <a:pt x="0" y="52911"/>
                  </a:ln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332348" cy="1005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5632279" y="1418582"/>
            <a:ext cx="385905" cy="385905"/>
          </a:xfrm>
          <a:custGeom>
            <a:avLst/>
            <a:gdLst/>
            <a:ahLst/>
            <a:cxnLst/>
            <a:rect r="r" b="b" t="t" l="l"/>
            <a:pathLst>
              <a:path h="385905" w="385905">
                <a:moveTo>
                  <a:pt x="0" y="0"/>
                </a:moveTo>
                <a:lnTo>
                  <a:pt x="385905" y="0"/>
                </a:lnTo>
                <a:lnTo>
                  <a:pt x="385905" y="385905"/>
                </a:lnTo>
                <a:lnTo>
                  <a:pt x="0" y="3859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893553" y="5487500"/>
            <a:ext cx="421309" cy="423620"/>
          </a:xfrm>
          <a:custGeom>
            <a:avLst/>
            <a:gdLst/>
            <a:ahLst/>
            <a:cxnLst/>
            <a:rect r="r" b="b" t="t" l="l"/>
            <a:pathLst>
              <a:path h="423620" w="421309">
                <a:moveTo>
                  <a:pt x="0" y="0"/>
                </a:moveTo>
                <a:lnTo>
                  <a:pt x="421310" y="0"/>
                </a:lnTo>
                <a:lnTo>
                  <a:pt x="421310" y="423620"/>
                </a:lnTo>
                <a:lnTo>
                  <a:pt x="0" y="4236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765856" y="4303781"/>
            <a:ext cx="388642" cy="388642"/>
          </a:xfrm>
          <a:custGeom>
            <a:avLst/>
            <a:gdLst/>
            <a:ahLst/>
            <a:cxnLst/>
            <a:rect r="r" b="b" t="t" l="l"/>
            <a:pathLst>
              <a:path h="388642" w="388642">
                <a:moveTo>
                  <a:pt x="0" y="0"/>
                </a:moveTo>
                <a:lnTo>
                  <a:pt x="388642" y="0"/>
                </a:lnTo>
                <a:lnTo>
                  <a:pt x="388642" y="388642"/>
                </a:lnTo>
                <a:lnTo>
                  <a:pt x="0" y="38864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0">
            <a:off x="11191096" y="4859717"/>
            <a:ext cx="473226" cy="473226"/>
          </a:xfrm>
          <a:custGeom>
            <a:avLst/>
            <a:gdLst/>
            <a:ahLst/>
            <a:cxnLst/>
            <a:rect r="r" b="b" t="t" l="l"/>
            <a:pathLst>
              <a:path h="473226" w="473226">
                <a:moveTo>
                  <a:pt x="473227" y="0"/>
                </a:moveTo>
                <a:lnTo>
                  <a:pt x="0" y="0"/>
                </a:lnTo>
                <a:lnTo>
                  <a:pt x="0" y="473226"/>
                </a:lnTo>
                <a:lnTo>
                  <a:pt x="473227" y="473226"/>
                </a:lnTo>
                <a:lnTo>
                  <a:pt x="473227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77854" y="1751181"/>
            <a:ext cx="4132292" cy="539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1"/>
              </a:lnSpc>
            </a:pPr>
            <a:r>
              <a:rPr lang="en-US" b="true" sz="3845" spc="-115">
                <a:solidFill>
                  <a:srgbClr val="3D3D3D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Flask와 FastAPI 비교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240915" y="2390260"/>
            <a:ext cx="5806169" cy="206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64"/>
              </a:lnSpc>
            </a:pPr>
            <a:r>
              <a:rPr lang="en-US" sz="1200" spc="-36">
                <a:solidFill>
                  <a:srgbClr val="737373"/>
                </a:solidFill>
                <a:latin typeface="Heebo"/>
                <a:ea typeface="Heebo"/>
                <a:cs typeface="Heebo"/>
                <a:sym typeface="Heebo"/>
              </a:rPr>
              <a:t>성능·비동기 지원·자동 문서화 관점에서 두 프레임워크를 비교합니다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779069" y="6934863"/>
            <a:ext cx="10729862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</a:pPr>
            <a:r>
              <a:rPr lang="en-US" b="true" sz="2098" spc="-62">
                <a:solidFill>
                  <a:srgbClr val="3D3D3D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FastAPI는 비동기 처리와 타입 힌트를 기반으로 고성능 API 개발과 자동 문서화를 지원합니다.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400934" y="7510173"/>
            <a:ext cx="9486133" cy="1063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62"/>
              </a:lnSpc>
            </a:pPr>
            <a:r>
              <a:rPr lang="en-US" sz="1800" spc="-53">
                <a:solidFill>
                  <a:srgbClr val="3D3D3D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Flask는 단순하고 유연한 구조로 빠른 프로토타이핑에 강점이 있습니다.</a:t>
            </a:r>
          </a:p>
          <a:p>
            <a:pPr algn="ctr" marL="0" indent="0" lvl="0">
              <a:lnSpc>
                <a:spcPts val="2862"/>
              </a:lnSpc>
            </a:pPr>
            <a:r>
              <a:rPr lang="en-US" sz="1800" spc="-53">
                <a:solidFill>
                  <a:srgbClr val="3D3D3D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FastAPI는 async/await, Pydantic 검증, OpenAPI 기반 문서화를 기본 제공해 복잡한 REST API에 적합합니다.</a:t>
            </a:r>
          </a:p>
          <a:p>
            <a:pPr algn="ctr" marL="0" indent="0" lvl="0">
              <a:lnSpc>
                <a:spcPts val="2862"/>
              </a:lnSpc>
            </a:pPr>
            <a:r>
              <a:rPr lang="en-US" sz="1800" spc="-53">
                <a:solidFill>
                  <a:srgbClr val="3D3D3D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선택 기준은 프로젝트 규모와 비동기 처리 요구사항, 팀의 개발 생산성입니다.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879310" y="9176249"/>
            <a:ext cx="8529379" cy="174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16"/>
              </a:lnSpc>
            </a:pPr>
            <a:r>
              <a:rPr lang="en-US" sz="1200" spc="-36">
                <a:solidFill>
                  <a:srgbClr val="F6F4F1"/>
                </a:solidFill>
                <a:latin typeface="Heebo"/>
                <a:ea typeface="Heebo"/>
                <a:cs typeface="Heebo"/>
                <a:sym typeface="Heebo"/>
              </a:rPr>
              <a:t>FLASK와 FASTAPI의 핵심 기술 특성을 정량·정성 관점에서 비교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04768" y="1057392"/>
            <a:ext cx="14478464" cy="6337688"/>
            <a:chOff x="0" y="0"/>
            <a:chExt cx="3813258" cy="16691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13258" cy="1669185"/>
            </a:xfrm>
            <a:custGeom>
              <a:avLst/>
              <a:gdLst/>
              <a:ahLst/>
              <a:cxnLst/>
              <a:rect r="r" b="b" t="t" l="l"/>
              <a:pathLst>
                <a:path h="1669185" w="3813258">
                  <a:moveTo>
                    <a:pt x="0" y="0"/>
                  </a:moveTo>
                  <a:lnTo>
                    <a:pt x="3813258" y="0"/>
                  </a:lnTo>
                  <a:lnTo>
                    <a:pt x="3813258" y="1669185"/>
                  </a:lnTo>
                  <a:lnTo>
                    <a:pt x="0" y="1669185"/>
                  </a:lnTo>
                  <a:close/>
                </a:path>
              </a:pathLst>
            </a:custGeom>
            <a:solidFill>
              <a:srgbClr val="FFFFFF"/>
            </a:solidFill>
            <a:ln w="190500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3813258" cy="16596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77332" y="2825362"/>
            <a:ext cx="15533337" cy="6337688"/>
            <a:chOff x="0" y="0"/>
            <a:chExt cx="4091085" cy="16691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91084" cy="1669185"/>
            </a:xfrm>
            <a:custGeom>
              <a:avLst/>
              <a:gdLst/>
              <a:ahLst/>
              <a:cxnLst/>
              <a:rect r="r" b="b" t="t" l="l"/>
              <a:pathLst>
                <a:path h="1669185" w="4091084">
                  <a:moveTo>
                    <a:pt x="0" y="0"/>
                  </a:moveTo>
                  <a:lnTo>
                    <a:pt x="4091084" y="0"/>
                  </a:lnTo>
                  <a:lnTo>
                    <a:pt x="4091084" y="1669185"/>
                  </a:lnTo>
                  <a:lnTo>
                    <a:pt x="0" y="166918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4091085" cy="16596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229229" y="3770570"/>
            <a:ext cx="6741844" cy="2110572"/>
            <a:chOff x="0" y="0"/>
            <a:chExt cx="1775630" cy="5558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75630" cy="555871"/>
            </a:xfrm>
            <a:custGeom>
              <a:avLst/>
              <a:gdLst/>
              <a:ahLst/>
              <a:cxnLst/>
              <a:rect r="r" b="b" t="t" l="l"/>
              <a:pathLst>
                <a:path h="555871" w="1775630">
                  <a:moveTo>
                    <a:pt x="0" y="0"/>
                  </a:moveTo>
                  <a:lnTo>
                    <a:pt x="1775630" y="0"/>
                  </a:lnTo>
                  <a:lnTo>
                    <a:pt x="1775630" y="555871"/>
                  </a:lnTo>
                  <a:lnTo>
                    <a:pt x="0" y="555871"/>
                  </a:lnTo>
                  <a:close/>
                </a:path>
              </a:pathLst>
            </a:custGeom>
            <a:solidFill>
              <a:srgbClr val="F8F7F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1775630" cy="5463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316928" y="3770570"/>
            <a:ext cx="6741844" cy="2110572"/>
            <a:chOff x="0" y="0"/>
            <a:chExt cx="1775630" cy="5558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75630" cy="555871"/>
            </a:xfrm>
            <a:custGeom>
              <a:avLst/>
              <a:gdLst/>
              <a:ahLst/>
              <a:cxnLst/>
              <a:rect r="r" b="b" t="t" l="l"/>
              <a:pathLst>
                <a:path h="555871" w="1775630">
                  <a:moveTo>
                    <a:pt x="0" y="0"/>
                  </a:moveTo>
                  <a:lnTo>
                    <a:pt x="1775630" y="0"/>
                  </a:lnTo>
                  <a:lnTo>
                    <a:pt x="1775630" y="555871"/>
                  </a:lnTo>
                  <a:lnTo>
                    <a:pt x="0" y="555871"/>
                  </a:lnTo>
                  <a:close/>
                </a:path>
              </a:pathLst>
            </a:custGeom>
            <a:solidFill>
              <a:srgbClr val="F8F7F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1775630" cy="5463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229229" y="6093279"/>
            <a:ext cx="6741844" cy="2110572"/>
            <a:chOff x="0" y="0"/>
            <a:chExt cx="1775630" cy="5558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75630" cy="555871"/>
            </a:xfrm>
            <a:custGeom>
              <a:avLst/>
              <a:gdLst/>
              <a:ahLst/>
              <a:cxnLst/>
              <a:rect r="r" b="b" t="t" l="l"/>
              <a:pathLst>
                <a:path h="555871" w="1775630">
                  <a:moveTo>
                    <a:pt x="0" y="0"/>
                  </a:moveTo>
                  <a:lnTo>
                    <a:pt x="1775630" y="0"/>
                  </a:lnTo>
                  <a:lnTo>
                    <a:pt x="1775630" y="555871"/>
                  </a:lnTo>
                  <a:lnTo>
                    <a:pt x="0" y="555871"/>
                  </a:lnTo>
                  <a:close/>
                </a:path>
              </a:pathLst>
            </a:custGeom>
            <a:solidFill>
              <a:srgbClr val="F8F7F4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9525"/>
              <a:ext cx="1775630" cy="5463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316928" y="6093279"/>
            <a:ext cx="6741844" cy="2110572"/>
            <a:chOff x="0" y="0"/>
            <a:chExt cx="1775630" cy="55587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775630" cy="555871"/>
            </a:xfrm>
            <a:custGeom>
              <a:avLst/>
              <a:gdLst/>
              <a:ahLst/>
              <a:cxnLst/>
              <a:rect r="r" b="b" t="t" l="l"/>
              <a:pathLst>
                <a:path h="555871" w="1775630">
                  <a:moveTo>
                    <a:pt x="0" y="0"/>
                  </a:moveTo>
                  <a:lnTo>
                    <a:pt x="1775630" y="0"/>
                  </a:lnTo>
                  <a:lnTo>
                    <a:pt x="1775630" y="555871"/>
                  </a:lnTo>
                  <a:lnTo>
                    <a:pt x="0" y="555871"/>
                  </a:lnTo>
                  <a:close/>
                </a:path>
              </a:pathLst>
            </a:custGeom>
            <a:solidFill>
              <a:srgbClr val="F8F7F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1775630" cy="5463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716183" y="9158584"/>
            <a:ext cx="8855635" cy="200895"/>
            <a:chOff x="0" y="0"/>
            <a:chExt cx="2332348" cy="5291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332348" cy="52911"/>
            </a:xfrm>
            <a:custGeom>
              <a:avLst/>
              <a:gdLst/>
              <a:ahLst/>
              <a:cxnLst/>
              <a:rect r="r" b="b" t="t" l="l"/>
              <a:pathLst>
                <a:path h="52911" w="2332348">
                  <a:moveTo>
                    <a:pt x="0" y="0"/>
                  </a:moveTo>
                  <a:lnTo>
                    <a:pt x="2332348" y="0"/>
                  </a:lnTo>
                  <a:lnTo>
                    <a:pt x="2332348" y="52911"/>
                  </a:lnTo>
                  <a:lnTo>
                    <a:pt x="0" y="52911"/>
                  </a:ln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2332348" cy="1005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5632279" y="1418582"/>
            <a:ext cx="385905" cy="385905"/>
          </a:xfrm>
          <a:custGeom>
            <a:avLst/>
            <a:gdLst/>
            <a:ahLst/>
            <a:cxnLst/>
            <a:rect r="r" b="b" t="t" l="l"/>
            <a:pathLst>
              <a:path h="385905" w="385905">
                <a:moveTo>
                  <a:pt x="0" y="0"/>
                </a:moveTo>
                <a:lnTo>
                  <a:pt x="385905" y="0"/>
                </a:lnTo>
                <a:lnTo>
                  <a:pt x="385905" y="385905"/>
                </a:lnTo>
                <a:lnTo>
                  <a:pt x="0" y="3859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2970585" y="6795803"/>
            <a:ext cx="705525" cy="705525"/>
          </a:xfrm>
          <a:custGeom>
            <a:avLst/>
            <a:gdLst/>
            <a:ahLst/>
            <a:cxnLst/>
            <a:rect r="r" b="b" t="t" l="l"/>
            <a:pathLst>
              <a:path h="705525" w="705525">
                <a:moveTo>
                  <a:pt x="0" y="0"/>
                </a:moveTo>
                <a:lnTo>
                  <a:pt x="705526" y="0"/>
                </a:lnTo>
                <a:lnTo>
                  <a:pt x="705526" y="705525"/>
                </a:lnTo>
                <a:lnTo>
                  <a:pt x="0" y="7055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9956577" y="6795803"/>
            <a:ext cx="705525" cy="705525"/>
          </a:xfrm>
          <a:custGeom>
            <a:avLst/>
            <a:gdLst/>
            <a:ahLst/>
            <a:cxnLst/>
            <a:rect r="r" b="b" t="t" l="l"/>
            <a:pathLst>
              <a:path h="705525" w="705525">
                <a:moveTo>
                  <a:pt x="0" y="0"/>
                </a:moveTo>
                <a:lnTo>
                  <a:pt x="705525" y="0"/>
                </a:lnTo>
                <a:lnTo>
                  <a:pt x="705525" y="705525"/>
                </a:lnTo>
                <a:lnTo>
                  <a:pt x="0" y="7055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9836936" y="4508916"/>
            <a:ext cx="944807" cy="633880"/>
          </a:xfrm>
          <a:custGeom>
            <a:avLst/>
            <a:gdLst/>
            <a:ahLst/>
            <a:cxnLst/>
            <a:rect r="r" b="b" t="t" l="l"/>
            <a:pathLst>
              <a:path h="633880" w="944807">
                <a:moveTo>
                  <a:pt x="0" y="0"/>
                </a:moveTo>
                <a:lnTo>
                  <a:pt x="944807" y="0"/>
                </a:lnTo>
                <a:lnTo>
                  <a:pt x="944807" y="633880"/>
                </a:lnTo>
                <a:lnTo>
                  <a:pt x="0" y="6338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2955190" y="4473093"/>
            <a:ext cx="736317" cy="705525"/>
          </a:xfrm>
          <a:custGeom>
            <a:avLst/>
            <a:gdLst/>
            <a:ahLst/>
            <a:cxnLst/>
            <a:rect r="r" b="b" t="t" l="l"/>
            <a:pathLst>
              <a:path h="705525" w="736317">
                <a:moveTo>
                  <a:pt x="0" y="0"/>
                </a:moveTo>
                <a:lnTo>
                  <a:pt x="736316" y="0"/>
                </a:lnTo>
                <a:lnTo>
                  <a:pt x="736316" y="705526"/>
                </a:lnTo>
                <a:lnTo>
                  <a:pt x="0" y="7055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7077854" y="1751181"/>
            <a:ext cx="4132292" cy="592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74"/>
              </a:lnSpc>
            </a:pPr>
            <a:r>
              <a:rPr lang="en-US" b="true" sz="4197" spc="-125">
                <a:solidFill>
                  <a:srgbClr val="3D3D3D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REST API란?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401386" y="2390260"/>
            <a:ext cx="5485228" cy="206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64"/>
              </a:lnSpc>
            </a:pPr>
            <a:r>
              <a:rPr lang="en-US" sz="1200" spc="-36">
                <a:solidFill>
                  <a:srgbClr val="737373"/>
                </a:solidFill>
                <a:latin typeface="Heebo"/>
                <a:ea typeface="Heebo"/>
                <a:cs typeface="Heebo"/>
                <a:sym typeface="Heebo"/>
              </a:rPr>
              <a:t>HTTP 기반의 규칙으로 클라이언트와 서버가 자원과 데이터를 주고받는 인터페이스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243956" y="4248702"/>
            <a:ext cx="3028245" cy="296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87"/>
              </a:lnSpc>
            </a:pPr>
            <a:r>
              <a:rPr lang="en-US" b="true" sz="2098" spc="-62">
                <a:solidFill>
                  <a:srgbClr val="3D3D3D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HTTP 메서드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243956" y="4673014"/>
            <a:ext cx="4248522" cy="749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1"/>
              </a:lnSpc>
            </a:pPr>
            <a:r>
              <a:rPr lang="en-US" sz="1799" spc="-53">
                <a:solidFill>
                  <a:srgbClr val="3D3D3D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GET 조회, POST 생성, PUT/PATCH 수정, DELETE 삭제처럼 요청 목적에 맞는 메서드를 사용합니다.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331655" y="4248702"/>
            <a:ext cx="3028245" cy="296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87"/>
              </a:lnSpc>
            </a:pPr>
            <a:r>
              <a:rPr lang="en-US" b="true" sz="2098" spc="-62" strike="noStrike" u="none">
                <a:solidFill>
                  <a:srgbClr val="3D3D3D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엔드포인트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331655" y="4673014"/>
            <a:ext cx="4248522" cy="501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1"/>
              </a:lnSpc>
            </a:pPr>
            <a:r>
              <a:rPr lang="en-US" sz="1799" spc="-53">
                <a:solidFill>
                  <a:srgbClr val="3D3D3D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URL로 접근할 자원을 명확히 표현합니다. 예: GET /cameras, POST /cameras/{id}.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243956" y="6571411"/>
            <a:ext cx="3028245" cy="296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87"/>
              </a:lnSpc>
            </a:pPr>
            <a:r>
              <a:rPr lang="en-US" b="true" sz="2098" spc="-62">
                <a:solidFill>
                  <a:srgbClr val="3D3D3D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상태 코드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243956" y="6995723"/>
            <a:ext cx="4248522" cy="501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1"/>
              </a:lnSpc>
            </a:pPr>
            <a:r>
              <a:rPr lang="en-US" sz="1799" spc="-53">
                <a:solidFill>
                  <a:srgbClr val="3D3D3D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200 성공, 201 생성, 400 잘못된 요청, 404 없음, 500 서버 오류로 처리 결과를 전달합니다.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331655" y="6571411"/>
            <a:ext cx="3028245" cy="296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87"/>
              </a:lnSpc>
            </a:pPr>
            <a:r>
              <a:rPr lang="en-US" b="true" sz="2098" spc="-62">
                <a:solidFill>
                  <a:srgbClr val="3D3D3D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JSON 응답 구조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331655" y="6995723"/>
            <a:ext cx="4248522" cy="501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1"/>
              </a:lnSpc>
            </a:pPr>
            <a:r>
              <a:rPr lang="en-US" sz="1799" spc="-53">
                <a:solidFill>
                  <a:srgbClr val="3D3D3D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일관된 JSON 형식으로 상태, 메시지, 데이터와 오류 정보를 반환해 시스템 간 연동을 단순화합니다.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879310" y="9171783"/>
            <a:ext cx="8529379" cy="174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16"/>
              </a:lnSpc>
            </a:pPr>
            <a:r>
              <a:rPr lang="en-US" sz="1200" spc="-36">
                <a:solidFill>
                  <a:srgbClr val="F6F4F1"/>
                </a:solidFill>
                <a:latin typeface="Heebo"/>
                <a:ea typeface="Heebo"/>
                <a:cs typeface="Heebo"/>
                <a:sym typeface="Heebo"/>
              </a:rPr>
              <a:t>HTTP 메서드 · 엔드포인트 · 상태 코드 · JSON 응답으로 이해하는 REST API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04768" y="1057392"/>
            <a:ext cx="14478464" cy="6337688"/>
            <a:chOff x="0" y="0"/>
            <a:chExt cx="3813258" cy="16691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13258" cy="1669185"/>
            </a:xfrm>
            <a:custGeom>
              <a:avLst/>
              <a:gdLst/>
              <a:ahLst/>
              <a:cxnLst/>
              <a:rect r="r" b="b" t="t" l="l"/>
              <a:pathLst>
                <a:path h="1669185" w="3813258">
                  <a:moveTo>
                    <a:pt x="0" y="0"/>
                  </a:moveTo>
                  <a:lnTo>
                    <a:pt x="3813258" y="0"/>
                  </a:lnTo>
                  <a:lnTo>
                    <a:pt x="3813258" y="1669185"/>
                  </a:lnTo>
                  <a:lnTo>
                    <a:pt x="0" y="1669185"/>
                  </a:lnTo>
                  <a:close/>
                </a:path>
              </a:pathLst>
            </a:custGeom>
            <a:solidFill>
              <a:srgbClr val="FFFFFF"/>
            </a:solidFill>
            <a:ln w="190500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3813258" cy="16596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77332" y="2825362"/>
            <a:ext cx="15533337" cy="6337688"/>
            <a:chOff x="0" y="0"/>
            <a:chExt cx="4091085" cy="16691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91084" cy="1669185"/>
            </a:xfrm>
            <a:custGeom>
              <a:avLst/>
              <a:gdLst/>
              <a:ahLst/>
              <a:cxnLst/>
              <a:rect r="r" b="b" t="t" l="l"/>
              <a:pathLst>
                <a:path h="1669185" w="4091084">
                  <a:moveTo>
                    <a:pt x="0" y="0"/>
                  </a:moveTo>
                  <a:lnTo>
                    <a:pt x="4091084" y="0"/>
                  </a:lnTo>
                  <a:lnTo>
                    <a:pt x="4091084" y="1669185"/>
                  </a:lnTo>
                  <a:lnTo>
                    <a:pt x="0" y="166918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4091085" cy="16596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 flipH="true">
            <a:off x="2224623" y="6315189"/>
            <a:ext cx="2218815" cy="0"/>
          </a:xfrm>
          <a:prstGeom prst="line">
            <a:avLst/>
          </a:prstGeom>
          <a:ln cap="flat" w="19050">
            <a:solidFill>
              <a:srgbClr val="545454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H="true">
            <a:off x="5684312" y="6901807"/>
            <a:ext cx="2218815" cy="0"/>
          </a:xfrm>
          <a:prstGeom prst="line">
            <a:avLst/>
          </a:prstGeom>
          <a:ln cap="flat" w="19050">
            <a:solidFill>
              <a:srgbClr val="545454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H="true">
            <a:off x="9144000" y="7547538"/>
            <a:ext cx="2218815" cy="0"/>
          </a:xfrm>
          <a:prstGeom prst="line">
            <a:avLst/>
          </a:prstGeom>
          <a:ln cap="flat" w="19050">
            <a:solidFill>
              <a:srgbClr val="545454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H="true">
            <a:off x="12603688" y="8133917"/>
            <a:ext cx="2218815" cy="0"/>
          </a:xfrm>
          <a:prstGeom prst="line">
            <a:avLst/>
          </a:prstGeom>
          <a:ln cap="flat" w="19050">
            <a:solidFill>
              <a:srgbClr val="545454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2224623" y="3987845"/>
            <a:ext cx="3459688" cy="0"/>
          </a:xfrm>
          <a:prstGeom prst="line">
            <a:avLst/>
          </a:prstGeom>
          <a:ln cap="flat" w="285750">
            <a:solidFill>
              <a:srgbClr val="BFDBF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5684312" y="3987845"/>
            <a:ext cx="3459688" cy="0"/>
          </a:xfrm>
          <a:prstGeom prst="line">
            <a:avLst/>
          </a:prstGeom>
          <a:ln cap="flat" w="285750">
            <a:solidFill>
              <a:srgbClr val="70A3F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9144000" y="3987845"/>
            <a:ext cx="3459688" cy="0"/>
          </a:xfrm>
          <a:prstGeom prst="line">
            <a:avLst/>
          </a:prstGeom>
          <a:ln cap="flat" w="285750">
            <a:solidFill>
              <a:srgbClr val="4D80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2603688" y="3987845"/>
            <a:ext cx="3459688" cy="0"/>
          </a:xfrm>
          <a:prstGeom prst="line">
            <a:avLst/>
          </a:prstGeom>
          <a:ln cap="flat" w="285750">
            <a:solidFill>
              <a:srgbClr val="01357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4716183" y="9165294"/>
            <a:ext cx="8855635" cy="200895"/>
            <a:chOff x="0" y="0"/>
            <a:chExt cx="2332348" cy="5291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332348" cy="52911"/>
            </a:xfrm>
            <a:custGeom>
              <a:avLst/>
              <a:gdLst/>
              <a:ahLst/>
              <a:cxnLst/>
              <a:rect r="r" b="b" t="t" l="l"/>
              <a:pathLst>
                <a:path h="52911" w="2332348">
                  <a:moveTo>
                    <a:pt x="0" y="0"/>
                  </a:moveTo>
                  <a:lnTo>
                    <a:pt x="2332348" y="0"/>
                  </a:lnTo>
                  <a:lnTo>
                    <a:pt x="2332348" y="52911"/>
                  </a:lnTo>
                  <a:lnTo>
                    <a:pt x="0" y="52911"/>
                  </a:ln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2332348" cy="1005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5632279" y="1418582"/>
            <a:ext cx="385905" cy="385905"/>
          </a:xfrm>
          <a:custGeom>
            <a:avLst/>
            <a:gdLst/>
            <a:ahLst/>
            <a:cxnLst/>
            <a:rect r="r" b="b" t="t" l="l"/>
            <a:pathLst>
              <a:path h="385905" w="385905">
                <a:moveTo>
                  <a:pt x="0" y="0"/>
                </a:moveTo>
                <a:lnTo>
                  <a:pt x="385905" y="0"/>
                </a:lnTo>
                <a:lnTo>
                  <a:pt x="385905" y="385905"/>
                </a:lnTo>
                <a:lnTo>
                  <a:pt x="0" y="3859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2224623" y="4311314"/>
            <a:ext cx="349001" cy="349001"/>
          </a:xfrm>
          <a:custGeom>
            <a:avLst/>
            <a:gdLst/>
            <a:ahLst/>
            <a:cxnLst/>
            <a:rect r="r" b="b" t="t" l="l"/>
            <a:pathLst>
              <a:path h="349001" w="349001">
                <a:moveTo>
                  <a:pt x="0" y="0"/>
                </a:moveTo>
                <a:lnTo>
                  <a:pt x="349001" y="0"/>
                </a:lnTo>
                <a:lnTo>
                  <a:pt x="349001" y="349001"/>
                </a:lnTo>
                <a:lnTo>
                  <a:pt x="0" y="3490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5684312" y="4938565"/>
            <a:ext cx="349001" cy="349001"/>
          </a:xfrm>
          <a:custGeom>
            <a:avLst/>
            <a:gdLst/>
            <a:ahLst/>
            <a:cxnLst/>
            <a:rect r="r" b="b" t="t" l="l"/>
            <a:pathLst>
              <a:path h="349001" w="349001">
                <a:moveTo>
                  <a:pt x="0" y="0"/>
                </a:moveTo>
                <a:lnTo>
                  <a:pt x="349000" y="0"/>
                </a:lnTo>
                <a:lnTo>
                  <a:pt x="349000" y="349001"/>
                </a:lnTo>
                <a:lnTo>
                  <a:pt x="0" y="3490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144000" y="5582333"/>
            <a:ext cx="349001" cy="349001"/>
          </a:xfrm>
          <a:custGeom>
            <a:avLst/>
            <a:gdLst/>
            <a:ahLst/>
            <a:cxnLst/>
            <a:rect r="r" b="b" t="t" l="l"/>
            <a:pathLst>
              <a:path h="349001" w="349001">
                <a:moveTo>
                  <a:pt x="0" y="0"/>
                </a:moveTo>
                <a:lnTo>
                  <a:pt x="349001" y="0"/>
                </a:lnTo>
                <a:lnTo>
                  <a:pt x="349001" y="349001"/>
                </a:lnTo>
                <a:lnTo>
                  <a:pt x="0" y="3490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2603688" y="6174026"/>
            <a:ext cx="349001" cy="349001"/>
          </a:xfrm>
          <a:custGeom>
            <a:avLst/>
            <a:gdLst/>
            <a:ahLst/>
            <a:cxnLst/>
            <a:rect r="r" b="b" t="t" l="l"/>
            <a:pathLst>
              <a:path h="349001" w="349001">
                <a:moveTo>
                  <a:pt x="0" y="0"/>
                </a:moveTo>
                <a:lnTo>
                  <a:pt x="349001" y="0"/>
                </a:lnTo>
                <a:lnTo>
                  <a:pt x="349001" y="349001"/>
                </a:lnTo>
                <a:lnTo>
                  <a:pt x="0" y="3490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7077854" y="1732131"/>
            <a:ext cx="4132292" cy="380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21"/>
              </a:lnSpc>
            </a:pPr>
            <a:r>
              <a:rPr lang="en-US" b="true" sz="2680" spc="-80">
                <a:solidFill>
                  <a:srgbClr val="3D3D3D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카메라 관리 REST API 아키텍처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240915" y="2390260"/>
            <a:ext cx="5806169" cy="206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64"/>
              </a:lnSpc>
            </a:pPr>
            <a:r>
              <a:rPr lang="en-US" sz="1200" spc="-36">
                <a:solidFill>
                  <a:srgbClr val="737373"/>
                </a:solidFill>
                <a:latin typeface="Heebo"/>
                <a:ea typeface="Heebo"/>
                <a:cs typeface="Heebo"/>
                <a:sym typeface="Heebo"/>
              </a:rPr>
              <a:t>클라이언트 요청부터 FastAPI 처리, 데이터베이스 연동, JSON 응답까지의 처리 흐름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224623" y="4797470"/>
            <a:ext cx="2743469" cy="296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287"/>
              </a:lnSpc>
            </a:pPr>
            <a:r>
              <a:rPr lang="en-US" b="true" sz="2098" spc="-62">
                <a:solidFill>
                  <a:srgbClr val="3D3D3D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클라이언트 요청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684312" y="5389163"/>
            <a:ext cx="2743469" cy="296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287"/>
              </a:lnSpc>
            </a:pPr>
            <a:r>
              <a:rPr lang="en-US" b="true" sz="2098" spc="-62">
                <a:solidFill>
                  <a:srgbClr val="3D3D3D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FastAPI 라우터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144000" y="6032931"/>
            <a:ext cx="2743469" cy="296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287"/>
              </a:lnSpc>
            </a:pPr>
            <a:r>
              <a:rPr lang="en-US" b="true" sz="2098" spc="-62">
                <a:solidFill>
                  <a:srgbClr val="3D3D3D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서비스·검증 계층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603688" y="6624624"/>
            <a:ext cx="2743469" cy="296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287"/>
              </a:lnSpc>
            </a:pPr>
            <a:r>
              <a:rPr lang="en-US" b="true" sz="2098" spc="-62">
                <a:solidFill>
                  <a:srgbClr val="3D3D3D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DB 저장·조회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224623" y="5155107"/>
            <a:ext cx="3009754" cy="670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743"/>
              </a:lnSpc>
            </a:pPr>
            <a:r>
              <a:rPr lang="en-US" sz="1599" spc="-47">
                <a:solidFill>
                  <a:srgbClr val="3D3D3D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웹 또는 모바일 클라이언트가 카메라 목록 조회, 등록, 수정, 삭제 요청을 HTTP로 전송합니다.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684312" y="5746800"/>
            <a:ext cx="3009754" cy="670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743"/>
              </a:lnSpc>
            </a:pPr>
            <a:r>
              <a:rPr lang="en-US" sz="1599" spc="-47">
                <a:solidFill>
                  <a:srgbClr val="3D3D3D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FastAPI 라우터가 엔드포인트와 HTTP 메서드를 매핑하고 요청 본문과 인증 정보를 수신합니다.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144000" y="6390568"/>
            <a:ext cx="3009754" cy="670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743"/>
              </a:lnSpc>
            </a:pPr>
            <a:r>
              <a:rPr lang="en-US" sz="1599" spc="-47">
                <a:solidFill>
                  <a:srgbClr val="3D3D3D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Pydantic 스키마로 입력을 검증한 뒤 카메라 서비스 로직을 호출해 권한과 상태를 확인합니다.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603688" y="6982261"/>
            <a:ext cx="3009754" cy="670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743"/>
              </a:lnSpc>
            </a:pPr>
            <a:r>
              <a:rPr lang="en-US" sz="1599" spc="-47">
                <a:solidFill>
                  <a:srgbClr val="3D3D3D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SQLAlchemy 기반 저장소가 카메라 메타데이터를 저장하거나 조회하고 처리 결과를 JSON으로 반환합니다.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879310" y="9178492"/>
            <a:ext cx="8529379" cy="174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16"/>
              </a:lnSpc>
            </a:pPr>
            <a:r>
              <a:rPr lang="en-US" sz="1200" spc="-36">
                <a:solidFill>
                  <a:srgbClr val="F6F4F1"/>
                </a:solidFill>
                <a:latin typeface="Heebo"/>
                <a:ea typeface="Heebo"/>
                <a:cs typeface="Heebo"/>
                <a:sym typeface="Heebo"/>
              </a:rPr>
              <a:t>요청 → 라우팅 → 검증·비즈니스 로직 → 데이터베이스 → JSON 응답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04768" y="1057392"/>
            <a:ext cx="14478464" cy="6337688"/>
            <a:chOff x="0" y="0"/>
            <a:chExt cx="3813258" cy="16691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13258" cy="1669185"/>
            </a:xfrm>
            <a:custGeom>
              <a:avLst/>
              <a:gdLst/>
              <a:ahLst/>
              <a:cxnLst/>
              <a:rect r="r" b="b" t="t" l="l"/>
              <a:pathLst>
                <a:path h="1669185" w="3813258">
                  <a:moveTo>
                    <a:pt x="0" y="0"/>
                  </a:moveTo>
                  <a:lnTo>
                    <a:pt x="3813258" y="0"/>
                  </a:lnTo>
                  <a:lnTo>
                    <a:pt x="3813258" y="1669185"/>
                  </a:lnTo>
                  <a:lnTo>
                    <a:pt x="0" y="1669185"/>
                  </a:lnTo>
                  <a:close/>
                </a:path>
              </a:pathLst>
            </a:custGeom>
            <a:solidFill>
              <a:srgbClr val="FFFFFF"/>
            </a:solidFill>
            <a:ln w="190500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3813258" cy="16596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77332" y="2825362"/>
            <a:ext cx="15533337" cy="6337688"/>
            <a:chOff x="0" y="0"/>
            <a:chExt cx="4091085" cy="16691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91084" cy="1669185"/>
            </a:xfrm>
            <a:custGeom>
              <a:avLst/>
              <a:gdLst/>
              <a:ahLst/>
              <a:cxnLst/>
              <a:rect r="r" b="b" t="t" l="l"/>
              <a:pathLst>
                <a:path h="1669185" w="4091084">
                  <a:moveTo>
                    <a:pt x="0" y="0"/>
                  </a:moveTo>
                  <a:lnTo>
                    <a:pt x="4091084" y="0"/>
                  </a:lnTo>
                  <a:lnTo>
                    <a:pt x="4091084" y="1669185"/>
                  </a:lnTo>
                  <a:lnTo>
                    <a:pt x="0" y="166918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4091085" cy="16596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077854" y="1751181"/>
            <a:ext cx="4132292" cy="592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74"/>
              </a:lnSpc>
            </a:pPr>
            <a:r>
              <a:rPr lang="en-US" b="true" sz="4197" spc="-125">
                <a:solidFill>
                  <a:srgbClr val="3D3D3D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프로젝트 구조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240915" y="2390260"/>
            <a:ext cx="5806169" cy="206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64"/>
              </a:lnSpc>
            </a:pPr>
            <a:r>
              <a:rPr lang="en-US" sz="1200" spc="-36">
                <a:solidFill>
                  <a:srgbClr val="737373"/>
                </a:solidFill>
                <a:latin typeface="Heebo"/>
                <a:ea typeface="Heebo"/>
                <a:cs typeface="Heebo"/>
                <a:sym typeface="Heebo"/>
              </a:rPr>
              <a:t>FastAPI 카메라 관리 API의 모듈형 디렉토리 구성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4716183" y="9160754"/>
            <a:ext cx="8855635" cy="200895"/>
            <a:chOff x="0" y="0"/>
            <a:chExt cx="2332348" cy="529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32348" cy="52911"/>
            </a:xfrm>
            <a:custGeom>
              <a:avLst/>
              <a:gdLst/>
              <a:ahLst/>
              <a:cxnLst/>
              <a:rect r="r" b="b" t="t" l="l"/>
              <a:pathLst>
                <a:path h="52911" w="2332348">
                  <a:moveTo>
                    <a:pt x="0" y="0"/>
                  </a:moveTo>
                  <a:lnTo>
                    <a:pt x="2332348" y="0"/>
                  </a:lnTo>
                  <a:lnTo>
                    <a:pt x="2332348" y="52911"/>
                  </a:lnTo>
                  <a:lnTo>
                    <a:pt x="0" y="52911"/>
                  </a:ln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332348" cy="1005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4879310" y="9173952"/>
            <a:ext cx="8529379" cy="174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16"/>
              </a:lnSpc>
            </a:pPr>
            <a:r>
              <a:rPr lang="en-US" sz="1200" spc="-36">
                <a:solidFill>
                  <a:srgbClr val="F6F4F1"/>
                </a:solidFill>
                <a:latin typeface="Heebo"/>
                <a:ea typeface="Heebo"/>
                <a:cs typeface="Heebo"/>
                <a:sym typeface="Heebo"/>
              </a:rPr>
              <a:t>MAIN.PY를 진입점으로 MODELS, ROUTERS, SCHEMAS를 분리해 유지보수성과 확장성을 확보합니다.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3862841" y="4307648"/>
            <a:ext cx="11297867" cy="735549"/>
            <a:chOff x="0" y="0"/>
            <a:chExt cx="12484427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484427" cy="812800"/>
            </a:xfrm>
            <a:custGeom>
              <a:avLst/>
              <a:gdLst/>
              <a:ahLst/>
              <a:cxnLst/>
              <a:rect r="r" b="b" t="t" l="l"/>
              <a:pathLst>
                <a:path h="812800" w="12484427">
                  <a:moveTo>
                    <a:pt x="0" y="0"/>
                  </a:moveTo>
                  <a:lnTo>
                    <a:pt x="12484427" y="0"/>
                  </a:lnTo>
                  <a:lnTo>
                    <a:pt x="1248442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DFDFD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9525"/>
              <a:ext cx="12484427" cy="803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127292" y="4307648"/>
            <a:ext cx="735549" cy="73554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4D80EE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812800" cy="803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4134085" y="4536929"/>
            <a:ext cx="10752770" cy="296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87"/>
              </a:lnSpc>
            </a:pPr>
            <a:r>
              <a:rPr lang="en-US" b="true" sz="2098" spc="-62">
                <a:solidFill>
                  <a:srgbClr val="3D3D3D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main.py에서 FastAPI 앱을 생성하고 미들웨어, 라우터, 실행 설정을 통합합니다.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227448" y="4493939"/>
            <a:ext cx="535237" cy="391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9"/>
              </a:lnSpc>
            </a:pPr>
            <a:r>
              <a:rPr lang="en-US" sz="2798" spc="-83">
                <a:solidFill>
                  <a:srgbClr val="FDFDFD"/>
                </a:solidFill>
                <a:latin typeface="Heebo"/>
                <a:ea typeface="Heebo"/>
                <a:cs typeface="Heebo"/>
                <a:sym typeface="Heebo"/>
              </a:rPr>
              <a:t>1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3862841" y="5109872"/>
            <a:ext cx="11297867" cy="735549"/>
            <a:chOff x="0" y="0"/>
            <a:chExt cx="12484427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484427" cy="812800"/>
            </a:xfrm>
            <a:custGeom>
              <a:avLst/>
              <a:gdLst/>
              <a:ahLst/>
              <a:cxnLst/>
              <a:rect r="r" b="b" t="t" l="l"/>
              <a:pathLst>
                <a:path h="812800" w="12484427">
                  <a:moveTo>
                    <a:pt x="0" y="0"/>
                  </a:moveTo>
                  <a:lnTo>
                    <a:pt x="12484427" y="0"/>
                  </a:lnTo>
                  <a:lnTo>
                    <a:pt x="1248442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DFDFD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9525"/>
              <a:ext cx="12484427" cy="803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127292" y="5109872"/>
            <a:ext cx="735549" cy="735549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4D80EE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9525"/>
              <a:ext cx="812800" cy="803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4134085" y="5339152"/>
            <a:ext cx="10752770" cy="296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87"/>
              </a:lnSpc>
            </a:pPr>
            <a:r>
              <a:rPr lang="en-US" b="true" sz="2098" spc="-62">
                <a:solidFill>
                  <a:srgbClr val="3D3D3D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models 디렉토리는 카메라와 사용자 등 데이터베이스 모델과 도메인 객체를 관리합니다.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227448" y="5296163"/>
            <a:ext cx="535237" cy="391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9"/>
              </a:lnSpc>
            </a:pPr>
            <a:r>
              <a:rPr lang="en-US" sz="2798" spc="-83">
                <a:solidFill>
                  <a:srgbClr val="FDFDFD"/>
                </a:solidFill>
                <a:latin typeface="Heebo"/>
                <a:ea typeface="Heebo"/>
                <a:cs typeface="Heebo"/>
                <a:sym typeface="Heebo"/>
              </a:rPr>
              <a:t>2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3862841" y="5912095"/>
            <a:ext cx="11297867" cy="735549"/>
            <a:chOff x="0" y="0"/>
            <a:chExt cx="12484427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484427" cy="812800"/>
            </a:xfrm>
            <a:custGeom>
              <a:avLst/>
              <a:gdLst/>
              <a:ahLst/>
              <a:cxnLst/>
              <a:rect r="r" b="b" t="t" l="l"/>
              <a:pathLst>
                <a:path h="812800" w="12484427">
                  <a:moveTo>
                    <a:pt x="0" y="0"/>
                  </a:moveTo>
                  <a:lnTo>
                    <a:pt x="12484427" y="0"/>
                  </a:lnTo>
                  <a:lnTo>
                    <a:pt x="1248442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DFDFD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9525"/>
              <a:ext cx="12484427" cy="803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3127292" y="5912095"/>
            <a:ext cx="735549" cy="735549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4D80EE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9525"/>
              <a:ext cx="812800" cy="803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4134085" y="6141376"/>
            <a:ext cx="11026623" cy="296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87"/>
              </a:lnSpc>
            </a:pPr>
            <a:r>
              <a:rPr lang="en-US" b="true" sz="2098" spc="-62">
                <a:solidFill>
                  <a:srgbClr val="3D3D3D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routers 디렉토리는 카메라 조회·등록·수정·삭제 등 기능별 API 엔드포인트를 분리합니다.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227448" y="6098387"/>
            <a:ext cx="535237" cy="391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9"/>
              </a:lnSpc>
            </a:pPr>
            <a:r>
              <a:rPr lang="en-US" sz="2798" spc="-83">
                <a:solidFill>
                  <a:srgbClr val="FDFDFD"/>
                </a:solidFill>
                <a:latin typeface="Heebo"/>
                <a:ea typeface="Heebo"/>
                <a:cs typeface="Heebo"/>
                <a:sym typeface="Heebo"/>
              </a:rPr>
              <a:t>3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3862841" y="6714319"/>
            <a:ext cx="11297867" cy="735549"/>
            <a:chOff x="0" y="0"/>
            <a:chExt cx="12484427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484427" cy="812800"/>
            </a:xfrm>
            <a:custGeom>
              <a:avLst/>
              <a:gdLst/>
              <a:ahLst/>
              <a:cxnLst/>
              <a:rect r="r" b="b" t="t" l="l"/>
              <a:pathLst>
                <a:path h="812800" w="12484427">
                  <a:moveTo>
                    <a:pt x="0" y="0"/>
                  </a:moveTo>
                  <a:lnTo>
                    <a:pt x="12484427" y="0"/>
                  </a:lnTo>
                  <a:lnTo>
                    <a:pt x="1248442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DFDFD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9525"/>
              <a:ext cx="12484427" cy="803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3127292" y="6714319"/>
            <a:ext cx="735549" cy="735549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4D80EE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9525"/>
              <a:ext cx="812800" cy="803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4134085" y="6943600"/>
            <a:ext cx="10752770" cy="296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87"/>
              </a:lnSpc>
            </a:pPr>
            <a:r>
              <a:rPr lang="en-US" b="true" sz="2098" spc="-62">
                <a:solidFill>
                  <a:srgbClr val="3D3D3D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schemas 디렉토리는 요청·응답 데이터 형식을 정의해 검증과 API 문서화를 지원합니다.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3227448" y="6900611"/>
            <a:ext cx="535237" cy="391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9"/>
              </a:lnSpc>
            </a:pPr>
            <a:r>
              <a:rPr lang="en-US" sz="2798" spc="-83">
                <a:solidFill>
                  <a:srgbClr val="FDFDFD"/>
                </a:solidFill>
                <a:latin typeface="Heebo"/>
                <a:ea typeface="Heebo"/>
                <a:cs typeface="Heebo"/>
                <a:sym typeface="Heebo"/>
              </a:rPr>
              <a:t>4</a:t>
            </a:r>
          </a:p>
        </p:txBody>
      </p:sp>
      <p:sp>
        <p:nvSpPr>
          <p:cNvPr name="Freeform 46" id="46"/>
          <p:cNvSpPr/>
          <p:nvPr/>
        </p:nvSpPr>
        <p:spPr>
          <a:xfrm flipH="false" flipV="false" rot="0">
            <a:off x="15632279" y="1418582"/>
            <a:ext cx="385905" cy="385905"/>
          </a:xfrm>
          <a:custGeom>
            <a:avLst/>
            <a:gdLst/>
            <a:ahLst/>
            <a:cxnLst/>
            <a:rect r="r" b="b" t="t" l="l"/>
            <a:pathLst>
              <a:path h="385905" w="385905">
                <a:moveTo>
                  <a:pt x="0" y="0"/>
                </a:moveTo>
                <a:lnTo>
                  <a:pt x="385905" y="0"/>
                </a:lnTo>
                <a:lnTo>
                  <a:pt x="385905" y="385905"/>
                </a:lnTo>
                <a:lnTo>
                  <a:pt x="0" y="3859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73398" y="3605957"/>
            <a:ext cx="4929146" cy="735549"/>
            <a:chOff x="0" y="0"/>
            <a:chExt cx="544683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46830" cy="812800"/>
            </a:xfrm>
            <a:custGeom>
              <a:avLst/>
              <a:gdLst/>
              <a:ahLst/>
              <a:cxnLst/>
              <a:rect r="r" b="b" t="t" l="l"/>
              <a:pathLst>
                <a:path h="812800" w="5446830">
                  <a:moveTo>
                    <a:pt x="0" y="0"/>
                  </a:moveTo>
                  <a:lnTo>
                    <a:pt x="5446830" y="0"/>
                  </a:lnTo>
                  <a:lnTo>
                    <a:pt x="544683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DFDFD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5446830" cy="803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337849" y="3605957"/>
            <a:ext cx="735549" cy="73554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4D80E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812800" cy="803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021005" y="3605957"/>
            <a:ext cx="4929146" cy="735549"/>
            <a:chOff x="0" y="0"/>
            <a:chExt cx="544683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46830" cy="812800"/>
            </a:xfrm>
            <a:custGeom>
              <a:avLst/>
              <a:gdLst/>
              <a:ahLst/>
              <a:cxnLst/>
              <a:rect r="r" b="b" t="t" l="l"/>
              <a:pathLst>
                <a:path h="812800" w="5446830">
                  <a:moveTo>
                    <a:pt x="0" y="0"/>
                  </a:moveTo>
                  <a:lnTo>
                    <a:pt x="5446830" y="0"/>
                  </a:lnTo>
                  <a:lnTo>
                    <a:pt x="544683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DFDFD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5446830" cy="803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85456" y="3605957"/>
            <a:ext cx="735549" cy="73554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4D80EE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812800" cy="803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73398" y="4620968"/>
            <a:ext cx="4929146" cy="735549"/>
            <a:chOff x="0" y="0"/>
            <a:chExt cx="544683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46830" cy="812800"/>
            </a:xfrm>
            <a:custGeom>
              <a:avLst/>
              <a:gdLst/>
              <a:ahLst/>
              <a:cxnLst/>
              <a:rect r="r" b="b" t="t" l="l"/>
              <a:pathLst>
                <a:path h="812800" w="5446830">
                  <a:moveTo>
                    <a:pt x="0" y="0"/>
                  </a:moveTo>
                  <a:lnTo>
                    <a:pt x="5446830" y="0"/>
                  </a:lnTo>
                  <a:lnTo>
                    <a:pt x="544683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DFDFD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9525"/>
              <a:ext cx="5446830" cy="803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337849" y="4620968"/>
            <a:ext cx="735549" cy="73554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4D80EE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812800" cy="803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021005" y="4620968"/>
            <a:ext cx="4929146" cy="735549"/>
            <a:chOff x="0" y="0"/>
            <a:chExt cx="544683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46830" cy="812800"/>
            </a:xfrm>
            <a:custGeom>
              <a:avLst/>
              <a:gdLst/>
              <a:ahLst/>
              <a:cxnLst/>
              <a:rect r="r" b="b" t="t" l="l"/>
              <a:pathLst>
                <a:path h="812800" w="5446830">
                  <a:moveTo>
                    <a:pt x="0" y="0"/>
                  </a:moveTo>
                  <a:lnTo>
                    <a:pt x="5446830" y="0"/>
                  </a:lnTo>
                  <a:lnTo>
                    <a:pt x="544683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DFDFD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9525"/>
              <a:ext cx="5446830" cy="803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285456" y="4620968"/>
            <a:ext cx="735549" cy="735549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4D80EE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9525"/>
              <a:ext cx="812800" cy="803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073398" y="5635978"/>
            <a:ext cx="4929146" cy="735549"/>
            <a:chOff x="0" y="0"/>
            <a:chExt cx="544683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46830" cy="812800"/>
            </a:xfrm>
            <a:custGeom>
              <a:avLst/>
              <a:gdLst/>
              <a:ahLst/>
              <a:cxnLst/>
              <a:rect r="r" b="b" t="t" l="l"/>
              <a:pathLst>
                <a:path h="812800" w="5446830">
                  <a:moveTo>
                    <a:pt x="0" y="0"/>
                  </a:moveTo>
                  <a:lnTo>
                    <a:pt x="5446830" y="0"/>
                  </a:lnTo>
                  <a:lnTo>
                    <a:pt x="544683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DFDFD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9525"/>
              <a:ext cx="5446830" cy="803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337849" y="5635978"/>
            <a:ext cx="735549" cy="735549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4D80EE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9525"/>
              <a:ext cx="812800" cy="803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021005" y="5635978"/>
            <a:ext cx="4929146" cy="735549"/>
            <a:chOff x="0" y="0"/>
            <a:chExt cx="544683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446830" cy="812800"/>
            </a:xfrm>
            <a:custGeom>
              <a:avLst/>
              <a:gdLst/>
              <a:ahLst/>
              <a:cxnLst/>
              <a:rect r="r" b="b" t="t" l="l"/>
              <a:pathLst>
                <a:path h="812800" w="5446830">
                  <a:moveTo>
                    <a:pt x="0" y="0"/>
                  </a:moveTo>
                  <a:lnTo>
                    <a:pt x="5446830" y="0"/>
                  </a:lnTo>
                  <a:lnTo>
                    <a:pt x="544683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DFDFD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9525"/>
              <a:ext cx="5446830" cy="803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285456" y="5635978"/>
            <a:ext cx="735549" cy="735549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4D80EE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9525"/>
              <a:ext cx="812800" cy="803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073398" y="6650989"/>
            <a:ext cx="4929146" cy="735549"/>
            <a:chOff x="0" y="0"/>
            <a:chExt cx="544683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446830" cy="812800"/>
            </a:xfrm>
            <a:custGeom>
              <a:avLst/>
              <a:gdLst/>
              <a:ahLst/>
              <a:cxnLst/>
              <a:rect r="r" b="b" t="t" l="l"/>
              <a:pathLst>
                <a:path h="812800" w="5446830">
                  <a:moveTo>
                    <a:pt x="0" y="0"/>
                  </a:moveTo>
                  <a:lnTo>
                    <a:pt x="5446830" y="0"/>
                  </a:lnTo>
                  <a:lnTo>
                    <a:pt x="544683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DFDFD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9525"/>
              <a:ext cx="5446830" cy="803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3337849" y="6650989"/>
            <a:ext cx="735549" cy="735549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4D80EE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9525"/>
              <a:ext cx="812800" cy="803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021005" y="6650989"/>
            <a:ext cx="4929146" cy="735549"/>
            <a:chOff x="0" y="0"/>
            <a:chExt cx="544683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446830" cy="812800"/>
            </a:xfrm>
            <a:custGeom>
              <a:avLst/>
              <a:gdLst/>
              <a:ahLst/>
              <a:cxnLst/>
              <a:rect r="r" b="b" t="t" l="l"/>
              <a:pathLst>
                <a:path h="812800" w="5446830">
                  <a:moveTo>
                    <a:pt x="0" y="0"/>
                  </a:moveTo>
                  <a:lnTo>
                    <a:pt x="5446830" y="0"/>
                  </a:lnTo>
                  <a:lnTo>
                    <a:pt x="544683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DFDFD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9525"/>
              <a:ext cx="5446830" cy="803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285456" y="6650989"/>
            <a:ext cx="735549" cy="735549"/>
            <a:chOff x="0" y="0"/>
            <a:chExt cx="812800" cy="812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4D80EE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9525"/>
              <a:ext cx="812800" cy="803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4344642" y="3804567"/>
            <a:ext cx="1852970" cy="221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96"/>
              </a:lnSpc>
            </a:pPr>
            <a:r>
              <a:rPr lang="en-US" b="true" sz="1556" spc="-46">
                <a:solidFill>
                  <a:srgbClr val="3D3D3D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POST /cameras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6072962" y="3862543"/>
            <a:ext cx="2832366" cy="231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43"/>
              </a:lnSpc>
            </a:pPr>
            <a:r>
              <a:rPr lang="en-US" sz="1599" spc="-47">
                <a:solidFill>
                  <a:srgbClr val="737373"/>
                </a:solidFill>
                <a:latin typeface="Heebo"/>
                <a:ea typeface="Heebo"/>
                <a:cs typeface="Heebo"/>
                <a:sym typeface="Heebo"/>
              </a:rPr>
              <a:t>/카메라 생성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3438006" y="3792248"/>
            <a:ext cx="535237" cy="244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79"/>
              </a:lnSpc>
            </a:pPr>
            <a:r>
              <a:rPr lang="en-US" sz="1816" spc="-54">
                <a:solidFill>
                  <a:srgbClr val="FDFDFD"/>
                </a:solidFill>
                <a:latin typeface="Heebo"/>
                <a:ea typeface="Heebo"/>
                <a:cs typeface="Heebo"/>
                <a:sym typeface="Heebo"/>
              </a:rPr>
              <a:t>1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0292249" y="3804567"/>
            <a:ext cx="1852970" cy="221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96"/>
              </a:lnSpc>
            </a:pPr>
            <a:r>
              <a:rPr lang="en-US" b="true" sz="1556" spc="-46">
                <a:solidFill>
                  <a:srgbClr val="3D3D3D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GET /cameras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2020568" y="3862543"/>
            <a:ext cx="2832366" cy="231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43"/>
              </a:lnSpc>
            </a:pPr>
            <a:r>
              <a:rPr lang="en-US" sz="1599" spc="-47">
                <a:solidFill>
                  <a:srgbClr val="737373"/>
                </a:solidFill>
                <a:latin typeface="Heebo"/>
                <a:ea typeface="Heebo"/>
                <a:cs typeface="Heebo"/>
                <a:sym typeface="Heebo"/>
              </a:rPr>
              <a:t>/카메라 목록 조회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385612" y="3792248"/>
            <a:ext cx="535237" cy="244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79"/>
              </a:lnSpc>
            </a:pPr>
            <a:r>
              <a:rPr lang="en-US" sz="1816" spc="-54">
                <a:solidFill>
                  <a:srgbClr val="FDFDFD"/>
                </a:solidFill>
                <a:latin typeface="Heebo"/>
                <a:ea typeface="Heebo"/>
                <a:cs typeface="Heebo"/>
                <a:sym typeface="Heebo"/>
              </a:rPr>
              <a:t>5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4344642" y="4819578"/>
            <a:ext cx="1852970" cy="221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96"/>
              </a:lnSpc>
            </a:pPr>
            <a:r>
              <a:rPr lang="en-US" b="true" sz="1556" spc="-46">
                <a:solidFill>
                  <a:srgbClr val="3D3D3D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GET /cameras/{id}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6072962" y="4877554"/>
            <a:ext cx="2832366" cy="231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43"/>
              </a:lnSpc>
            </a:pPr>
            <a:r>
              <a:rPr lang="en-US" sz="1599" spc="-47">
                <a:solidFill>
                  <a:srgbClr val="737373"/>
                </a:solidFill>
                <a:latin typeface="Heebo"/>
                <a:ea typeface="Heebo"/>
                <a:cs typeface="Heebo"/>
                <a:sym typeface="Heebo"/>
              </a:rPr>
              <a:t>/상세 조회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3438006" y="4807259"/>
            <a:ext cx="535237" cy="244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79"/>
              </a:lnSpc>
            </a:pPr>
            <a:r>
              <a:rPr lang="en-US" sz="1816" spc="-54">
                <a:solidFill>
                  <a:srgbClr val="FDFDFD"/>
                </a:solidFill>
                <a:latin typeface="Heebo"/>
                <a:ea typeface="Heebo"/>
                <a:cs typeface="Heebo"/>
                <a:sym typeface="Heebo"/>
              </a:rPr>
              <a:t>2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0292249" y="4819578"/>
            <a:ext cx="2342668" cy="221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96"/>
              </a:lnSpc>
            </a:pPr>
            <a:r>
              <a:rPr lang="en-US" b="true" sz="1556" spc="-46">
                <a:solidFill>
                  <a:srgbClr val="3D3D3D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PUT /cameras/{id}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2599303" y="4893238"/>
            <a:ext cx="2253632" cy="200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25"/>
              </a:lnSpc>
            </a:pPr>
            <a:r>
              <a:rPr lang="en-US" sz="1399" spc="-41">
                <a:solidFill>
                  <a:srgbClr val="737373"/>
                </a:solidFill>
                <a:latin typeface="Heebo"/>
                <a:ea typeface="Heebo"/>
                <a:cs typeface="Heebo"/>
                <a:sym typeface="Heebo"/>
              </a:rPr>
              <a:t>/카메라 정보 수정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9385612" y="4807259"/>
            <a:ext cx="535237" cy="244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79"/>
              </a:lnSpc>
            </a:pPr>
            <a:r>
              <a:rPr lang="en-US" sz="1816" spc="-54">
                <a:solidFill>
                  <a:srgbClr val="FDFDFD"/>
                </a:solidFill>
                <a:latin typeface="Heebo"/>
                <a:ea typeface="Heebo"/>
                <a:cs typeface="Heebo"/>
                <a:sym typeface="Heebo"/>
              </a:rPr>
              <a:t>6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4344642" y="5834589"/>
            <a:ext cx="1852970" cy="221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96"/>
              </a:lnSpc>
            </a:pPr>
            <a:r>
              <a:rPr lang="en-US" b="true" sz="1556" spc="-46">
                <a:solidFill>
                  <a:srgbClr val="3D3D3D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PATCH /cameras/{id}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6072962" y="5919275"/>
            <a:ext cx="2832366" cy="200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25"/>
              </a:lnSpc>
            </a:pPr>
            <a:r>
              <a:rPr lang="en-US" sz="1399" spc="-41">
                <a:solidFill>
                  <a:srgbClr val="737373"/>
                </a:solidFill>
                <a:latin typeface="Heebo"/>
                <a:ea typeface="Heebo"/>
                <a:cs typeface="Heebo"/>
                <a:sym typeface="Heebo"/>
              </a:rPr>
              <a:t>/부분 필드 업데이트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3438006" y="5822270"/>
            <a:ext cx="535237" cy="244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79"/>
              </a:lnSpc>
            </a:pPr>
            <a:r>
              <a:rPr lang="en-US" sz="1816" spc="-54">
                <a:solidFill>
                  <a:srgbClr val="FDFDFD"/>
                </a:solidFill>
                <a:latin typeface="Heebo"/>
                <a:ea typeface="Heebo"/>
                <a:cs typeface="Heebo"/>
                <a:sym typeface="Heebo"/>
              </a:rPr>
              <a:t>3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0292249" y="5834589"/>
            <a:ext cx="1852970" cy="221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96"/>
              </a:lnSpc>
            </a:pPr>
            <a:r>
              <a:rPr lang="en-US" b="true" sz="1556" spc="-46">
                <a:solidFill>
                  <a:srgbClr val="3D3D3D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DELETE /cameras/{id}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1520819" y="5892564"/>
            <a:ext cx="2832366" cy="231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43"/>
              </a:lnSpc>
            </a:pPr>
            <a:r>
              <a:rPr lang="en-US" sz="1599" spc="-47">
                <a:solidFill>
                  <a:srgbClr val="737373"/>
                </a:solidFill>
                <a:latin typeface="Heebo"/>
                <a:ea typeface="Heebo"/>
                <a:cs typeface="Heebo"/>
                <a:sym typeface="Heebo"/>
              </a:rPr>
              <a:t>/카메라 삭제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9385612" y="5822270"/>
            <a:ext cx="535237" cy="244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79"/>
              </a:lnSpc>
            </a:pPr>
            <a:r>
              <a:rPr lang="en-US" sz="1816" spc="-54">
                <a:solidFill>
                  <a:srgbClr val="FDFDFD"/>
                </a:solidFill>
                <a:latin typeface="Heebo"/>
                <a:ea typeface="Heebo"/>
                <a:cs typeface="Heebo"/>
                <a:sym typeface="Heebo"/>
              </a:rPr>
              <a:t>7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4344642" y="6849599"/>
            <a:ext cx="1852970" cy="221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96"/>
              </a:lnSpc>
            </a:pPr>
            <a:r>
              <a:rPr lang="en-US" b="true" sz="1556" spc="-46">
                <a:solidFill>
                  <a:srgbClr val="3D3D3D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Pydantic Schema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6072962" y="6907575"/>
            <a:ext cx="2832366" cy="231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43"/>
              </a:lnSpc>
            </a:pPr>
            <a:r>
              <a:rPr lang="en-US" sz="1599" spc="-47">
                <a:solidFill>
                  <a:srgbClr val="737373"/>
                </a:solidFill>
                <a:latin typeface="Heebo"/>
                <a:ea typeface="Heebo"/>
                <a:cs typeface="Heebo"/>
                <a:sym typeface="Heebo"/>
              </a:rPr>
              <a:t>/요청·응답 검증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3438006" y="6837280"/>
            <a:ext cx="535237" cy="244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79"/>
              </a:lnSpc>
            </a:pPr>
            <a:r>
              <a:rPr lang="en-US" sz="1816" spc="-54">
                <a:solidFill>
                  <a:srgbClr val="FDFDFD"/>
                </a:solidFill>
                <a:latin typeface="Heebo"/>
                <a:ea typeface="Heebo"/>
                <a:cs typeface="Heebo"/>
                <a:sym typeface="Heebo"/>
              </a:rPr>
              <a:t>4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0292249" y="6849599"/>
            <a:ext cx="1852970" cy="221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96"/>
              </a:lnSpc>
            </a:pPr>
            <a:r>
              <a:rPr lang="en-US" b="true" sz="1556" spc="-46">
                <a:solidFill>
                  <a:srgbClr val="3D3D3D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FastAPI Router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1789075" y="6907575"/>
            <a:ext cx="2832366" cy="231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43"/>
              </a:lnSpc>
            </a:pPr>
            <a:r>
              <a:rPr lang="en-US" sz="1599" spc="-47">
                <a:solidFill>
                  <a:srgbClr val="737373"/>
                </a:solidFill>
                <a:latin typeface="Heebo"/>
                <a:ea typeface="Heebo"/>
                <a:cs typeface="Heebo"/>
                <a:sym typeface="Heebo"/>
              </a:rPr>
              <a:t>/의존성 주입·상태 코드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9385612" y="6837280"/>
            <a:ext cx="535237" cy="244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79"/>
              </a:lnSpc>
            </a:pPr>
            <a:r>
              <a:rPr lang="en-US" sz="1816" spc="-54">
                <a:solidFill>
                  <a:srgbClr val="FDFDFD"/>
                </a:solidFill>
                <a:latin typeface="Heebo"/>
                <a:ea typeface="Heebo"/>
                <a:cs typeface="Heebo"/>
                <a:sym typeface="Heebo"/>
              </a:rPr>
              <a:t>8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4879310" y="8304626"/>
            <a:ext cx="8529379" cy="345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16"/>
              </a:lnSpc>
            </a:pPr>
            <a:r>
              <a:rPr lang="en-US" b="true" sz="1200">
                <a:solidFill>
                  <a:srgbClr val="737373"/>
                </a:solidFill>
                <a:latin typeface="Heebo Medium"/>
                <a:ea typeface="Heebo Medium"/>
                <a:cs typeface="Heebo Medium"/>
                <a:sym typeface="Heebo Medium"/>
              </a:rPr>
              <a:t>CRUD 흐름: REQUEST BODY → PYDANTIC 검증 → SERVICE/REPOSITORY → RESPONSE MODEL | 예: @ROUTER.POST("/CAMERAS", RESPONSE_MODEL=CAMERAOUT, STATUS_CODE=201)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7077854" y="1845976"/>
            <a:ext cx="4132292" cy="592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74"/>
              </a:lnSpc>
            </a:pPr>
            <a:r>
              <a:rPr lang="en-US" b="true" sz="4197" spc="-125">
                <a:solidFill>
                  <a:srgbClr val="3D3D3D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CRUD API 구현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4540327" y="2485055"/>
            <a:ext cx="9207346" cy="206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64"/>
              </a:lnSpc>
            </a:pPr>
            <a:r>
              <a:rPr lang="en-US" sz="1200" spc="-36">
                <a:solidFill>
                  <a:srgbClr val="737373"/>
                </a:solidFill>
                <a:latin typeface="Heebo"/>
                <a:ea typeface="Heebo"/>
                <a:cs typeface="Heebo"/>
                <a:sym typeface="Heebo"/>
              </a:rPr>
              <a:t>카메라 리소스의 생성·조회·수정·삭제 엔드포인트와 핵심 코드 예시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04768" y="1057392"/>
            <a:ext cx="14478464" cy="6337688"/>
            <a:chOff x="0" y="0"/>
            <a:chExt cx="3813258" cy="16691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13258" cy="1669185"/>
            </a:xfrm>
            <a:custGeom>
              <a:avLst/>
              <a:gdLst/>
              <a:ahLst/>
              <a:cxnLst/>
              <a:rect r="r" b="b" t="t" l="l"/>
              <a:pathLst>
                <a:path h="1669185" w="3813258">
                  <a:moveTo>
                    <a:pt x="0" y="0"/>
                  </a:moveTo>
                  <a:lnTo>
                    <a:pt x="3813258" y="0"/>
                  </a:lnTo>
                  <a:lnTo>
                    <a:pt x="3813258" y="1669185"/>
                  </a:lnTo>
                  <a:lnTo>
                    <a:pt x="0" y="1669185"/>
                  </a:lnTo>
                  <a:close/>
                </a:path>
              </a:pathLst>
            </a:custGeom>
            <a:solidFill>
              <a:srgbClr val="FFFFFF"/>
            </a:solidFill>
            <a:ln w="190500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3813258" cy="16596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77332" y="2825362"/>
            <a:ext cx="15533337" cy="6337688"/>
            <a:chOff x="0" y="0"/>
            <a:chExt cx="4091085" cy="16691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91084" cy="1669185"/>
            </a:xfrm>
            <a:custGeom>
              <a:avLst/>
              <a:gdLst/>
              <a:ahLst/>
              <a:cxnLst/>
              <a:rect r="r" b="b" t="t" l="l"/>
              <a:pathLst>
                <a:path h="1669185" w="4091084">
                  <a:moveTo>
                    <a:pt x="0" y="0"/>
                  </a:moveTo>
                  <a:lnTo>
                    <a:pt x="4091084" y="0"/>
                  </a:lnTo>
                  <a:lnTo>
                    <a:pt x="4091084" y="1669185"/>
                  </a:lnTo>
                  <a:lnTo>
                    <a:pt x="0" y="166918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4091085" cy="16596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229229" y="3770570"/>
            <a:ext cx="6741844" cy="2110572"/>
            <a:chOff x="0" y="0"/>
            <a:chExt cx="1775630" cy="5558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75630" cy="555871"/>
            </a:xfrm>
            <a:custGeom>
              <a:avLst/>
              <a:gdLst/>
              <a:ahLst/>
              <a:cxnLst/>
              <a:rect r="r" b="b" t="t" l="l"/>
              <a:pathLst>
                <a:path h="555871" w="1775630">
                  <a:moveTo>
                    <a:pt x="0" y="0"/>
                  </a:moveTo>
                  <a:lnTo>
                    <a:pt x="1775630" y="0"/>
                  </a:lnTo>
                  <a:lnTo>
                    <a:pt x="1775630" y="555871"/>
                  </a:lnTo>
                  <a:lnTo>
                    <a:pt x="0" y="555871"/>
                  </a:lnTo>
                  <a:close/>
                </a:path>
              </a:pathLst>
            </a:custGeom>
            <a:solidFill>
              <a:srgbClr val="F8F7F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1775630" cy="5463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316928" y="3770570"/>
            <a:ext cx="6741844" cy="2110572"/>
            <a:chOff x="0" y="0"/>
            <a:chExt cx="1775630" cy="5558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75630" cy="555871"/>
            </a:xfrm>
            <a:custGeom>
              <a:avLst/>
              <a:gdLst/>
              <a:ahLst/>
              <a:cxnLst/>
              <a:rect r="r" b="b" t="t" l="l"/>
              <a:pathLst>
                <a:path h="555871" w="1775630">
                  <a:moveTo>
                    <a:pt x="0" y="0"/>
                  </a:moveTo>
                  <a:lnTo>
                    <a:pt x="1775630" y="0"/>
                  </a:lnTo>
                  <a:lnTo>
                    <a:pt x="1775630" y="555871"/>
                  </a:lnTo>
                  <a:lnTo>
                    <a:pt x="0" y="555871"/>
                  </a:lnTo>
                  <a:close/>
                </a:path>
              </a:pathLst>
            </a:custGeom>
            <a:solidFill>
              <a:srgbClr val="F8F7F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1775630" cy="5463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229229" y="6093279"/>
            <a:ext cx="6741844" cy="2110572"/>
            <a:chOff x="0" y="0"/>
            <a:chExt cx="1775630" cy="5558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75630" cy="555871"/>
            </a:xfrm>
            <a:custGeom>
              <a:avLst/>
              <a:gdLst/>
              <a:ahLst/>
              <a:cxnLst/>
              <a:rect r="r" b="b" t="t" l="l"/>
              <a:pathLst>
                <a:path h="555871" w="1775630">
                  <a:moveTo>
                    <a:pt x="0" y="0"/>
                  </a:moveTo>
                  <a:lnTo>
                    <a:pt x="1775630" y="0"/>
                  </a:lnTo>
                  <a:lnTo>
                    <a:pt x="1775630" y="555871"/>
                  </a:lnTo>
                  <a:lnTo>
                    <a:pt x="0" y="555871"/>
                  </a:lnTo>
                  <a:close/>
                </a:path>
              </a:pathLst>
            </a:custGeom>
            <a:solidFill>
              <a:srgbClr val="F8F7F4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9525"/>
              <a:ext cx="1775630" cy="5463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316928" y="6093279"/>
            <a:ext cx="6741844" cy="2110572"/>
            <a:chOff x="0" y="0"/>
            <a:chExt cx="1775630" cy="55587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775630" cy="555871"/>
            </a:xfrm>
            <a:custGeom>
              <a:avLst/>
              <a:gdLst/>
              <a:ahLst/>
              <a:cxnLst/>
              <a:rect r="r" b="b" t="t" l="l"/>
              <a:pathLst>
                <a:path h="555871" w="1775630">
                  <a:moveTo>
                    <a:pt x="0" y="0"/>
                  </a:moveTo>
                  <a:lnTo>
                    <a:pt x="1775630" y="0"/>
                  </a:lnTo>
                  <a:lnTo>
                    <a:pt x="1775630" y="555871"/>
                  </a:lnTo>
                  <a:lnTo>
                    <a:pt x="0" y="555871"/>
                  </a:lnTo>
                  <a:close/>
                </a:path>
              </a:pathLst>
            </a:custGeom>
            <a:solidFill>
              <a:srgbClr val="F8F7F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1775630" cy="5463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716183" y="9158584"/>
            <a:ext cx="8855635" cy="200895"/>
            <a:chOff x="0" y="0"/>
            <a:chExt cx="2332348" cy="5291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332348" cy="52911"/>
            </a:xfrm>
            <a:custGeom>
              <a:avLst/>
              <a:gdLst/>
              <a:ahLst/>
              <a:cxnLst/>
              <a:rect r="r" b="b" t="t" l="l"/>
              <a:pathLst>
                <a:path h="52911" w="2332348">
                  <a:moveTo>
                    <a:pt x="0" y="0"/>
                  </a:moveTo>
                  <a:lnTo>
                    <a:pt x="2332348" y="0"/>
                  </a:lnTo>
                  <a:lnTo>
                    <a:pt x="2332348" y="52911"/>
                  </a:lnTo>
                  <a:lnTo>
                    <a:pt x="0" y="52911"/>
                  </a:ln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2332348" cy="1005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5632279" y="1418582"/>
            <a:ext cx="385905" cy="385905"/>
          </a:xfrm>
          <a:custGeom>
            <a:avLst/>
            <a:gdLst/>
            <a:ahLst/>
            <a:cxnLst/>
            <a:rect r="r" b="b" t="t" l="l"/>
            <a:pathLst>
              <a:path h="385905" w="385905">
                <a:moveTo>
                  <a:pt x="0" y="0"/>
                </a:moveTo>
                <a:lnTo>
                  <a:pt x="385905" y="0"/>
                </a:lnTo>
                <a:lnTo>
                  <a:pt x="385905" y="385905"/>
                </a:lnTo>
                <a:lnTo>
                  <a:pt x="0" y="3859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2787491" y="6826749"/>
            <a:ext cx="1077666" cy="641181"/>
          </a:xfrm>
          <a:custGeom>
            <a:avLst/>
            <a:gdLst/>
            <a:ahLst/>
            <a:cxnLst/>
            <a:rect r="r" b="b" t="t" l="l"/>
            <a:pathLst>
              <a:path h="641181" w="1077666">
                <a:moveTo>
                  <a:pt x="0" y="0"/>
                </a:moveTo>
                <a:lnTo>
                  <a:pt x="1077666" y="0"/>
                </a:lnTo>
                <a:lnTo>
                  <a:pt x="1077666" y="641182"/>
                </a:lnTo>
                <a:lnTo>
                  <a:pt x="0" y="6411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9991675" y="6664227"/>
            <a:ext cx="641446" cy="972244"/>
          </a:xfrm>
          <a:custGeom>
            <a:avLst/>
            <a:gdLst/>
            <a:ahLst/>
            <a:cxnLst/>
            <a:rect r="r" b="b" t="t" l="l"/>
            <a:pathLst>
              <a:path h="972244" w="641446">
                <a:moveTo>
                  <a:pt x="0" y="0"/>
                </a:moveTo>
                <a:lnTo>
                  <a:pt x="641446" y="0"/>
                </a:lnTo>
                <a:lnTo>
                  <a:pt x="641446" y="972244"/>
                </a:lnTo>
                <a:lnTo>
                  <a:pt x="0" y="9722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9654012" y="4362628"/>
            <a:ext cx="1364574" cy="860821"/>
          </a:xfrm>
          <a:custGeom>
            <a:avLst/>
            <a:gdLst/>
            <a:ahLst/>
            <a:cxnLst/>
            <a:rect r="r" b="b" t="t" l="l"/>
            <a:pathLst>
              <a:path h="860821" w="1364574">
                <a:moveTo>
                  <a:pt x="0" y="0"/>
                </a:moveTo>
                <a:lnTo>
                  <a:pt x="1364574" y="0"/>
                </a:lnTo>
                <a:lnTo>
                  <a:pt x="1364574" y="860821"/>
                </a:lnTo>
                <a:lnTo>
                  <a:pt x="0" y="8608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2996282" y="4381121"/>
            <a:ext cx="672304" cy="882890"/>
          </a:xfrm>
          <a:custGeom>
            <a:avLst/>
            <a:gdLst/>
            <a:ahLst/>
            <a:cxnLst/>
            <a:rect r="r" b="b" t="t" l="l"/>
            <a:pathLst>
              <a:path h="882890" w="672304">
                <a:moveTo>
                  <a:pt x="0" y="0"/>
                </a:moveTo>
                <a:lnTo>
                  <a:pt x="672305" y="0"/>
                </a:lnTo>
                <a:lnTo>
                  <a:pt x="672305" y="882890"/>
                </a:lnTo>
                <a:lnTo>
                  <a:pt x="0" y="8828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7077854" y="1732131"/>
            <a:ext cx="4132292" cy="60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94"/>
              </a:lnSpc>
            </a:pPr>
            <a:r>
              <a:rPr lang="en-US" b="true" sz="2196" spc="-65">
                <a:solidFill>
                  <a:srgbClr val="3D3D3D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Ping / TCP Port Check 네트워크 진단 API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401386" y="2390260"/>
            <a:ext cx="5485228" cy="206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64"/>
              </a:lnSpc>
            </a:pPr>
            <a:r>
              <a:rPr lang="en-US" sz="1200" spc="-36">
                <a:solidFill>
                  <a:srgbClr val="737373"/>
                </a:solidFill>
                <a:latin typeface="Heebo"/>
                <a:ea typeface="Heebo"/>
                <a:cs typeface="Heebo"/>
                <a:sym typeface="Heebo"/>
              </a:rPr>
              <a:t>카메라 연결 상태와 서비스 포트를 빠르게 점검하는 진단 엔드포인트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243956" y="4248702"/>
            <a:ext cx="3028245" cy="296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87"/>
              </a:lnSpc>
            </a:pPr>
            <a:r>
              <a:rPr lang="en-US" b="true" sz="2098" spc="-62">
                <a:solidFill>
                  <a:srgbClr val="3D3D3D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Ping API 기능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243956" y="4673014"/>
            <a:ext cx="4248522" cy="749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1"/>
              </a:lnSpc>
            </a:pPr>
            <a:r>
              <a:rPr lang="en-US" sz="1799" spc="-53">
                <a:solidFill>
                  <a:srgbClr val="3D3D3D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호스트 또는 카메라 IP의 도달 가능성을 확인합니다. 요청 시 대상 host와 timeout을 전달하고, 성공 여부와 지연 시간을 반환합니다.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331655" y="4248702"/>
            <a:ext cx="3028245" cy="296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87"/>
              </a:lnSpc>
            </a:pPr>
            <a:r>
              <a:rPr lang="en-US" b="true" sz="2098" spc="-62" strike="noStrike" u="none">
                <a:solidFill>
                  <a:srgbClr val="3D3D3D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TCP Port Check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331655" y="4673014"/>
            <a:ext cx="4248522" cy="749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1"/>
              </a:lnSpc>
            </a:pPr>
            <a:r>
              <a:rPr lang="en-US" sz="1799" spc="-53">
                <a:solidFill>
                  <a:srgbClr val="3D3D3D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지정한 host와 port에 TCP 연결을 시도해 서비스가 열려 있는지 확인합니다. 연결 성공, 거부, 시간 초과를 구분해 응답합니다.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243956" y="6571411"/>
            <a:ext cx="3028245" cy="296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87"/>
              </a:lnSpc>
            </a:pPr>
            <a:r>
              <a:rPr lang="en-US" b="true" sz="2098" spc="-62">
                <a:solidFill>
                  <a:srgbClr val="3D3D3D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주요 파라미터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243956" y="6995723"/>
            <a:ext cx="4248522" cy="749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1"/>
              </a:lnSpc>
            </a:pPr>
            <a:r>
              <a:rPr lang="en-US" sz="1799" spc="-53">
                <a:solidFill>
                  <a:srgbClr val="3D3D3D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host: 점검 대상 IP 또는 도메인</a:t>
            </a:r>
          </a:p>
          <a:p>
            <a:pPr algn="l" marL="0" indent="0" lvl="0">
              <a:lnSpc>
                <a:spcPts val="1961"/>
              </a:lnSpc>
            </a:pPr>
            <a:r>
              <a:rPr lang="en-US" sz="1799" spc="-53">
                <a:solidFill>
                  <a:srgbClr val="3D3D3D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port: 확인할 TCP 포트 번호</a:t>
            </a:r>
          </a:p>
          <a:p>
            <a:pPr algn="l" marL="0" indent="0" lvl="0">
              <a:lnSpc>
                <a:spcPts val="1961"/>
              </a:lnSpc>
            </a:pPr>
            <a:r>
              <a:rPr lang="en-US" sz="1799" spc="-53">
                <a:solidFill>
                  <a:srgbClr val="3D3D3D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timeout: 연결 대기 시간(초)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331655" y="6571411"/>
            <a:ext cx="3028245" cy="296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87"/>
              </a:lnSpc>
            </a:pPr>
            <a:r>
              <a:rPr lang="en-US" b="true" sz="2098" spc="-62">
                <a:solidFill>
                  <a:srgbClr val="3D3D3D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응답 및 활용 사례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331655" y="6995723"/>
            <a:ext cx="4248522" cy="749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1"/>
              </a:lnSpc>
            </a:pPr>
            <a:r>
              <a:rPr lang="en-US" sz="1799" spc="-53">
                <a:solidFill>
                  <a:srgbClr val="3D3D3D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status, reachable, latency_ms, error를 JSON으로 반환합니다. 카메라 사전 점검, 장애 원인 분류, 운영 모니터링에 활용합니다.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879310" y="9171783"/>
            <a:ext cx="8529379" cy="174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16"/>
              </a:lnSpc>
            </a:pPr>
            <a:r>
              <a:rPr lang="en-US" sz="1200" spc="-36">
                <a:solidFill>
                  <a:srgbClr val="F6F4F1"/>
                </a:solidFill>
                <a:latin typeface="Heebo"/>
                <a:ea typeface="Heebo"/>
                <a:cs typeface="Heebo"/>
                <a:sym typeface="Heebo"/>
              </a:rPr>
              <a:t>A SIMPLE GEOMETRIC DESIGN C</a:t>
            </a:r>
            <a:r>
              <a:rPr lang="en-US" sz="1200" spc="-36" strike="noStrike">
                <a:solidFill>
                  <a:srgbClr val="F6F4F1"/>
                </a:solidFill>
                <a:latin typeface="Heebo"/>
                <a:ea typeface="Heebo"/>
                <a:cs typeface="Heebo"/>
                <a:sym typeface="Heebo"/>
              </a:rPr>
              <a:t>OM</a:t>
            </a:r>
            <a:r>
              <a:rPr lang="en-US" sz="1200" spc="-36">
                <a:solidFill>
                  <a:srgbClr val="F6F4F1"/>
                </a:solidFill>
                <a:latin typeface="Heebo"/>
                <a:ea typeface="Heebo"/>
                <a:cs typeface="Heebo"/>
                <a:sym typeface="Heebo"/>
              </a:rPr>
              <a:t>BINING BEIGE AND BLACK TO PRESENT HIGHLY STRUCTURED BUSINESS PLANS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04768" y="1057392"/>
            <a:ext cx="14478464" cy="6337688"/>
            <a:chOff x="0" y="0"/>
            <a:chExt cx="3813258" cy="16691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13258" cy="1669185"/>
            </a:xfrm>
            <a:custGeom>
              <a:avLst/>
              <a:gdLst/>
              <a:ahLst/>
              <a:cxnLst/>
              <a:rect r="r" b="b" t="t" l="l"/>
              <a:pathLst>
                <a:path h="1669185" w="3813258">
                  <a:moveTo>
                    <a:pt x="0" y="0"/>
                  </a:moveTo>
                  <a:lnTo>
                    <a:pt x="3813258" y="0"/>
                  </a:lnTo>
                  <a:lnTo>
                    <a:pt x="3813258" y="1669185"/>
                  </a:lnTo>
                  <a:lnTo>
                    <a:pt x="0" y="1669185"/>
                  </a:lnTo>
                  <a:close/>
                </a:path>
              </a:pathLst>
            </a:custGeom>
            <a:solidFill>
              <a:srgbClr val="FFFFFF"/>
            </a:solidFill>
            <a:ln w="190500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3813258" cy="16596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77332" y="2825362"/>
            <a:ext cx="15533337" cy="6337688"/>
            <a:chOff x="0" y="0"/>
            <a:chExt cx="4091085" cy="16691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91084" cy="1669185"/>
            </a:xfrm>
            <a:custGeom>
              <a:avLst/>
              <a:gdLst/>
              <a:ahLst/>
              <a:cxnLst/>
              <a:rect r="r" b="b" t="t" l="l"/>
              <a:pathLst>
                <a:path h="1669185" w="4091084">
                  <a:moveTo>
                    <a:pt x="0" y="0"/>
                  </a:moveTo>
                  <a:lnTo>
                    <a:pt x="4091084" y="0"/>
                  </a:lnTo>
                  <a:lnTo>
                    <a:pt x="4091084" y="1669185"/>
                  </a:lnTo>
                  <a:lnTo>
                    <a:pt x="0" y="166918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4091085" cy="16596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 flipH="true">
            <a:off x="2224623" y="6315189"/>
            <a:ext cx="2218815" cy="0"/>
          </a:xfrm>
          <a:prstGeom prst="line">
            <a:avLst/>
          </a:prstGeom>
          <a:ln cap="flat" w="19050">
            <a:solidFill>
              <a:srgbClr val="545454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H="true">
            <a:off x="5684312" y="6901807"/>
            <a:ext cx="2218815" cy="0"/>
          </a:xfrm>
          <a:prstGeom prst="line">
            <a:avLst/>
          </a:prstGeom>
          <a:ln cap="flat" w="19050">
            <a:solidFill>
              <a:srgbClr val="545454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H="true">
            <a:off x="9144000" y="7547538"/>
            <a:ext cx="2218815" cy="0"/>
          </a:xfrm>
          <a:prstGeom prst="line">
            <a:avLst/>
          </a:prstGeom>
          <a:ln cap="flat" w="19050">
            <a:solidFill>
              <a:srgbClr val="545454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H="true">
            <a:off x="12603688" y="8133917"/>
            <a:ext cx="2218815" cy="0"/>
          </a:xfrm>
          <a:prstGeom prst="line">
            <a:avLst/>
          </a:prstGeom>
          <a:ln cap="flat" w="19050">
            <a:solidFill>
              <a:srgbClr val="545454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2224623" y="3987845"/>
            <a:ext cx="3459688" cy="0"/>
          </a:xfrm>
          <a:prstGeom prst="line">
            <a:avLst/>
          </a:prstGeom>
          <a:ln cap="flat" w="285750">
            <a:solidFill>
              <a:srgbClr val="BFDBF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5684312" y="3987845"/>
            <a:ext cx="3459688" cy="0"/>
          </a:xfrm>
          <a:prstGeom prst="line">
            <a:avLst/>
          </a:prstGeom>
          <a:ln cap="flat" w="285750">
            <a:solidFill>
              <a:srgbClr val="70A3F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9144000" y="3987845"/>
            <a:ext cx="3459688" cy="0"/>
          </a:xfrm>
          <a:prstGeom prst="line">
            <a:avLst/>
          </a:prstGeom>
          <a:ln cap="flat" w="285750">
            <a:solidFill>
              <a:srgbClr val="4D80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2603688" y="3987845"/>
            <a:ext cx="3459688" cy="0"/>
          </a:xfrm>
          <a:prstGeom prst="line">
            <a:avLst/>
          </a:prstGeom>
          <a:ln cap="flat" w="285750">
            <a:solidFill>
              <a:srgbClr val="01357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4716183" y="9165294"/>
            <a:ext cx="8855635" cy="200895"/>
            <a:chOff x="0" y="0"/>
            <a:chExt cx="2332348" cy="5291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332348" cy="52911"/>
            </a:xfrm>
            <a:custGeom>
              <a:avLst/>
              <a:gdLst/>
              <a:ahLst/>
              <a:cxnLst/>
              <a:rect r="r" b="b" t="t" l="l"/>
              <a:pathLst>
                <a:path h="52911" w="2332348">
                  <a:moveTo>
                    <a:pt x="0" y="0"/>
                  </a:moveTo>
                  <a:lnTo>
                    <a:pt x="2332348" y="0"/>
                  </a:lnTo>
                  <a:lnTo>
                    <a:pt x="2332348" y="52911"/>
                  </a:lnTo>
                  <a:lnTo>
                    <a:pt x="0" y="52911"/>
                  </a:ln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2332348" cy="1005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5632279" y="1418582"/>
            <a:ext cx="385905" cy="385905"/>
          </a:xfrm>
          <a:custGeom>
            <a:avLst/>
            <a:gdLst/>
            <a:ahLst/>
            <a:cxnLst/>
            <a:rect r="r" b="b" t="t" l="l"/>
            <a:pathLst>
              <a:path h="385905" w="385905">
                <a:moveTo>
                  <a:pt x="0" y="0"/>
                </a:moveTo>
                <a:lnTo>
                  <a:pt x="385905" y="0"/>
                </a:lnTo>
                <a:lnTo>
                  <a:pt x="385905" y="385905"/>
                </a:lnTo>
                <a:lnTo>
                  <a:pt x="0" y="3859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2224623" y="4311314"/>
            <a:ext cx="349001" cy="349001"/>
          </a:xfrm>
          <a:custGeom>
            <a:avLst/>
            <a:gdLst/>
            <a:ahLst/>
            <a:cxnLst/>
            <a:rect r="r" b="b" t="t" l="l"/>
            <a:pathLst>
              <a:path h="349001" w="349001">
                <a:moveTo>
                  <a:pt x="0" y="0"/>
                </a:moveTo>
                <a:lnTo>
                  <a:pt x="349001" y="0"/>
                </a:lnTo>
                <a:lnTo>
                  <a:pt x="349001" y="349001"/>
                </a:lnTo>
                <a:lnTo>
                  <a:pt x="0" y="3490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5684312" y="4938565"/>
            <a:ext cx="349001" cy="349001"/>
          </a:xfrm>
          <a:custGeom>
            <a:avLst/>
            <a:gdLst/>
            <a:ahLst/>
            <a:cxnLst/>
            <a:rect r="r" b="b" t="t" l="l"/>
            <a:pathLst>
              <a:path h="349001" w="349001">
                <a:moveTo>
                  <a:pt x="0" y="0"/>
                </a:moveTo>
                <a:lnTo>
                  <a:pt x="349000" y="0"/>
                </a:lnTo>
                <a:lnTo>
                  <a:pt x="349000" y="349001"/>
                </a:lnTo>
                <a:lnTo>
                  <a:pt x="0" y="3490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144000" y="5582333"/>
            <a:ext cx="349001" cy="349001"/>
          </a:xfrm>
          <a:custGeom>
            <a:avLst/>
            <a:gdLst/>
            <a:ahLst/>
            <a:cxnLst/>
            <a:rect r="r" b="b" t="t" l="l"/>
            <a:pathLst>
              <a:path h="349001" w="349001">
                <a:moveTo>
                  <a:pt x="0" y="0"/>
                </a:moveTo>
                <a:lnTo>
                  <a:pt x="349001" y="0"/>
                </a:lnTo>
                <a:lnTo>
                  <a:pt x="349001" y="349001"/>
                </a:lnTo>
                <a:lnTo>
                  <a:pt x="0" y="3490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2603688" y="6174026"/>
            <a:ext cx="349001" cy="349001"/>
          </a:xfrm>
          <a:custGeom>
            <a:avLst/>
            <a:gdLst/>
            <a:ahLst/>
            <a:cxnLst/>
            <a:rect r="r" b="b" t="t" l="l"/>
            <a:pathLst>
              <a:path h="349001" w="349001">
                <a:moveTo>
                  <a:pt x="0" y="0"/>
                </a:moveTo>
                <a:lnTo>
                  <a:pt x="349001" y="0"/>
                </a:lnTo>
                <a:lnTo>
                  <a:pt x="349001" y="349001"/>
                </a:lnTo>
                <a:lnTo>
                  <a:pt x="0" y="3490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7077854" y="1722606"/>
            <a:ext cx="4132292" cy="347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16"/>
              </a:lnSpc>
            </a:pPr>
            <a:r>
              <a:rPr lang="en-US" b="true" sz="2400" spc="-72">
                <a:solidFill>
                  <a:srgbClr val="3D3D3D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Swagger UI 실제 API 테스트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240915" y="2390260"/>
            <a:ext cx="5806169" cy="206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64"/>
              </a:lnSpc>
            </a:pPr>
            <a:r>
              <a:rPr lang="en-US" sz="1200" spc="-36">
                <a:solidFill>
                  <a:srgbClr val="737373"/>
                </a:solidFill>
                <a:latin typeface="Heebo"/>
                <a:ea typeface="Heebo"/>
                <a:cs typeface="Heebo"/>
                <a:sym typeface="Heebo"/>
              </a:rPr>
              <a:t>접속부터 요청 실행과 응답 확인까지, 브라우저에서 API 동작을 검증합니다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224623" y="4778420"/>
            <a:ext cx="2743469" cy="340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308"/>
              </a:lnSpc>
            </a:pPr>
            <a:r>
              <a:rPr lang="en-US" b="true" sz="1200" spc="-36">
                <a:solidFill>
                  <a:srgbClr val="3D3D3D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1단계</a:t>
            </a:r>
          </a:p>
          <a:p>
            <a:pPr algn="just" marL="0" indent="0" lvl="0">
              <a:lnSpc>
                <a:spcPts val="1308"/>
              </a:lnSpc>
            </a:pPr>
            <a:r>
              <a:rPr lang="en-US" b="true" sz="1200" spc="-36">
                <a:solidFill>
                  <a:srgbClr val="3D3D3D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Swagger UI 접속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684312" y="5370113"/>
            <a:ext cx="2743469" cy="340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308"/>
              </a:lnSpc>
            </a:pPr>
            <a:r>
              <a:rPr lang="en-US" b="true" sz="1200" spc="-36">
                <a:solidFill>
                  <a:srgbClr val="3D3D3D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2단계</a:t>
            </a:r>
          </a:p>
          <a:p>
            <a:pPr algn="just" marL="0" indent="0" lvl="0">
              <a:lnSpc>
                <a:spcPts val="1308"/>
              </a:lnSpc>
            </a:pPr>
            <a:r>
              <a:rPr lang="en-US" b="true" sz="1200" spc="-36">
                <a:solidFill>
                  <a:srgbClr val="3D3D3D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엔드포인트 선택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144000" y="6013881"/>
            <a:ext cx="2743469" cy="340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308"/>
              </a:lnSpc>
            </a:pPr>
            <a:r>
              <a:rPr lang="en-US" b="true" sz="1200" spc="-36">
                <a:solidFill>
                  <a:srgbClr val="3D3D3D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3단계</a:t>
            </a:r>
          </a:p>
          <a:p>
            <a:pPr algn="just" marL="0" indent="0" lvl="0">
              <a:lnSpc>
                <a:spcPts val="1308"/>
              </a:lnSpc>
            </a:pPr>
            <a:r>
              <a:rPr lang="en-US" b="true" sz="1200" spc="-36">
                <a:solidFill>
                  <a:srgbClr val="3D3D3D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파라미터 입력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603688" y="6605574"/>
            <a:ext cx="2743469" cy="340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308"/>
              </a:lnSpc>
            </a:pPr>
            <a:r>
              <a:rPr lang="en-US" b="true" sz="1200" spc="-36">
                <a:solidFill>
                  <a:srgbClr val="3D3D3D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4단계</a:t>
            </a:r>
          </a:p>
          <a:p>
            <a:pPr algn="just" marL="0" indent="0" lvl="0">
              <a:lnSpc>
                <a:spcPts val="1308"/>
              </a:lnSpc>
            </a:pPr>
            <a:r>
              <a:rPr lang="en-US" b="true" sz="1200" spc="-36">
                <a:solidFill>
                  <a:srgbClr val="3D3D3D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결과 확인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224623" y="5155107"/>
            <a:ext cx="3009754" cy="889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743"/>
              </a:lnSpc>
            </a:pPr>
            <a:r>
              <a:rPr lang="en-US" sz="1599" spc="-47">
                <a:solidFill>
                  <a:srgbClr val="3D3D3D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FastAPI 서버의 /docs 경로에 접속해 OpenAPI 기반 Swagger UI를 엽니다. 사용 가능한 카메라 관리 API 목록과 요청 형식을 한눈에 확인합니다.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684312" y="5746800"/>
            <a:ext cx="3009754" cy="670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743"/>
              </a:lnSpc>
            </a:pPr>
            <a:r>
              <a:rPr lang="en-US" sz="1599" spc="-47">
                <a:solidFill>
                  <a:srgbClr val="3D3D3D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테스트할 GET, POST, PUT, DELETE 엔드포인트를 선택하고 Try it out 버튼을 눌러 실행 모드를 활성화합니다.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144000" y="6390568"/>
            <a:ext cx="3009754" cy="670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743"/>
              </a:lnSpc>
            </a:pPr>
            <a:r>
              <a:rPr lang="en-US" sz="1599" spc="-47">
                <a:solidFill>
                  <a:srgbClr val="3D3D3D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카메라 ID, IP 주소, 포트 등 필요한 요청 파라미터를 입력한 뒤 Execute를 클릭해 실제 서버에 요청을 보냅니다.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603688" y="6982261"/>
            <a:ext cx="3009754" cy="670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743"/>
              </a:lnSpc>
            </a:pPr>
            <a:r>
              <a:rPr lang="en-US" sz="1599" spc="-47">
                <a:solidFill>
                  <a:srgbClr val="3D3D3D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HTTP 상태 코드, 응답 시간, JSON 응답 본문을 확인해 요청 성공 여부와 카메라 관리 결과를 검증합니다.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879310" y="9178492"/>
            <a:ext cx="8529379" cy="174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16"/>
              </a:lnSpc>
            </a:pPr>
            <a:r>
              <a:rPr lang="en-US" sz="1200" spc="-36">
                <a:solidFill>
                  <a:srgbClr val="F6F4F1"/>
                </a:solidFill>
                <a:latin typeface="Heebo"/>
                <a:ea typeface="Heebo"/>
                <a:cs typeface="Heebo"/>
                <a:sym typeface="Heebo"/>
              </a:rPr>
              <a:t>브라우저 기반 문서화와 즉시 실행으로 API 테스트 과정을 표준화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04768" y="1057392"/>
            <a:ext cx="14478464" cy="6337688"/>
            <a:chOff x="0" y="0"/>
            <a:chExt cx="3813258" cy="16691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13258" cy="1669185"/>
            </a:xfrm>
            <a:custGeom>
              <a:avLst/>
              <a:gdLst/>
              <a:ahLst/>
              <a:cxnLst/>
              <a:rect r="r" b="b" t="t" l="l"/>
              <a:pathLst>
                <a:path h="1669185" w="3813258">
                  <a:moveTo>
                    <a:pt x="0" y="0"/>
                  </a:moveTo>
                  <a:lnTo>
                    <a:pt x="3813258" y="0"/>
                  </a:lnTo>
                  <a:lnTo>
                    <a:pt x="3813258" y="1669185"/>
                  </a:lnTo>
                  <a:lnTo>
                    <a:pt x="0" y="1669185"/>
                  </a:lnTo>
                  <a:close/>
                </a:path>
              </a:pathLst>
            </a:custGeom>
            <a:solidFill>
              <a:srgbClr val="FFFFFF"/>
            </a:solidFill>
            <a:ln w="190500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3813258" cy="16596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77332" y="2825362"/>
            <a:ext cx="15533337" cy="6337688"/>
            <a:chOff x="0" y="0"/>
            <a:chExt cx="4091085" cy="16691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91084" cy="1669185"/>
            </a:xfrm>
            <a:custGeom>
              <a:avLst/>
              <a:gdLst/>
              <a:ahLst/>
              <a:cxnLst/>
              <a:rect r="r" b="b" t="t" l="l"/>
              <a:pathLst>
                <a:path h="1669185" w="4091084">
                  <a:moveTo>
                    <a:pt x="0" y="0"/>
                  </a:moveTo>
                  <a:lnTo>
                    <a:pt x="4091084" y="0"/>
                  </a:lnTo>
                  <a:lnTo>
                    <a:pt x="4091084" y="1669185"/>
                  </a:lnTo>
                  <a:lnTo>
                    <a:pt x="0" y="166918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4091085" cy="16596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716183" y="9163050"/>
            <a:ext cx="8855635" cy="200895"/>
            <a:chOff x="0" y="0"/>
            <a:chExt cx="2332348" cy="529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32348" cy="52911"/>
            </a:xfrm>
            <a:custGeom>
              <a:avLst/>
              <a:gdLst/>
              <a:ahLst/>
              <a:cxnLst/>
              <a:rect r="r" b="b" t="t" l="l"/>
              <a:pathLst>
                <a:path h="52911" w="2332348">
                  <a:moveTo>
                    <a:pt x="0" y="0"/>
                  </a:moveTo>
                  <a:lnTo>
                    <a:pt x="2332348" y="0"/>
                  </a:lnTo>
                  <a:lnTo>
                    <a:pt x="2332348" y="52911"/>
                  </a:lnTo>
                  <a:lnTo>
                    <a:pt x="0" y="52911"/>
                  </a:ln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332348" cy="1005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5632279" y="1418582"/>
            <a:ext cx="385905" cy="385905"/>
          </a:xfrm>
          <a:custGeom>
            <a:avLst/>
            <a:gdLst/>
            <a:ahLst/>
            <a:cxnLst/>
            <a:rect r="r" b="b" t="t" l="l"/>
            <a:pathLst>
              <a:path h="385905" w="385905">
                <a:moveTo>
                  <a:pt x="0" y="0"/>
                </a:moveTo>
                <a:lnTo>
                  <a:pt x="385905" y="0"/>
                </a:lnTo>
                <a:lnTo>
                  <a:pt x="385905" y="385905"/>
                </a:lnTo>
                <a:lnTo>
                  <a:pt x="0" y="3859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077854" y="1732131"/>
            <a:ext cx="4132292" cy="400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17"/>
              </a:lnSpc>
            </a:pPr>
            <a:r>
              <a:rPr lang="en-US" b="true" sz="2768" spc="-83">
                <a:solidFill>
                  <a:srgbClr val="3D3D3D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실제 데모 결과와 네트워크 제약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911482" y="4113273"/>
            <a:ext cx="6465036" cy="1085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960"/>
              </a:lnSpc>
            </a:pPr>
            <a:r>
              <a:rPr lang="en-US" b="true" sz="8379" spc="-251">
                <a:solidFill>
                  <a:srgbClr val="3D3D3D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API 데모 성공률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911482" y="5243512"/>
            <a:ext cx="6465036" cy="1085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960"/>
              </a:lnSpc>
            </a:pPr>
            <a:r>
              <a:rPr lang="en-US" b="true" sz="8379" spc="-251">
                <a:solidFill>
                  <a:srgbClr val="4D80EE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92%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779069" y="6788909"/>
            <a:ext cx="10729862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</a:pPr>
            <a:r>
              <a:rPr lang="en-US" b="true" sz="2099" spc="-62">
                <a:solidFill>
                  <a:srgbClr val="3D3D3D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카메라 상태 조회와 Ping 진단 API를 실제 환경에서 호출한 결과, 정상 네트워크 구간에서는 안정적인 응답을 확인했습니다.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400934" y="7364219"/>
            <a:ext cx="9486133" cy="701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62"/>
              </a:lnSpc>
            </a:pPr>
            <a:r>
              <a:rPr lang="en-US" sz="1800" spc="-53">
                <a:solidFill>
                  <a:srgbClr val="3D3D3D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평균 응답 시간은 약 180ms였으며, 방화벽 정책과 NAT 환경에서는 외부 접근이 제한될 수 있습니다.</a:t>
            </a:r>
          </a:p>
          <a:p>
            <a:pPr algn="ctr" marL="0" indent="0" lvl="0">
              <a:lnSpc>
                <a:spcPts val="2862"/>
              </a:lnSpc>
            </a:pPr>
            <a:r>
              <a:rPr lang="en-US" sz="1800" spc="-53">
                <a:solidFill>
                  <a:srgbClr val="3D3D3D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운영 환경에서는 허용 포트, 프록시, VPN 및 타임아웃 정책을 함께 점검해야 합니다.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240915" y="2390260"/>
            <a:ext cx="5806169" cy="206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64"/>
              </a:lnSpc>
            </a:pPr>
            <a:r>
              <a:rPr lang="en-US" sz="1200" spc="-36">
                <a:solidFill>
                  <a:srgbClr val="737373"/>
                </a:solidFill>
                <a:latin typeface="Heebo"/>
                <a:ea typeface="Heebo"/>
                <a:cs typeface="Heebo"/>
                <a:sym typeface="Heebo"/>
              </a:rPr>
              <a:t>demo success rate and network constraints observed in a real deployment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879310" y="9176249"/>
            <a:ext cx="8529379" cy="174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16"/>
              </a:lnSpc>
            </a:pPr>
            <a:r>
              <a:rPr lang="en-US" sz="1200" spc="-36">
                <a:solidFill>
                  <a:srgbClr val="F6F4F1"/>
                </a:solidFill>
                <a:latin typeface="Heebo"/>
                <a:ea typeface="Heebo"/>
                <a:cs typeface="Heebo"/>
                <a:sym typeface="Heebo"/>
              </a:rPr>
              <a:t>IT ICT RESEARCH AND DEVELOPMENT SEMINAR · FASTAPI CAMERA MANAGEMENT API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0665848" y="4737893"/>
            <a:ext cx="811213" cy="811213"/>
          </a:xfrm>
          <a:custGeom>
            <a:avLst/>
            <a:gdLst/>
            <a:ahLst/>
            <a:cxnLst/>
            <a:rect r="r" b="b" t="t" l="l"/>
            <a:pathLst>
              <a:path h="811213" w="811213">
                <a:moveTo>
                  <a:pt x="0" y="0"/>
                </a:moveTo>
                <a:lnTo>
                  <a:pt x="811214" y="0"/>
                </a:lnTo>
                <a:lnTo>
                  <a:pt x="811214" y="811214"/>
                </a:lnTo>
                <a:lnTo>
                  <a:pt x="0" y="8112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04768" y="1057392"/>
            <a:ext cx="14478464" cy="6337688"/>
            <a:chOff x="0" y="0"/>
            <a:chExt cx="3813258" cy="16691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13258" cy="1669185"/>
            </a:xfrm>
            <a:custGeom>
              <a:avLst/>
              <a:gdLst/>
              <a:ahLst/>
              <a:cxnLst/>
              <a:rect r="r" b="b" t="t" l="l"/>
              <a:pathLst>
                <a:path h="1669185" w="3813258">
                  <a:moveTo>
                    <a:pt x="0" y="0"/>
                  </a:moveTo>
                  <a:lnTo>
                    <a:pt x="3813258" y="0"/>
                  </a:lnTo>
                  <a:lnTo>
                    <a:pt x="3813258" y="1669185"/>
                  </a:lnTo>
                  <a:lnTo>
                    <a:pt x="0" y="1669185"/>
                  </a:lnTo>
                  <a:close/>
                </a:path>
              </a:pathLst>
            </a:custGeom>
            <a:solidFill>
              <a:srgbClr val="FFFFFF"/>
            </a:solidFill>
            <a:ln w="190500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3813258" cy="16596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77332" y="2825362"/>
            <a:ext cx="15533337" cy="6337688"/>
            <a:chOff x="0" y="0"/>
            <a:chExt cx="4091085" cy="16691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91084" cy="1669185"/>
            </a:xfrm>
            <a:custGeom>
              <a:avLst/>
              <a:gdLst/>
              <a:ahLst/>
              <a:cxnLst/>
              <a:rect r="r" b="b" t="t" l="l"/>
              <a:pathLst>
                <a:path h="1669185" w="4091084">
                  <a:moveTo>
                    <a:pt x="0" y="0"/>
                  </a:moveTo>
                  <a:lnTo>
                    <a:pt x="4091084" y="0"/>
                  </a:lnTo>
                  <a:lnTo>
                    <a:pt x="4091084" y="1669185"/>
                  </a:lnTo>
                  <a:lnTo>
                    <a:pt x="0" y="166918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4091085" cy="16596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755235" y="3759697"/>
            <a:ext cx="3842664" cy="2783378"/>
            <a:chOff x="0" y="0"/>
            <a:chExt cx="1012060" cy="7330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12060" cy="733071"/>
            </a:xfrm>
            <a:custGeom>
              <a:avLst/>
              <a:gdLst/>
              <a:ahLst/>
              <a:cxnLst/>
              <a:rect r="r" b="b" t="t" l="l"/>
              <a:pathLst>
                <a:path h="733071" w="1012060">
                  <a:moveTo>
                    <a:pt x="0" y="0"/>
                  </a:moveTo>
                  <a:lnTo>
                    <a:pt x="1012060" y="0"/>
                  </a:lnTo>
                  <a:lnTo>
                    <a:pt x="1012060" y="733071"/>
                  </a:lnTo>
                  <a:lnTo>
                    <a:pt x="0" y="733071"/>
                  </a:lnTo>
                  <a:close/>
                </a:path>
              </a:pathLst>
            </a:custGeom>
            <a:solidFill>
              <a:srgbClr val="F8F7F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1012060" cy="7235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95970" y="3759697"/>
            <a:ext cx="3842664" cy="2783378"/>
            <a:chOff x="0" y="0"/>
            <a:chExt cx="1012060" cy="7330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12060" cy="733071"/>
            </a:xfrm>
            <a:custGeom>
              <a:avLst/>
              <a:gdLst/>
              <a:ahLst/>
              <a:cxnLst/>
              <a:rect r="r" b="b" t="t" l="l"/>
              <a:pathLst>
                <a:path h="733071" w="1012060">
                  <a:moveTo>
                    <a:pt x="0" y="0"/>
                  </a:moveTo>
                  <a:lnTo>
                    <a:pt x="1012060" y="0"/>
                  </a:lnTo>
                  <a:lnTo>
                    <a:pt x="1012060" y="733071"/>
                  </a:lnTo>
                  <a:lnTo>
                    <a:pt x="0" y="733071"/>
                  </a:lnTo>
                  <a:close/>
                </a:path>
              </a:pathLst>
            </a:custGeom>
            <a:solidFill>
              <a:srgbClr val="F8F7F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1012060" cy="7235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636706" y="3759697"/>
            <a:ext cx="3842664" cy="2783378"/>
            <a:chOff x="0" y="0"/>
            <a:chExt cx="1012060" cy="7330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12060" cy="733071"/>
            </a:xfrm>
            <a:custGeom>
              <a:avLst/>
              <a:gdLst/>
              <a:ahLst/>
              <a:cxnLst/>
              <a:rect r="r" b="b" t="t" l="l"/>
              <a:pathLst>
                <a:path h="733071" w="1012060">
                  <a:moveTo>
                    <a:pt x="0" y="0"/>
                  </a:moveTo>
                  <a:lnTo>
                    <a:pt x="1012060" y="0"/>
                  </a:lnTo>
                  <a:lnTo>
                    <a:pt x="1012060" y="733071"/>
                  </a:lnTo>
                  <a:lnTo>
                    <a:pt x="0" y="733071"/>
                  </a:lnTo>
                  <a:close/>
                </a:path>
              </a:pathLst>
            </a:custGeom>
            <a:solidFill>
              <a:srgbClr val="F8F7F4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9525"/>
              <a:ext cx="1012060" cy="7235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716183" y="9163050"/>
            <a:ext cx="8855635" cy="200895"/>
            <a:chOff x="0" y="0"/>
            <a:chExt cx="2332348" cy="5291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332348" cy="52911"/>
            </a:xfrm>
            <a:custGeom>
              <a:avLst/>
              <a:gdLst/>
              <a:ahLst/>
              <a:cxnLst/>
              <a:rect r="r" b="b" t="t" l="l"/>
              <a:pathLst>
                <a:path h="52911" w="2332348">
                  <a:moveTo>
                    <a:pt x="0" y="0"/>
                  </a:moveTo>
                  <a:lnTo>
                    <a:pt x="2332348" y="0"/>
                  </a:lnTo>
                  <a:lnTo>
                    <a:pt x="2332348" y="52911"/>
                  </a:lnTo>
                  <a:lnTo>
                    <a:pt x="0" y="52911"/>
                  </a:ln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332348" cy="1005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8463100" y="4461711"/>
            <a:ext cx="1318933" cy="1387518"/>
          </a:xfrm>
          <a:custGeom>
            <a:avLst/>
            <a:gdLst/>
            <a:ahLst/>
            <a:cxnLst/>
            <a:rect r="r" b="b" t="t" l="l"/>
            <a:pathLst>
              <a:path h="1387518" w="1318933">
                <a:moveTo>
                  <a:pt x="0" y="0"/>
                </a:moveTo>
                <a:lnTo>
                  <a:pt x="1318934" y="0"/>
                </a:lnTo>
                <a:lnTo>
                  <a:pt x="1318934" y="1387518"/>
                </a:lnTo>
                <a:lnTo>
                  <a:pt x="0" y="13875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3250269" y="3940729"/>
            <a:ext cx="2879276" cy="2425105"/>
          </a:xfrm>
          <a:custGeom>
            <a:avLst/>
            <a:gdLst/>
            <a:ahLst/>
            <a:cxnLst/>
            <a:rect r="r" b="b" t="t" l="l"/>
            <a:pathLst>
              <a:path h="2425105" w="2879276">
                <a:moveTo>
                  <a:pt x="0" y="0"/>
                </a:moveTo>
                <a:lnTo>
                  <a:pt x="2879276" y="0"/>
                </a:lnTo>
                <a:lnTo>
                  <a:pt x="2879276" y="2425105"/>
                </a:lnTo>
                <a:lnTo>
                  <a:pt x="0" y="24251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2766279" y="4479083"/>
            <a:ext cx="1613406" cy="1284849"/>
          </a:xfrm>
          <a:custGeom>
            <a:avLst/>
            <a:gdLst/>
            <a:ahLst/>
            <a:cxnLst/>
            <a:rect r="r" b="b" t="t" l="l"/>
            <a:pathLst>
              <a:path h="1284849" w="1613406">
                <a:moveTo>
                  <a:pt x="0" y="0"/>
                </a:moveTo>
                <a:lnTo>
                  <a:pt x="1613406" y="0"/>
                </a:lnTo>
                <a:lnTo>
                  <a:pt x="1613406" y="1284849"/>
                </a:lnTo>
                <a:lnTo>
                  <a:pt x="0" y="12848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6240915" y="2390260"/>
            <a:ext cx="5806169" cy="206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64"/>
              </a:lnSpc>
            </a:pPr>
            <a:r>
              <a:rPr lang="en-US" sz="1200" spc="-36">
                <a:solidFill>
                  <a:srgbClr val="737373"/>
                </a:solidFill>
                <a:latin typeface="Heebo"/>
                <a:ea typeface="Heebo"/>
                <a:cs typeface="Heebo"/>
                <a:sym typeface="Heebo"/>
              </a:rPr>
              <a:t>AI Agent의 핵심 특성: 스스로 판단하고 목표를 달성하는 지능형 실행 시스템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077854" y="1751181"/>
            <a:ext cx="4132292" cy="592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74"/>
              </a:lnSpc>
            </a:pPr>
            <a:r>
              <a:rPr lang="en-US" b="true" sz="4197" spc="-125">
                <a:solidFill>
                  <a:srgbClr val="3D3D3D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AI Agent란?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162444" y="6826757"/>
            <a:ext cx="3028245" cy="296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87"/>
              </a:lnSpc>
            </a:pPr>
            <a:r>
              <a:rPr lang="en-US" b="true" sz="2098" spc="-62">
                <a:solidFill>
                  <a:srgbClr val="3D3D3D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자율성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842070" y="7251069"/>
            <a:ext cx="3668993" cy="749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61"/>
              </a:lnSpc>
            </a:pPr>
            <a:r>
              <a:rPr lang="en-US" sz="1799" spc="-53">
                <a:solidFill>
                  <a:srgbClr val="3D3D3D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주어진 상황과 맥락을 분석하고 다음 행동을 스스로 결정합니다. 매 단계마다 사람의 지시를 기다리지 않고 작업을 이어갑니다.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603180" y="6826757"/>
            <a:ext cx="3028245" cy="296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87"/>
              </a:lnSpc>
            </a:pPr>
            <a:r>
              <a:rPr lang="en-US" b="true" sz="2098" spc="-62">
                <a:solidFill>
                  <a:srgbClr val="3D3D3D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목표 지향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282806" y="7251069"/>
            <a:ext cx="3668993" cy="749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61"/>
              </a:lnSpc>
            </a:pPr>
            <a:r>
              <a:rPr lang="en-US" sz="1799" spc="-53">
                <a:solidFill>
                  <a:srgbClr val="3D3D3D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최종 목표를 작은 실행 단계로 나누고 우선순위를 조정하며 결과를 달성할 때까지 계획을 반복적으로 개선합니다.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043915" y="6826757"/>
            <a:ext cx="3028245" cy="296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87"/>
              </a:lnSpc>
            </a:pPr>
            <a:r>
              <a:rPr lang="en-US" b="true" sz="2098" spc="-62">
                <a:solidFill>
                  <a:srgbClr val="3D3D3D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도구 활용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723542" y="7251069"/>
            <a:ext cx="3668993" cy="749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61"/>
              </a:lnSpc>
            </a:pPr>
            <a:r>
              <a:rPr lang="en-US" sz="1799" spc="-53">
                <a:solidFill>
                  <a:srgbClr val="3D3D3D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API, 데이터베이스, 검색, 코드 실행 등 외부 도구를 호출해 정보를 확인하고 실제 업무를 수행합니다.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879310" y="9176249"/>
            <a:ext cx="8529379" cy="174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16"/>
              </a:lnSpc>
            </a:pPr>
            <a:r>
              <a:rPr lang="en-US" sz="1200" spc="-36">
                <a:solidFill>
                  <a:srgbClr val="F6F4F1"/>
                </a:solidFill>
                <a:latin typeface="Heebo"/>
                <a:ea typeface="Heebo"/>
                <a:cs typeface="Heebo"/>
                <a:sym typeface="Heebo"/>
              </a:rPr>
              <a:t>AUTONOMY · GOAL ORIENTATION · TOOL USE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5632279" y="1418582"/>
            <a:ext cx="385905" cy="385905"/>
          </a:xfrm>
          <a:custGeom>
            <a:avLst/>
            <a:gdLst/>
            <a:ahLst/>
            <a:cxnLst/>
            <a:rect r="r" b="b" t="t" l="l"/>
            <a:pathLst>
              <a:path h="385905" w="385905">
                <a:moveTo>
                  <a:pt x="0" y="0"/>
                </a:moveTo>
                <a:lnTo>
                  <a:pt x="385905" y="0"/>
                </a:lnTo>
                <a:lnTo>
                  <a:pt x="385905" y="385905"/>
                </a:lnTo>
                <a:lnTo>
                  <a:pt x="0" y="3859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04768" y="1057392"/>
            <a:ext cx="14478464" cy="6337688"/>
            <a:chOff x="0" y="0"/>
            <a:chExt cx="3813258" cy="16691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13258" cy="1669185"/>
            </a:xfrm>
            <a:custGeom>
              <a:avLst/>
              <a:gdLst/>
              <a:ahLst/>
              <a:cxnLst/>
              <a:rect r="r" b="b" t="t" l="l"/>
              <a:pathLst>
                <a:path h="1669185" w="3813258">
                  <a:moveTo>
                    <a:pt x="0" y="0"/>
                  </a:moveTo>
                  <a:lnTo>
                    <a:pt x="3813258" y="0"/>
                  </a:lnTo>
                  <a:lnTo>
                    <a:pt x="3813258" y="1669185"/>
                  </a:lnTo>
                  <a:lnTo>
                    <a:pt x="0" y="1669185"/>
                  </a:lnTo>
                  <a:close/>
                </a:path>
              </a:pathLst>
            </a:custGeom>
            <a:solidFill>
              <a:srgbClr val="FFFFFF"/>
            </a:solidFill>
            <a:ln w="190500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3813258" cy="16596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77332" y="2825362"/>
            <a:ext cx="15533337" cy="6337688"/>
            <a:chOff x="0" y="0"/>
            <a:chExt cx="4091085" cy="16691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91084" cy="1669185"/>
            </a:xfrm>
            <a:custGeom>
              <a:avLst/>
              <a:gdLst/>
              <a:ahLst/>
              <a:cxnLst/>
              <a:rect r="r" b="b" t="t" l="l"/>
              <a:pathLst>
                <a:path h="1669185" w="4091084">
                  <a:moveTo>
                    <a:pt x="0" y="0"/>
                  </a:moveTo>
                  <a:lnTo>
                    <a:pt x="4091084" y="0"/>
                  </a:lnTo>
                  <a:lnTo>
                    <a:pt x="4091084" y="1669185"/>
                  </a:lnTo>
                  <a:lnTo>
                    <a:pt x="0" y="166918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4091085" cy="16596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941852" y="3151226"/>
            <a:ext cx="9953190" cy="4074538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 rot="0">
            <a:off x="4716183" y="9163050"/>
            <a:ext cx="8855635" cy="200895"/>
            <a:chOff x="0" y="0"/>
            <a:chExt cx="2332348" cy="5291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32348" cy="52911"/>
            </a:xfrm>
            <a:custGeom>
              <a:avLst/>
              <a:gdLst/>
              <a:ahLst/>
              <a:cxnLst/>
              <a:rect r="r" b="b" t="t" l="l"/>
              <a:pathLst>
                <a:path h="52911" w="2332348">
                  <a:moveTo>
                    <a:pt x="0" y="0"/>
                  </a:moveTo>
                  <a:lnTo>
                    <a:pt x="2332348" y="0"/>
                  </a:lnTo>
                  <a:lnTo>
                    <a:pt x="2332348" y="52911"/>
                  </a:lnTo>
                  <a:lnTo>
                    <a:pt x="0" y="52911"/>
                  </a:ln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332348" cy="1005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5632279" y="1418582"/>
            <a:ext cx="385905" cy="385905"/>
          </a:xfrm>
          <a:custGeom>
            <a:avLst/>
            <a:gdLst/>
            <a:ahLst/>
            <a:cxnLst/>
            <a:rect r="r" b="b" t="t" l="l"/>
            <a:pathLst>
              <a:path h="385905" w="385905">
                <a:moveTo>
                  <a:pt x="0" y="0"/>
                </a:moveTo>
                <a:lnTo>
                  <a:pt x="385905" y="0"/>
                </a:lnTo>
                <a:lnTo>
                  <a:pt x="385905" y="385905"/>
                </a:lnTo>
                <a:lnTo>
                  <a:pt x="0" y="3859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893553" y="5487500"/>
            <a:ext cx="421309" cy="423620"/>
          </a:xfrm>
          <a:custGeom>
            <a:avLst/>
            <a:gdLst/>
            <a:ahLst/>
            <a:cxnLst/>
            <a:rect r="r" b="b" t="t" l="l"/>
            <a:pathLst>
              <a:path h="423620" w="421309">
                <a:moveTo>
                  <a:pt x="0" y="0"/>
                </a:moveTo>
                <a:lnTo>
                  <a:pt x="421310" y="0"/>
                </a:lnTo>
                <a:lnTo>
                  <a:pt x="421310" y="423620"/>
                </a:lnTo>
                <a:lnTo>
                  <a:pt x="0" y="4236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765856" y="4303781"/>
            <a:ext cx="388642" cy="388642"/>
          </a:xfrm>
          <a:custGeom>
            <a:avLst/>
            <a:gdLst/>
            <a:ahLst/>
            <a:cxnLst/>
            <a:rect r="r" b="b" t="t" l="l"/>
            <a:pathLst>
              <a:path h="388642" w="388642">
                <a:moveTo>
                  <a:pt x="0" y="0"/>
                </a:moveTo>
                <a:lnTo>
                  <a:pt x="388642" y="0"/>
                </a:lnTo>
                <a:lnTo>
                  <a:pt x="388642" y="388642"/>
                </a:lnTo>
                <a:lnTo>
                  <a:pt x="0" y="38864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0">
            <a:off x="11191096" y="4859717"/>
            <a:ext cx="473226" cy="473226"/>
          </a:xfrm>
          <a:custGeom>
            <a:avLst/>
            <a:gdLst/>
            <a:ahLst/>
            <a:cxnLst/>
            <a:rect r="r" b="b" t="t" l="l"/>
            <a:pathLst>
              <a:path h="473226" w="473226">
                <a:moveTo>
                  <a:pt x="473227" y="0"/>
                </a:moveTo>
                <a:lnTo>
                  <a:pt x="0" y="0"/>
                </a:lnTo>
                <a:lnTo>
                  <a:pt x="0" y="473226"/>
                </a:lnTo>
                <a:lnTo>
                  <a:pt x="473227" y="473226"/>
                </a:lnTo>
                <a:lnTo>
                  <a:pt x="473227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77854" y="1741656"/>
            <a:ext cx="4132292" cy="486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36"/>
              </a:lnSpc>
            </a:pPr>
            <a:r>
              <a:rPr lang="en-US" b="true" sz="3427" spc="-102">
                <a:solidFill>
                  <a:srgbClr val="3D3D3D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기존 자동화 vs AI Agent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240915" y="2390260"/>
            <a:ext cx="5806169" cy="206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64"/>
              </a:lnSpc>
            </a:pPr>
            <a:r>
              <a:rPr lang="en-US" sz="1200" spc="-36">
                <a:solidFill>
                  <a:srgbClr val="737373"/>
                </a:solidFill>
                <a:latin typeface="Heebo"/>
                <a:ea typeface="Heebo"/>
                <a:cs typeface="Heebo"/>
                <a:sym typeface="Heebo"/>
              </a:rPr>
              <a:t>유연성·의사결정·확장성을 기준으로 자동화 방식의 차이를 비교합니다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779069" y="6934863"/>
            <a:ext cx="10729862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</a:pPr>
            <a:r>
              <a:rPr lang="en-US" b="true" sz="2098" spc="-62">
                <a:solidFill>
                  <a:srgbClr val="3D3D3D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기존 자동화는 정해진 규칙과 입력에 강하고, AI Agent는 상황을 해석해 다음 행동을 선택합니다.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400934" y="7510173"/>
            <a:ext cx="9486133" cy="1425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62"/>
              </a:lnSpc>
            </a:pPr>
            <a:r>
              <a:rPr lang="en-US" sz="1800" spc="-53">
                <a:solidFill>
                  <a:srgbClr val="3D3D3D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유연성: 기존 자동화는 사전 정의된 조건 중심, AI Agent는 자연어와 예외 상황에 대응합니다.</a:t>
            </a:r>
          </a:p>
          <a:p>
            <a:pPr algn="ctr" marL="0" indent="0" lvl="0">
              <a:lnSpc>
                <a:spcPts val="2862"/>
              </a:lnSpc>
            </a:pPr>
            <a:r>
              <a:rPr lang="en-US" sz="1800" spc="-53">
                <a:solidFill>
                  <a:srgbClr val="3D3D3D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의사결정: 기존 자동화는 고정된 분기, AI Agent는 목표와 맥락을 바탕으로 작업 순서를 조정합니다.</a:t>
            </a:r>
          </a:p>
          <a:p>
            <a:pPr algn="ctr" marL="0" indent="0" lvl="0">
              <a:lnSpc>
                <a:spcPts val="2862"/>
              </a:lnSpc>
            </a:pPr>
            <a:r>
              <a:rPr lang="en-US" sz="1800" spc="-53">
                <a:solidFill>
                  <a:srgbClr val="3D3D3D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확장성: 기존 자동화는 기능 추가마다 규칙을 수정하지만, AI Agent는 API 도구를 연결해 업무 범위를 확장합니다.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879310" y="9176249"/>
            <a:ext cx="8529379" cy="174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16"/>
              </a:lnSpc>
            </a:pPr>
            <a:r>
              <a:rPr lang="en-US" sz="1200" spc="-36">
                <a:solidFill>
                  <a:srgbClr val="F6F4F1"/>
                </a:solidFill>
                <a:latin typeface="Heebo"/>
                <a:ea typeface="Heebo"/>
                <a:cs typeface="Heebo"/>
                <a:sym typeface="Heebo"/>
              </a:rPr>
              <a:t>기존 자동화와 AI AGENT의 핵심 차이: 규칙 실행에서 상황 기반 실행으로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73398" y="3605957"/>
            <a:ext cx="4929146" cy="735549"/>
            <a:chOff x="0" y="0"/>
            <a:chExt cx="544683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46830" cy="812800"/>
            </a:xfrm>
            <a:custGeom>
              <a:avLst/>
              <a:gdLst/>
              <a:ahLst/>
              <a:cxnLst/>
              <a:rect r="r" b="b" t="t" l="l"/>
              <a:pathLst>
                <a:path h="812800" w="5446830">
                  <a:moveTo>
                    <a:pt x="0" y="0"/>
                  </a:moveTo>
                  <a:lnTo>
                    <a:pt x="5446830" y="0"/>
                  </a:lnTo>
                  <a:lnTo>
                    <a:pt x="544683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DFDFD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5446830" cy="803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337849" y="3605957"/>
            <a:ext cx="735549" cy="73554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4D80E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812800" cy="803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021005" y="3605957"/>
            <a:ext cx="4929146" cy="735549"/>
            <a:chOff x="0" y="0"/>
            <a:chExt cx="544683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46830" cy="812800"/>
            </a:xfrm>
            <a:custGeom>
              <a:avLst/>
              <a:gdLst/>
              <a:ahLst/>
              <a:cxnLst/>
              <a:rect r="r" b="b" t="t" l="l"/>
              <a:pathLst>
                <a:path h="812800" w="5446830">
                  <a:moveTo>
                    <a:pt x="0" y="0"/>
                  </a:moveTo>
                  <a:lnTo>
                    <a:pt x="5446830" y="0"/>
                  </a:lnTo>
                  <a:lnTo>
                    <a:pt x="544683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DFDFD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5446830" cy="803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85456" y="3605957"/>
            <a:ext cx="735549" cy="73554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4D80EE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812800" cy="803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73398" y="4620968"/>
            <a:ext cx="4929146" cy="735549"/>
            <a:chOff x="0" y="0"/>
            <a:chExt cx="544683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46830" cy="812800"/>
            </a:xfrm>
            <a:custGeom>
              <a:avLst/>
              <a:gdLst/>
              <a:ahLst/>
              <a:cxnLst/>
              <a:rect r="r" b="b" t="t" l="l"/>
              <a:pathLst>
                <a:path h="812800" w="5446830">
                  <a:moveTo>
                    <a:pt x="0" y="0"/>
                  </a:moveTo>
                  <a:lnTo>
                    <a:pt x="5446830" y="0"/>
                  </a:lnTo>
                  <a:lnTo>
                    <a:pt x="544683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DFDFD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9525"/>
              <a:ext cx="5446830" cy="803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337849" y="4620968"/>
            <a:ext cx="735549" cy="73554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4D80EE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812800" cy="803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021005" y="4620968"/>
            <a:ext cx="4929146" cy="735549"/>
            <a:chOff x="0" y="0"/>
            <a:chExt cx="544683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46830" cy="812800"/>
            </a:xfrm>
            <a:custGeom>
              <a:avLst/>
              <a:gdLst/>
              <a:ahLst/>
              <a:cxnLst/>
              <a:rect r="r" b="b" t="t" l="l"/>
              <a:pathLst>
                <a:path h="812800" w="5446830">
                  <a:moveTo>
                    <a:pt x="0" y="0"/>
                  </a:moveTo>
                  <a:lnTo>
                    <a:pt x="5446830" y="0"/>
                  </a:lnTo>
                  <a:lnTo>
                    <a:pt x="544683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DFDFD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9525"/>
              <a:ext cx="5446830" cy="803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285456" y="4620968"/>
            <a:ext cx="735549" cy="735549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4D80EE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9525"/>
              <a:ext cx="812800" cy="803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073398" y="5635978"/>
            <a:ext cx="4929146" cy="735549"/>
            <a:chOff x="0" y="0"/>
            <a:chExt cx="544683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46830" cy="812800"/>
            </a:xfrm>
            <a:custGeom>
              <a:avLst/>
              <a:gdLst/>
              <a:ahLst/>
              <a:cxnLst/>
              <a:rect r="r" b="b" t="t" l="l"/>
              <a:pathLst>
                <a:path h="812800" w="5446830">
                  <a:moveTo>
                    <a:pt x="0" y="0"/>
                  </a:moveTo>
                  <a:lnTo>
                    <a:pt x="5446830" y="0"/>
                  </a:lnTo>
                  <a:lnTo>
                    <a:pt x="544683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DFDFD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9525"/>
              <a:ext cx="5446830" cy="803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337849" y="5635978"/>
            <a:ext cx="735549" cy="735549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4D80EE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9525"/>
              <a:ext cx="812800" cy="803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021005" y="5635978"/>
            <a:ext cx="4929146" cy="735549"/>
            <a:chOff x="0" y="0"/>
            <a:chExt cx="544683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446830" cy="812800"/>
            </a:xfrm>
            <a:custGeom>
              <a:avLst/>
              <a:gdLst/>
              <a:ahLst/>
              <a:cxnLst/>
              <a:rect r="r" b="b" t="t" l="l"/>
              <a:pathLst>
                <a:path h="812800" w="5446830">
                  <a:moveTo>
                    <a:pt x="0" y="0"/>
                  </a:moveTo>
                  <a:lnTo>
                    <a:pt x="5446830" y="0"/>
                  </a:lnTo>
                  <a:lnTo>
                    <a:pt x="544683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DFDFD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9525"/>
              <a:ext cx="5446830" cy="803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285456" y="5635978"/>
            <a:ext cx="735549" cy="735549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4D80EE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9525"/>
              <a:ext cx="812800" cy="803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073398" y="6650989"/>
            <a:ext cx="4929146" cy="735549"/>
            <a:chOff x="0" y="0"/>
            <a:chExt cx="544683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446830" cy="812800"/>
            </a:xfrm>
            <a:custGeom>
              <a:avLst/>
              <a:gdLst/>
              <a:ahLst/>
              <a:cxnLst/>
              <a:rect r="r" b="b" t="t" l="l"/>
              <a:pathLst>
                <a:path h="812800" w="5446830">
                  <a:moveTo>
                    <a:pt x="0" y="0"/>
                  </a:moveTo>
                  <a:lnTo>
                    <a:pt x="5446830" y="0"/>
                  </a:lnTo>
                  <a:lnTo>
                    <a:pt x="544683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DFDFD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9525"/>
              <a:ext cx="5446830" cy="803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3337849" y="6650989"/>
            <a:ext cx="735549" cy="735549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4D80EE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9525"/>
              <a:ext cx="812800" cy="803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021005" y="6650989"/>
            <a:ext cx="4929146" cy="735549"/>
            <a:chOff x="0" y="0"/>
            <a:chExt cx="544683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446830" cy="812800"/>
            </a:xfrm>
            <a:custGeom>
              <a:avLst/>
              <a:gdLst/>
              <a:ahLst/>
              <a:cxnLst/>
              <a:rect r="r" b="b" t="t" l="l"/>
              <a:pathLst>
                <a:path h="812800" w="5446830">
                  <a:moveTo>
                    <a:pt x="0" y="0"/>
                  </a:moveTo>
                  <a:lnTo>
                    <a:pt x="5446830" y="0"/>
                  </a:lnTo>
                  <a:lnTo>
                    <a:pt x="544683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DFDFD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9525"/>
              <a:ext cx="5446830" cy="803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285456" y="6650989"/>
            <a:ext cx="735549" cy="735549"/>
            <a:chOff x="0" y="0"/>
            <a:chExt cx="812800" cy="812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4D80EE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9525"/>
              <a:ext cx="812800" cy="803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32"/>
                </a:lnSpc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4344642" y="3804567"/>
            <a:ext cx="1852970" cy="284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2"/>
              </a:lnSpc>
            </a:pPr>
            <a:r>
              <a:rPr lang="en-US" b="true" sz="1983" spc="-59">
                <a:solidFill>
                  <a:srgbClr val="3D3D3D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시장조사 자동화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6072962" y="3862543"/>
            <a:ext cx="2832366" cy="231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43"/>
              </a:lnSpc>
            </a:pPr>
            <a:r>
              <a:rPr lang="en-US" sz="1599" spc="-47">
                <a:solidFill>
                  <a:srgbClr val="737373"/>
                </a:solidFill>
                <a:latin typeface="Heebo"/>
                <a:ea typeface="Heebo"/>
                <a:cs typeface="Heebo"/>
                <a:sym typeface="Heebo"/>
              </a:rPr>
              <a:t>/MARKET RESEARCH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3438006" y="3782723"/>
            <a:ext cx="535237" cy="327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2"/>
              </a:lnSpc>
            </a:pPr>
            <a:r>
              <a:rPr lang="en-US" sz="2314" spc="-69">
                <a:solidFill>
                  <a:srgbClr val="FDFDFD"/>
                </a:solidFill>
                <a:latin typeface="Heebo"/>
                <a:ea typeface="Heebo"/>
                <a:cs typeface="Heebo"/>
                <a:sym typeface="Heebo"/>
              </a:rPr>
              <a:t>1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0292249" y="3804567"/>
            <a:ext cx="1852970" cy="284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2"/>
              </a:lnSpc>
            </a:pPr>
            <a:r>
              <a:rPr lang="en-US" b="true" sz="1983" spc="-59">
                <a:solidFill>
                  <a:srgbClr val="3D3D3D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고객응대 자동화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2020568" y="3862543"/>
            <a:ext cx="2832366" cy="231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43"/>
              </a:lnSpc>
            </a:pPr>
            <a:r>
              <a:rPr lang="en-US" sz="1599" spc="-47">
                <a:solidFill>
                  <a:srgbClr val="737373"/>
                </a:solidFill>
                <a:latin typeface="Heebo"/>
                <a:ea typeface="Heebo"/>
                <a:cs typeface="Heebo"/>
                <a:sym typeface="Heebo"/>
              </a:rPr>
              <a:t>/CUSTOMER SUPPORT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385612" y="3782723"/>
            <a:ext cx="535237" cy="327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2"/>
              </a:lnSpc>
            </a:pPr>
            <a:r>
              <a:rPr lang="en-US" sz="2314" spc="-69">
                <a:solidFill>
                  <a:srgbClr val="FDFDFD"/>
                </a:solidFill>
                <a:latin typeface="Heebo"/>
                <a:ea typeface="Heebo"/>
                <a:cs typeface="Heebo"/>
                <a:sym typeface="Heebo"/>
              </a:rPr>
              <a:t>5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4344642" y="4819578"/>
            <a:ext cx="1852970" cy="284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2"/>
              </a:lnSpc>
            </a:pPr>
            <a:r>
              <a:rPr lang="en-US" b="true" sz="1983" spc="-59">
                <a:solidFill>
                  <a:srgbClr val="3D3D3D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마케팅 콘텐츠 생성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6072962" y="4877554"/>
            <a:ext cx="2832366" cy="231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43"/>
              </a:lnSpc>
            </a:pPr>
            <a:r>
              <a:rPr lang="en-US" sz="1599" spc="-47">
                <a:solidFill>
                  <a:srgbClr val="737373"/>
                </a:solidFill>
                <a:latin typeface="Heebo"/>
                <a:ea typeface="Heebo"/>
                <a:cs typeface="Heebo"/>
                <a:sym typeface="Heebo"/>
              </a:rPr>
              <a:t>/MARKETING CONTENT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3438006" y="4797734"/>
            <a:ext cx="535237" cy="327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2"/>
              </a:lnSpc>
            </a:pPr>
            <a:r>
              <a:rPr lang="en-US" sz="2314" spc="-69">
                <a:solidFill>
                  <a:srgbClr val="FDFDFD"/>
                </a:solidFill>
                <a:latin typeface="Heebo"/>
                <a:ea typeface="Heebo"/>
                <a:cs typeface="Heebo"/>
                <a:sym typeface="Heebo"/>
              </a:rPr>
              <a:t>2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0292249" y="4819578"/>
            <a:ext cx="2342668" cy="284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2"/>
              </a:lnSpc>
            </a:pPr>
            <a:r>
              <a:rPr lang="en-US" b="true" sz="1983" spc="-59">
                <a:solidFill>
                  <a:srgbClr val="3D3D3D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재고 및 발주 관리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2599303" y="4893238"/>
            <a:ext cx="2253632" cy="200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25"/>
              </a:lnSpc>
            </a:pPr>
            <a:r>
              <a:rPr lang="en-US" sz="1399" spc="-41">
                <a:solidFill>
                  <a:srgbClr val="737373"/>
                </a:solidFill>
                <a:latin typeface="Heebo"/>
                <a:ea typeface="Heebo"/>
                <a:cs typeface="Heebo"/>
                <a:sym typeface="Heebo"/>
              </a:rPr>
              <a:t>/INVENTORY AND ORDERING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9385612" y="4797734"/>
            <a:ext cx="535237" cy="327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2"/>
              </a:lnSpc>
            </a:pPr>
            <a:r>
              <a:rPr lang="en-US" sz="2314" spc="-69">
                <a:solidFill>
                  <a:srgbClr val="FDFDFD"/>
                </a:solidFill>
                <a:latin typeface="Heebo"/>
                <a:ea typeface="Heebo"/>
                <a:cs typeface="Heebo"/>
                <a:sym typeface="Heebo"/>
              </a:rPr>
              <a:t>6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4344642" y="5834589"/>
            <a:ext cx="1852970" cy="284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2"/>
              </a:lnSpc>
            </a:pPr>
            <a:r>
              <a:rPr lang="en-US" b="true" sz="1983" spc="-59">
                <a:solidFill>
                  <a:srgbClr val="3D3D3D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리드 발굴 및 영업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6072962" y="5919275"/>
            <a:ext cx="2832366" cy="200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25"/>
              </a:lnSpc>
            </a:pPr>
            <a:r>
              <a:rPr lang="en-US" sz="1399" spc="-41">
                <a:solidFill>
                  <a:srgbClr val="737373"/>
                </a:solidFill>
                <a:latin typeface="Heebo"/>
                <a:ea typeface="Heebo"/>
                <a:cs typeface="Heebo"/>
                <a:sym typeface="Heebo"/>
              </a:rPr>
              <a:t>/LEAD GENERATION AND SALES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3438006" y="5812745"/>
            <a:ext cx="535237" cy="327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2"/>
              </a:lnSpc>
            </a:pPr>
            <a:r>
              <a:rPr lang="en-US" sz="2314" spc="-69">
                <a:solidFill>
                  <a:srgbClr val="FDFDFD"/>
                </a:solidFill>
                <a:latin typeface="Heebo"/>
                <a:ea typeface="Heebo"/>
                <a:cs typeface="Heebo"/>
                <a:sym typeface="Heebo"/>
              </a:rPr>
              <a:t>3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0292249" y="5834589"/>
            <a:ext cx="1852970" cy="284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2"/>
              </a:lnSpc>
            </a:pPr>
            <a:r>
              <a:rPr lang="en-US" b="true" sz="1983" spc="-59">
                <a:solidFill>
                  <a:srgbClr val="3D3D3D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고객 데이터 분석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1520819" y="5892564"/>
            <a:ext cx="2832366" cy="231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43"/>
              </a:lnSpc>
            </a:pPr>
            <a:r>
              <a:rPr lang="en-US" sz="1599" spc="-47">
                <a:solidFill>
                  <a:srgbClr val="737373"/>
                </a:solidFill>
                <a:latin typeface="Heebo"/>
                <a:ea typeface="Heebo"/>
                <a:cs typeface="Heebo"/>
                <a:sym typeface="Heebo"/>
              </a:rPr>
              <a:t>/CUSTOMER DATA ANALYSIS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9385612" y="5812745"/>
            <a:ext cx="535237" cy="327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2"/>
              </a:lnSpc>
            </a:pPr>
            <a:r>
              <a:rPr lang="en-US" sz="2314" spc="-69">
                <a:solidFill>
                  <a:srgbClr val="FDFDFD"/>
                </a:solidFill>
                <a:latin typeface="Heebo"/>
                <a:ea typeface="Heebo"/>
                <a:cs typeface="Heebo"/>
                <a:sym typeface="Heebo"/>
              </a:rPr>
              <a:t>7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4344642" y="6849599"/>
            <a:ext cx="1852970" cy="284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2"/>
              </a:lnSpc>
            </a:pPr>
            <a:r>
              <a:rPr lang="en-US" b="true" sz="1983" spc="-59">
                <a:solidFill>
                  <a:srgbClr val="3D3D3D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업무 문서 및 보고서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6072962" y="6907575"/>
            <a:ext cx="2832366" cy="231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43"/>
              </a:lnSpc>
            </a:pPr>
            <a:r>
              <a:rPr lang="en-US" sz="1599" spc="-47">
                <a:solidFill>
                  <a:srgbClr val="737373"/>
                </a:solidFill>
                <a:latin typeface="Heebo"/>
                <a:ea typeface="Heebo"/>
                <a:cs typeface="Heebo"/>
                <a:sym typeface="Heebo"/>
              </a:rPr>
              <a:t>/DOCUMENTS AND REPORTS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3438006" y="6827755"/>
            <a:ext cx="535237" cy="327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2"/>
              </a:lnSpc>
            </a:pPr>
            <a:r>
              <a:rPr lang="en-US" sz="2314" spc="-69">
                <a:solidFill>
                  <a:srgbClr val="FDFDFD"/>
                </a:solidFill>
                <a:latin typeface="Heebo"/>
                <a:ea typeface="Heebo"/>
                <a:cs typeface="Heebo"/>
                <a:sym typeface="Heebo"/>
              </a:rPr>
              <a:t>4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0292249" y="6849599"/>
            <a:ext cx="1852970" cy="284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2"/>
              </a:lnSpc>
            </a:pPr>
            <a:r>
              <a:rPr lang="en-US" b="true" sz="1983" spc="-59">
                <a:solidFill>
                  <a:srgbClr val="3D3D3D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일정 및 운영 관리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1789075" y="6907575"/>
            <a:ext cx="2832366" cy="450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43"/>
              </a:lnSpc>
            </a:pPr>
            <a:r>
              <a:rPr lang="en-US" sz="1599" spc="-47">
                <a:solidFill>
                  <a:srgbClr val="737373"/>
                </a:solidFill>
                <a:latin typeface="Heebo"/>
                <a:ea typeface="Heebo"/>
                <a:cs typeface="Heebo"/>
                <a:sym typeface="Heebo"/>
              </a:rPr>
              <a:t>/SCHEDULING AND OPERATIONS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9385612" y="6827755"/>
            <a:ext cx="535237" cy="327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2"/>
              </a:lnSpc>
            </a:pPr>
            <a:r>
              <a:rPr lang="en-US" sz="2314" spc="-69">
                <a:solidFill>
                  <a:srgbClr val="FDFDFD"/>
                </a:solidFill>
                <a:latin typeface="Heebo"/>
                <a:ea typeface="Heebo"/>
                <a:cs typeface="Heebo"/>
                <a:sym typeface="Heebo"/>
              </a:rPr>
              <a:t>8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4879310" y="8304626"/>
            <a:ext cx="8529379" cy="174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16"/>
              </a:lnSpc>
            </a:pPr>
            <a:r>
              <a:rPr lang="en-US" b="true" sz="1200">
                <a:solidFill>
                  <a:srgbClr val="737373"/>
                </a:solidFill>
                <a:latin typeface="Heebo Medium"/>
                <a:ea typeface="Heebo Medium"/>
                <a:cs typeface="Heebo Medium"/>
                <a:sym typeface="Heebo Medium"/>
              </a:rPr>
              <a:t>AI AGENT가 반복 업무를 연결하고 실행해 창업자의 의사결정과 성장에 집중할 수 있도록 지원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7077854" y="1826926"/>
            <a:ext cx="4132292" cy="390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5"/>
              </a:lnSpc>
            </a:pPr>
            <a:r>
              <a:rPr lang="en-US" b="true" sz="2702" spc="-81">
                <a:solidFill>
                  <a:srgbClr val="3D3D3D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AI Agent 기반 창업 업무 자동화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4540327" y="2485055"/>
            <a:ext cx="9207346" cy="206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64"/>
              </a:lnSpc>
            </a:pPr>
            <a:r>
              <a:rPr lang="en-US" sz="1200" spc="-36">
                <a:solidFill>
                  <a:srgbClr val="737373"/>
                </a:solidFill>
                <a:latin typeface="Heebo"/>
                <a:ea typeface="Heebo"/>
                <a:cs typeface="Heebo"/>
                <a:sym typeface="Heebo"/>
              </a:rPr>
              <a:t>시장조사부터 고객응대와 운영관리까지 8가지 핵심 업무를 자동화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258634" y="2814533"/>
            <a:ext cx="1454363" cy="1454363"/>
          </a:xfrm>
          <a:custGeom>
            <a:avLst/>
            <a:gdLst/>
            <a:ahLst/>
            <a:cxnLst/>
            <a:rect r="r" b="b" t="t" l="l"/>
            <a:pathLst>
              <a:path h="1454363" w="1454363">
                <a:moveTo>
                  <a:pt x="0" y="0"/>
                </a:moveTo>
                <a:lnTo>
                  <a:pt x="1454363" y="0"/>
                </a:lnTo>
                <a:lnTo>
                  <a:pt x="1454363" y="1454362"/>
                </a:lnTo>
                <a:lnTo>
                  <a:pt x="0" y="14543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963220" y="2961959"/>
            <a:ext cx="2066146" cy="1573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99"/>
              </a:lnSpc>
            </a:pPr>
            <a:r>
              <a:rPr lang="en-US" b="true" sz="2843" spc="-85">
                <a:solidFill>
                  <a:srgbClr val="3D3D3D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REST API + AI Agent</a:t>
            </a:r>
          </a:p>
          <a:p>
            <a:pPr algn="l" marL="0" indent="0" lvl="0">
              <a:lnSpc>
                <a:spcPts val="3099"/>
              </a:lnSpc>
            </a:pPr>
            <a:r>
              <a:rPr lang="en-US" b="true" sz="2843" spc="-85">
                <a:solidFill>
                  <a:srgbClr val="3D3D3D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통합 및 향후 방향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779069" y="5056671"/>
            <a:ext cx="10729862" cy="737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</a:pPr>
            <a:r>
              <a:rPr lang="en-US" b="true" sz="2098" spc="-62">
                <a:solidFill>
                  <a:srgbClr val="3D3D3D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FastAPI 기반 카메라 관리 REST API와 AI Agent를 연결하여</a:t>
            </a:r>
          </a:p>
          <a:p>
            <a:pPr algn="ctr" marL="0" indent="0" lvl="0">
              <a:lnSpc>
                <a:spcPts val="2937"/>
              </a:lnSpc>
            </a:pPr>
            <a:r>
              <a:rPr lang="en-US" b="true" sz="2098" spc="-62">
                <a:solidFill>
                  <a:srgbClr val="3D3D3D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데이터 수집부터 판단·실행까지 이어지는 자동화 흐름을 구축합니다.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400934" y="6041348"/>
            <a:ext cx="9486133" cy="701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59"/>
              </a:lnSpc>
            </a:pPr>
            <a:r>
              <a:rPr lang="en-US" sz="1798" spc="-53">
                <a:solidFill>
                  <a:srgbClr val="3D3D3D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향후에는 멀티카메라 운영, 장애 예측, 자연어 기반 제어와 업무 자동화를 확장하여</a:t>
            </a:r>
          </a:p>
          <a:p>
            <a:pPr algn="ctr" marL="0" indent="0" lvl="0">
              <a:lnSpc>
                <a:spcPts val="2859"/>
              </a:lnSpc>
            </a:pPr>
            <a:r>
              <a:rPr lang="en-US" sz="1798" spc="-53">
                <a:solidFill>
                  <a:srgbClr val="3D3D3D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안정적인 시스템 운영과 창업 업무의 생산성을 함께 높이겠습니다.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348511" y="7348261"/>
            <a:ext cx="7590978" cy="314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80"/>
              </a:lnSpc>
            </a:pPr>
            <a:r>
              <a:rPr lang="en-US" b="true" sz="1798">
                <a:solidFill>
                  <a:srgbClr val="3D3D3D"/>
                </a:solidFill>
                <a:latin typeface="Heebo Medium"/>
                <a:ea typeface="Heebo Medium"/>
                <a:cs typeface="Heebo Medium"/>
                <a:sym typeface="Heebo Medium"/>
              </a:rPr>
              <a:t>Q&amp;A  /  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DAHSsSRmSE0</dc:identifier>
  <dcterms:modified xsi:type="dcterms:W3CDTF">2011-08-01T06:04:30Z</dcterms:modified>
  <cp:revision>1</cp:revision>
  <dc:title>FastAPI Camera REST &amp; AI Automation Seminar</dc:title>
</cp:coreProperties>
</file>