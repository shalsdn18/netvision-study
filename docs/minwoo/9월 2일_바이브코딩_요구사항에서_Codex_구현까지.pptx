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1881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발표의 핵심 메시지: 도구를 나열하는 것이 아니라 산출물이 다음 단계 입력으로 넘어가는 실제 연결을 보여준다.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2043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과제 원문의 요구사항 정의, 시스템/로직 설계, AI 자동 코딩 세 단계를 선택한 도구와 매핑한다.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5513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바이브 코딩을 부정하는 슬라이드가 아니라, 빠른 생성에 요구사항·설계·검증 계약을 더하는 이유를 설명한다.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1146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ChatPRD 실습 결과를 보여준다. 화면은 사용자가 제공한 실습 자료의 실제 캡처다.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3557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ChatPRD의 자동 질문이 유용했지만 최종 리뷰에서 충돌을 확인했다는 실습 결론이다.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5074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 Kit의 다섯 단계와 산출물 연결을 요약한다.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5786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Specify와 Clarify 단계에서 기능 요구와 모호성을 고정한 실습 화면이다.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0587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단계에서 생성된 Data Model, OpenAPI, Quickstart, 프로젝트 구조를 설명한다.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5286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Tasks와 Analyze 결과 화면이다. 요구사항이 실제 Task까지 연결되는지와 구현 전 해결할 이슈를 확인했다.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380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요구사항부터 테스트까지의 추적성을 표로 정리한다. Ping/TCP는 후속 범위로 명시한다.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85693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 Kit 산출물이 Codex 입력으로 전달되어 구현되었다는 연결을 설명한다.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5099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Codex가 보고한 구현 결과 실제 화면과 구현 범위를 요약한다.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5174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VS Code의 실제 프로젝트 구조를 보여주고 specs, src, tests의 역할을 편집 가능한 도형으로 재구성한다.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11698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실제 npm test 실행 화면이다. Camera CRUD 계약, 생명주기, 앱 재시작 후 SQLite 영속성 테스트가 포함된다.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8527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완료 범위와 남은 T022-T043을 구분한다. Ping/TCP는 미구현이며 후속 Task다.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1550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마지막 메시지: 자연어를 문서, Task, 코드, 테스트로 이어 붙이면 Toolchain의 가치를 실제 증거로 설명할 수 있다.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seminar decks and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4489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52E6761F-C682-4F4A-A2E5-FF130FE264AE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F59B23"/>
                </a:solidFill>
              </a:defRPr>
            </a:pPr>
            <a:r>
              <a:rPr sz="1125" b="1">
                <a:solidFill>
                  <a:srgbClr val="F59B23"/>
                </a:solidFill>
              </a:rPr>
              <a:t>AI 엔지니어링 세미나 · 2026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24477D30-8146-47AF-958A-4C10BB3CC1D1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요구사항에서</a:t>
            </a:r>
          </a:p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실제 구현까지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57E5E1BC-4254-4AB8-ADD1-093E4671A1B0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9FC7E0"/>
                </a:solidFill>
              </a:defRPr>
            </a:pPr>
            <a:r>
              <a:rPr sz="1875" b="0">
                <a:solidFill>
                  <a:srgbClr val="9FC7E0"/>
                </a:solidFill>
              </a:rPr>
              <a:t>ChatPRD × Spec Kit × Codex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A3D899B-42BC-484D-BC1A-D525DFC1E098}"/>
              </a:ext>
            </a:extLst>
          </p:cNvPr>
          <p:cNvSpPr>
            <a:spLocks noGrp="1"/>
          </p:cNvSpPr>
          <p:nvPr/>
        </p:nvSpPr>
        <p:spPr>
          <a:xfrm>
            <a:off x="723900" y="3781425"/>
            <a:ext cx="2857500" cy="38100"/>
          </a:xfrm>
          <a:prstGeom prst="rect">
            <a:avLst/>
          </a:prstGeom>
          <a:solidFill>
            <a:srgbClr val="3BB7A0"/>
          </a:solidFill>
          <a:ln w="0">
            <a:solidFill>
              <a:srgbClr val="3BB7A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94E1A8BA-267F-4FD8-B324-88D347712452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D4E1EA"/>
                </a:solidFill>
              </a:defRPr>
            </a:pPr>
            <a:r>
              <a:rPr sz="1650" b="0">
                <a:solidFill>
                  <a:srgbClr val="D4E1EA"/>
                </a:solidFill>
              </a:rPr>
              <a:t>자연어를 곧바로 코드로 보내지 않고,</a:t>
            </a:r>
          </a:p>
          <a:p>
            <a:pPr algn="l">
              <a:defRPr sz="1650" b="0">
                <a:solidFill>
                  <a:srgbClr val="D4E1EA"/>
                </a:solidFill>
              </a:defRPr>
            </a:pPr>
            <a:r>
              <a:rPr sz="1650" b="0">
                <a:solidFill>
                  <a:srgbClr val="D4E1EA"/>
                </a:solidFill>
              </a:rPr>
              <a:t>명세·설계·Task를 구현과 검증의 계약으로 연결했다.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xmlns="" id="{6C61662B-966E-41FC-AFF4-0AA2C8065081}"/>
              </a:ext>
            </a:extLst>
          </p:cNvPr>
          <p:cNvSpPr>
            <a:spLocks noGrp="1"/>
          </p:cNvSpPr>
          <p:nvPr/>
        </p:nvSpPr>
        <p:spPr>
          <a:xfrm>
            <a:off x="8334375" y="1676400"/>
            <a:ext cx="1619250" cy="361950"/>
          </a:xfrm>
          <a:prstGeom prst="roundRect">
            <a:avLst>
              <a:gd name="adj" fmla="val 31579"/>
            </a:avLst>
          </a:prstGeom>
          <a:solidFill>
            <a:srgbClr val="17293A"/>
          </a:solidFill>
          <a:ln w="9525">
            <a:solidFill>
              <a:srgbClr val="17293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31DBAF66-075E-476B-8950-803336507C88}"/>
              </a:ext>
            </a:extLst>
          </p:cNvPr>
          <p:cNvSpPr>
            <a:spLocks noGrp="1"/>
          </p:cNvSpPr>
          <p:nvPr/>
        </p:nvSpPr>
        <p:spPr>
          <a:xfrm>
            <a:off x="8410575" y="1704975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3BB7A0"/>
                </a:solidFill>
              </a:defRPr>
            </a:pPr>
            <a:r>
              <a:rPr sz="1125" b="1">
                <a:solidFill>
                  <a:srgbClr val="3BB7A0"/>
                </a:solidFill>
              </a:rPr>
              <a:t>3 Test Files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xmlns="" id="{8B9D5C80-39BD-4E9A-8C96-581CA6714956}"/>
              </a:ext>
            </a:extLst>
          </p:cNvPr>
          <p:cNvSpPr>
            <a:spLocks noGrp="1"/>
          </p:cNvSpPr>
          <p:nvPr/>
        </p:nvSpPr>
        <p:spPr>
          <a:xfrm>
            <a:off x="10048875" y="1676400"/>
            <a:ext cx="1619250" cy="361950"/>
          </a:xfrm>
          <a:prstGeom prst="roundRect">
            <a:avLst>
              <a:gd name="adj" fmla="val 31579"/>
            </a:avLst>
          </a:prstGeom>
          <a:solidFill>
            <a:srgbClr val="17293A"/>
          </a:solidFill>
          <a:ln w="9525">
            <a:solidFill>
              <a:srgbClr val="17293A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6828C4F-A686-47FA-B76B-83F3CA8C6468}"/>
              </a:ext>
            </a:extLst>
          </p:cNvPr>
          <p:cNvSpPr>
            <a:spLocks noGrp="1"/>
          </p:cNvSpPr>
          <p:nvPr/>
        </p:nvSpPr>
        <p:spPr>
          <a:xfrm>
            <a:off x="10125075" y="1704975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8FD12D"/>
                </a:solidFill>
              </a:defRPr>
            </a:pPr>
            <a:r>
              <a:rPr sz="1125" b="1">
                <a:solidFill>
                  <a:srgbClr val="8FD12D"/>
                </a:solidFill>
              </a:rPr>
              <a:t>7 Tests PASS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xmlns="" id="{058D4F5D-680A-44C8-9D8F-1E3D7B216C6A}"/>
              </a:ext>
            </a:extLst>
          </p:cNvPr>
          <p:cNvSpPr>
            <a:spLocks noGrp="1"/>
          </p:cNvSpPr>
          <p:nvPr/>
        </p:nvSpPr>
        <p:spPr>
          <a:xfrm>
            <a:off x="8334375" y="2286000"/>
            <a:ext cx="3333750" cy="2190750"/>
          </a:xfrm>
          <a:prstGeom prst="roundRect">
            <a:avLst>
              <a:gd name="adj" fmla="val 5217"/>
            </a:avLst>
          </a:prstGeom>
          <a:solidFill>
            <a:srgbClr val="17293A"/>
          </a:solidFill>
          <a:ln w="9525">
            <a:solidFill>
              <a:srgbClr val="345067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C1425CB5-A9FB-4809-8F23-8CAE9A47ABBF}"/>
              </a:ext>
            </a:extLst>
          </p:cNvPr>
          <p:cNvSpPr>
            <a:spLocks noGrp="1"/>
          </p:cNvSpPr>
          <p:nvPr/>
        </p:nvSpPr>
        <p:spPr>
          <a:xfrm>
            <a:off x="8629650" y="260985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요구사항 정의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A75BDEC7-D293-4EAB-9A63-41D41C52E049}"/>
              </a:ext>
            </a:extLst>
          </p:cNvPr>
          <p:cNvSpPr>
            <a:spLocks noGrp="1"/>
          </p:cNvSpPr>
          <p:nvPr/>
        </p:nvSpPr>
        <p:spPr>
          <a:xfrm>
            <a:off x="9772650" y="29718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BB7A0"/>
                </a:solidFill>
              </a:defRPr>
            </a:pPr>
            <a:r>
              <a:rPr sz="1650" b="1">
                <a:solidFill>
                  <a:srgbClr val="3BB7A0"/>
                </a:solidFill>
              </a:rPr>
              <a:t>↓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8EE3A8A1-E35A-49A2-9EEB-2C8A364B3B42}"/>
              </a:ext>
            </a:extLst>
          </p:cNvPr>
          <p:cNvSpPr>
            <a:spLocks noGrp="1"/>
          </p:cNvSpPr>
          <p:nvPr/>
        </p:nvSpPr>
        <p:spPr>
          <a:xfrm>
            <a:off x="8629650" y="33147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시스템·로직 설계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DC8E0353-34C9-455A-915F-F705E53C43FB}"/>
              </a:ext>
            </a:extLst>
          </p:cNvPr>
          <p:cNvSpPr>
            <a:spLocks noGrp="1"/>
          </p:cNvSpPr>
          <p:nvPr/>
        </p:nvSpPr>
        <p:spPr>
          <a:xfrm>
            <a:off x="9772650" y="367665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BB7A0"/>
                </a:solidFill>
              </a:defRPr>
            </a:pPr>
            <a:r>
              <a:rPr sz="1650" b="1">
                <a:solidFill>
                  <a:srgbClr val="3BB7A0"/>
                </a:solidFill>
              </a:rPr>
              <a:t>↓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BB26D0BE-E9F4-4750-8B2C-103EC391A954}"/>
              </a:ext>
            </a:extLst>
          </p:cNvPr>
          <p:cNvSpPr>
            <a:spLocks noGrp="1"/>
          </p:cNvSpPr>
          <p:nvPr/>
        </p:nvSpPr>
        <p:spPr>
          <a:xfrm>
            <a:off x="8629650" y="401955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 자동 코딩 + 검증</a:t>
            </a:r>
          </a:p>
        </p:txBody>
      </p:sp>
    </p:spTree>
    <p:extLst>
      <p:ext uri="{BB962C8B-B14F-4D97-AF65-F5344CB8AC3E}">
        <p14:creationId xmlns:p14="http://schemas.microsoft.com/office/powerpoint/2010/main" val="709900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B0CF686F-7794-4F94-B60F-13D763879C2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878B5"/>
                </a:solidFill>
              </a:defRPr>
            </a:pPr>
            <a:r>
              <a:rPr sz="1050" b="1">
                <a:solidFill>
                  <a:srgbClr val="2878B5"/>
                </a:solidFill>
              </a:rPr>
              <a:t>PART 1 · 과제 정의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C6AC4636-0176-4AF7-9147-DFA06269321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3단계 Toolchain을 실제 결과로 증명한다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069E157D-4C6B-4E8E-9B47-6CF3D4237C7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A49C71BF-ED83-4150-91D2-BBC00717AF69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93A0AA"/>
                </a:solidFill>
              </a:defRPr>
            </a:pPr>
            <a:r>
              <a:rPr sz="975" b="1">
                <a:solidFill>
                  <a:srgbClr val="93A0AA"/>
                </a:solidFill>
              </a:rPr>
              <a:t>02</a:t>
            </a: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933171"/>
            <a:ext cx="4762500" cy="3201209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xmlns="" id="{3707BD32-7261-473A-BFE9-8F40A49A70EC}"/>
              </a:ext>
            </a:extLst>
          </p:cNvPr>
          <p:cNvSpPr>
            <a:spLocks noGrp="1"/>
          </p:cNvSpPr>
          <p:nvPr/>
        </p:nvSpPr>
        <p:spPr>
          <a:xfrm>
            <a:off x="5857875" y="1752600"/>
            <a:ext cx="538162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xmlns="" id="{63662C77-74BF-411B-9546-C9748D85E1A2}"/>
              </a:ext>
            </a:extLst>
          </p:cNvPr>
          <p:cNvSpPr>
            <a:spLocks noGrp="1"/>
          </p:cNvSpPr>
          <p:nvPr/>
        </p:nvSpPr>
        <p:spPr>
          <a:xfrm>
            <a:off x="6048375" y="2019300"/>
            <a:ext cx="457200" cy="361950"/>
          </a:xfrm>
          <a:prstGeom prst="roundRect">
            <a:avLst>
              <a:gd name="adj" fmla="val 31579"/>
            </a:avLst>
          </a:prstGeom>
          <a:solidFill>
            <a:srgbClr val="EAF4FB"/>
          </a:solidFill>
          <a:ln w="9525">
            <a:solidFill>
              <a:srgbClr val="EAF4F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8662824E-16B4-4C7D-AAAA-F56FE87B9D22}"/>
              </a:ext>
            </a:extLst>
          </p:cNvPr>
          <p:cNvSpPr>
            <a:spLocks noGrp="1"/>
          </p:cNvSpPr>
          <p:nvPr/>
        </p:nvSpPr>
        <p:spPr>
          <a:xfrm>
            <a:off x="6124575" y="2047875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878B5"/>
                </a:solidFill>
              </a:defRPr>
            </a:pPr>
            <a:r>
              <a:rPr sz="1125" b="1">
                <a:solidFill>
                  <a:srgbClr val="2878B5"/>
                </a:solidFill>
              </a:rPr>
              <a:t>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3F23BA0E-809A-4814-9B16-D5D61416B434}"/>
              </a:ext>
            </a:extLst>
          </p:cNvPr>
          <p:cNvSpPr>
            <a:spLocks noGrp="1"/>
          </p:cNvSpPr>
          <p:nvPr/>
        </p:nvSpPr>
        <p:spPr>
          <a:xfrm>
            <a:off x="6667500" y="191452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ChatPRD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F38228B8-8740-4E55-BFF9-866D908D1B91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요구사항 정의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B46406D5-831A-4AEF-A68C-7AC6D1B68A11}"/>
              </a:ext>
            </a:extLst>
          </p:cNvPr>
          <p:cNvSpPr>
            <a:spLocks noGrp="1"/>
          </p:cNvSpPr>
          <p:nvPr/>
        </p:nvSpPr>
        <p:spPr>
          <a:xfrm>
            <a:off x="8572500" y="2038350"/>
            <a:ext cx="2333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>
                <a:solidFill>
                  <a:srgbClr val="2878B5"/>
                </a:solidFill>
              </a:defRPr>
            </a:pPr>
            <a:r>
              <a:rPr sz="1275" b="1">
                <a:solidFill>
                  <a:srgbClr val="2878B5"/>
                </a:solidFill>
              </a:rPr>
              <a:t>PRD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xmlns="" id="{F3F1724B-7603-4954-9799-A697FCF80381}"/>
              </a:ext>
            </a:extLst>
          </p:cNvPr>
          <p:cNvSpPr>
            <a:spLocks noGrp="1"/>
          </p:cNvSpPr>
          <p:nvPr/>
        </p:nvSpPr>
        <p:spPr>
          <a:xfrm>
            <a:off x="5857875" y="2971800"/>
            <a:ext cx="538162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xmlns="" id="{0A34D4CE-10E1-4844-BAFF-205EBBE64621}"/>
              </a:ext>
            </a:extLst>
          </p:cNvPr>
          <p:cNvSpPr>
            <a:spLocks noGrp="1"/>
          </p:cNvSpPr>
          <p:nvPr/>
        </p:nvSpPr>
        <p:spPr>
          <a:xfrm>
            <a:off x="6048375" y="3238500"/>
            <a:ext cx="457200" cy="361950"/>
          </a:xfrm>
          <a:prstGeom prst="roundRect">
            <a:avLst>
              <a:gd name="adj" fmla="val 31579"/>
            </a:avLst>
          </a:prstGeom>
          <a:solidFill>
            <a:srgbClr val="EAF4FB"/>
          </a:solidFill>
          <a:ln w="9525">
            <a:solidFill>
              <a:srgbClr val="EAF4FB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A65003F0-12A0-4520-A095-EA37F50D2538}"/>
              </a:ext>
            </a:extLst>
          </p:cNvPr>
          <p:cNvSpPr>
            <a:spLocks noGrp="1"/>
          </p:cNvSpPr>
          <p:nvPr/>
        </p:nvSpPr>
        <p:spPr>
          <a:xfrm>
            <a:off x="6124575" y="3267075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878B5"/>
                </a:solidFill>
              </a:defRPr>
            </a:pPr>
            <a:r>
              <a:rPr sz="1125" b="1">
                <a:solidFill>
                  <a:srgbClr val="2878B5"/>
                </a:solidFill>
              </a:rPr>
              <a:t>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16E29859-7ED2-4AED-9EC0-F348ACF9ED96}"/>
              </a:ext>
            </a:extLst>
          </p:cNvPr>
          <p:cNvSpPr>
            <a:spLocks noGrp="1"/>
          </p:cNvSpPr>
          <p:nvPr/>
        </p:nvSpPr>
        <p:spPr>
          <a:xfrm>
            <a:off x="6667500" y="313372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Spec Kit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EDE2ED0A-2548-4D62-92BF-E4D42A95843F}"/>
              </a:ext>
            </a:extLst>
          </p:cNvPr>
          <p:cNvSpPr>
            <a:spLocks noGrp="1"/>
          </p:cNvSpPr>
          <p:nvPr/>
        </p:nvSpPr>
        <p:spPr>
          <a:xfrm>
            <a:off x="6667500" y="3457575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시스템·로직 설계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CE52EC40-90F4-4CC8-B22D-D7DF9F6EDF9A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2333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>
                <a:solidFill>
                  <a:srgbClr val="2878B5"/>
                </a:solidFill>
              </a:defRPr>
            </a:pPr>
            <a:r>
              <a:rPr sz="1275" b="1">
                <a:solidFill>
                  <a:srgbClr val="2878B5"/>
                </a:solidFill>
              </a:rPr>
              <a:t>Spec · Plan · Tasks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xmlns="" id="{AC9E1C05-1751-4116-ACA5-7C4851C9C040}"/>
              </a:ext>
            </a:extLst>
          </p:cNvPr>
          <p:cNvSpPr>
            <a:spLocks noGrp="1"/>
          </p:cNvSpPr>
          <p:nvPr/>
        </p:nvSpPr>
        <p:spPr>
          <a:xfrm>
            <a:off x="5857875" y="4191000"/>
            <a:ext cx="538162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xmlns="" id="{CB4431EE-231B-4A42-9155-5F44568F9D08}"/>
              </a:ext>
            </a:extLst>
          </p:cNvPr>
          <p:cNvSpPr>
            <a:spLocks noGrp="1"/>
          </p:cNvSpPr>
          <p:nvPr/>
        </p:nvSpPr>
        <p:spPr>
          <a:xfrm>
            <a:off x="6048375" y="4457700"/>
            <a:ext cx="457200" cy="361950"/>
          </a:xfrm>
          <a:prstGeom prst="roundRect">
            <a:avLst>
              <a:gd name="adj" fmla="val 31579"/>
            </a:avLst>
          </a:prstGeom>
          <a:solidFill>
            <a:srgbClr val="111D29"/>
          </a:solidFill>
          <a:ln w="9525">
            <a:solidFill>
              <a:srgbClr val="111D29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72CFD7D5-F08C-4C08-A4D5-029BEAD7BC83}"/>
              </a:ext>
            </a:extLst>
          </p:cNvPr>
          <p:cNvSpPr>
            <a:spLocks noGrp="1"/>
          </p:cNvSpPr>
          <p:nvPr/>
        </p:nvSpPr>
        <p:spPr>
          <a:xfrm>
            <a:off x="6124575" y="4486275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8A04C88D-19D9-4CFF-8118-41B75645DD03}"/>
              </a:ext>
            </a:extLst>
          </p:cNvPr>
          <p:cNvSpPr>
            <a:spLocks noGrp="1"/>
          </p:cNvSpPr>
          <p:nvPr/>
        </p:nvSpPr>
        <p:spPr>
          <a:xfrm>
            <a:off x="6667500" y="435292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Codex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CDAE83E-2BB8-4F66-8CDA-2197BADB92A1}"/>
              </a:ext>
            </a:extLst>
          </p:cNvPr>
          <p:cNvSpPr>
            <a:spLocks noGrp="1"/>
          </p:cNvSpPr>
          <p:nvPr/>
        </p:nvSpPr>
        <p:spPr>
          <a:xfrm>
            <a:off x="6667500" y="4676775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AI 자동 코딩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30F4607F-8C53-4524-9711-52065DE62CFA}"/>
              </a:ext>
            </a:extLst>
          </p:cNvPr>
          <p:cNvSpPr>
            <a:spLocks noGrp="1"/>
          </p:cNvSpPr>
          <p:nvPr/>
        </p:nvSpPr>
        <p:spPr>
          <a:xfrm>
            <a:off x="8572500" y="4476750"/>
            <a:ext cx="2333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>
                <a:solidFill>
                  <a:srgbClr val="3BB7A0"/>
                </a:solidFill>
              </a:defRPr>
            </a:pPr>
            <a:r>
              <a:rPr sz="1275" b="1">
                <a:solidFill>
                  <a:srgbClr val="3BB7A0"/>
                </a:solidFill>
              </a:rPr>
              <a:t>Code · Tests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2C65D477-263B-49AB-B1BF-DF9EA915C9E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7939E"/>
                </a:solidFill>
              </a:defRPr>
            </a:pPr>
            <a:r>
              <a:rPr sz="825" b="0">
                <a:solidFill>
                  <a:srgbClr val="87939E"/>
                </a:solidFill>
              </a:rPr>
              <a:t>AI 엔지니어링 세미나 · 요구사항 → 설계 → 구현 → 검증</a:t>
            </a:r>
          </a:p>
        </p:txBody>
      </p:sp>
    </p:spTree>
    <p:extLst>
      <p:ext uri="{BB962C8B-B14F-4D97-AF65-F5344CB8AC3E}">
        <p14:creationId xmlns:p14="http://schemas.microsoft.com/office/powerpoint/2010/main" val="1782697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8F2C25FC-0650-4A89-8AE4-550B98E3F35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BB7A0"/>
                </a:solidFill>
              </a:defRPr>
            </a:pPr>
            <a:r>
              <a:rPr sz="1050" b="1">
                <a:solidFill>
                  <a:srgbClr val="3BB7A0"/>
                </a:solidFill>
              </a:rPr>
              <a:t>PART 1 · 배경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ABA7527A-2DF4-4402-9A18-BA7E88C3D86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바이브 코딩의 속도는 “계약”이 없을 때 흔들린다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DC1075D8-32C3-4A54-A814-7FF31A50F238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355064"/>
          </a:solidFill>
          <a:ln w="0">
            <a:solidFill>
              <a:srgbClr val="355064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2E9B988B-EA5F-4391-BBBF-63D058E9EDE2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7891A4"/>
                </a:solidFill>
              </a:defRPr>
            </a:pPr>
            <a:r>
              <a:rPr sz="975" b="1">
                <a:solidFill>
                  <a:srgbClr val="7891A4"/>
                </a:solidFill>
              </a:rPr>
              <a:t>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9DBE35FE-0FFD-4338-AD9C-F38D9AF6A06D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빠르다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F73F742-17BD-4ADD-B66A-CED013647FC2}"/>
              </a:ext>
            </a:extLst>
          </p:cNvPr>
          <p:cNvSpPr>
            <a:spLocks noGrp="1"/>
          </p:cNvSpPr>
          <p:nvPr/>
        </p:nvSpPr>
        <p:spPr>
          <a:xfrm>
            <a:off x="742950" y="23050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BFD0DB"/>
                </a:solidFill>
              </a:defRPr>
            </a:pPr>
            <a:r>
              <a:rPr sz="1575" b="0">
                <a:solidFill>
                  <a:srgbClr val="BFD0DB"/>
                </a:solidFill>
              </a:rPr>
              <a:t>→ 생성된다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77732877-76F7-4EB8-8AB9-299D52AC236A}"/>
              </a:ext>
            </a:extLst>
          </p:cNvPr>
          <p:cNvSpPr>
            <a:spLocks noGrp="1"/>
          </p:cNvSpPr>
          <p:nvPr/>
        </p:nvSpPr>
        <p:spPr>
          <a:xfrm>
            <a:off x="742950" y="27051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BFD0DB"/>
                </a:solidFill>
              </a:defRPr>
            </a:pPr>
            <a:r>
              <a:rPr sz="1575" b="0">
                <a:solidFill>
                  <a:srgbClr val="BFD0DB"/>
                </a:solidFill>
              </a:rPr>
              <a:t>→ 일단 실행된다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FD0EC3D4-5CAF-42CF-B5E9-6C3B3E348926}"/>
              </a:ext>
            </a:extLst>
          </p:cNvPr>
          <p:cNvSpPr>
            <a:spLocks noGrp="1"/>
          </p:cNvSpPr>
          <p:nvPr/>
        </p:nvSpPr>
        <p:spPr>
          <a:xfrm>
            <a:off x="4857750" y="18097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F59B23"/>
                </a:solidFill>
              </a:defRPr>
            </a:pPr>
            <a:r>
              <a:rPr sz="2100" b="1">
                <a:solidFill>
                  <a:srgbClr val="F59B23"/>
                </a:solidFill>
              </a:rPr>
              <a:t>하지만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0B66FDCE-3AC4-4810-8412-FE8DAD1E3D1E}"/>
              </a:ext>
            </a:extLst>
          </p:cNvPr>
          <p:cNvSpPr>
            <a:spLocks noGrp="1"/>
          </p:cNvSpPr>
          <p:nvPr/>
        </p:nvSpPr>
        <p:spPr>
          <a:xfrm>
            <a:off x="4857750" y="23050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요구사항이 변한다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0408A41D-70E9-4D20-8EBE-83BDD615F87C}"/>
              </a:ext>
            </a:extLst>
          </p:cNvPr>
          <p:cNvSpPr>
            <a:spLocks noGrp="1"/>
          </p:cNvSpPr>
          <p:nvPr/>
        </p:nvSpPr>
        <p:spPr>
          <a:xfrm>
            <a:off x="4857750" y="27051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예외가 누락된다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087FC0CA-4AED-4F04-8C42-FB0390AD3FB7}"/>
              </a:ext>
            </a:extLst>
          </p:cNvPr>
          <p:cNvSpPr>
            <a:spLocks noGrp="1"/>
          </p:cNvSpPr>
          <p:nvPr/>
        </p:nvSpPr>
        <p:spPr>
          <a:xfrm>
            <a:off x="4857750" y="31051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검증 기준이 흐려진다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xmlns="" id="{20969386-8845-46AC-8892-3DE26D4E0598}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10572750" cy="1333500"/>
          </a:xfrm>
          <a:prstGeom prst="roundRect">
            <a:avLst>
              <a:gd name="adj" fmla="val 8571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10E0A2A-3F68-4E77-B489-150AB586A51B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BB7A0"/>
                </a:solidFill>
              </a:defRPr>
            </a:pPr>
            <a:r>
              <a:rPr sz="1350" b="1">
                <a:solidFill>
                  <a:srgbClr val="3BB7A0"/>
                </a:solidFill>
              </a:rPr>
              <a:t>속도보다 먼저 고정할 것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0A9155A4-52B4-4234-AD6A-04480105388C}"/>
              </a:ext>
            </a:extLst>
          </p:cNvPr>
          <p:cNvSpPr>
            <a:spLocks noGrp="1"/>
          </p:cNvSpPr>
          <p:nvPr/>
        </p:nvSpPr>
        <p:spPr>
          <a:xfrm>
            <a:off x="1066800" y="4495800"/>
            <a:ext cx="971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무엇을 만들 것인가 · 어떤 구조로 만들 것인가 · 무엇으로 완료를 판단할 것인가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54F9807A-CE35-4DCC-A580-6B62C4848305}"/>
              </a:ext>
            </a:extLst>
          </p:cNvPr>
          <p:cNvSpPr>
            <a:spLocks noGrp="1"/>
          </p:cNvSpPr>
          <p:nvPr/>
        </p:nvSpPr>
        <p:spPr>
          <a:xfrm>
            <a:off x="762000" y="556260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D5E3EC"/>
                </a:solidFill>
              </a:defRPr>
            </a:pPr>
            <a:r>
              <a:rPr sz="1500" b="1">
                <a:solidFill>
                  <a:srgbClr val="D5E3EC"/>
                </a:solidFill>
              </a:rPr>
              <a:t>그래서 자연어 → PRD → 설계 산출물 → Task → 코드 → 테스트의 연속성을 만들었다.</a:t>
            </a:r>
          </a:p>
        </p:txBody>
      </p:sp>
    </p:spTree>
    <p:extLst>
      <p:ext uri="{BB962C8B-B14F-4D97-AF65-F5344CB8AC3E}">
        <p14:creationId xmlns:p14="http://schemas.microsoft.com/office/powerpoint/2010/main" val="1928148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0C618DC7-88DB-4C28-A1B8-A32D87F0EA8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878B5"/>
                </a:solidFill>
              </a:defRPr>
            </a:pPr>
            <a:r>
              <a:rPr sz="1050" b="1">
                <a:solidFill>
                  <a:srgbClr val="2878B5"/>
                </a:solidFill>
              </a:rPr>
              <a:t>STEP 1 · CHATPRD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307BF151-B6D2-49FC-B9E4-631C1E92D6B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불완전한 자연어 요구를 PRD로 발전시켰다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5DE564FA-BC09-462F-A53D-E3E0BAD22BFB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8D4F8D1D-E9A1-483F-8F87-A11B98E51EB6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93A0AA"/>
                </a:solidFill>
              </a:defRPr>
            </a:pPr>
            <a:r>
              <a:rPr sz="975" b="1">
                <a:solidFill>
                  <a:srgbClr val="93A0AA"/>
                </a:solidFill>
              </a:rPr>
              <a:t>04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650504"/>
            <a:ext cx="7000875" cy="3937992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xmlns="" id="{CA01A729-E27C-4644-B193-69CB0CB6B9CA}"/>
              </a:ext>
            </a:extLst>
          </p:cNvPr>
          <p:cNvSpPr>
            <a:spLocks noGrp="1"/>
          </p:cNvSpPr>
          <p:nvPr/>
        </p:nvSpPr>
        <p:spPr>
          <a:xfrm>
            <a:off x="7962900" y="1752600"/>
            <a:ext cx="3333750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0564B3E0-6C1F-443D-B380-681D1D35C64C}"/>
              </a:ext>
            </a:extLst>
          </p:cNvPr>
          <p:cNvSpPr>
            <a:spLocks noGrp="1"/>
          </p:cNvSpPr>
          <p:nvPr/>
        </p:nvSpPr>
        <p:spPr>
          <a:xfrm>
            <a:off x="8239125" y="200025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878B5"/>
                </a:solidFill>
              </a:defRPr>
            </a:pPr>
            <a:r>
              <a:rPr sz="1350" b="1">
                <a:solidFill>
                  <a:srgbClr val="2878B5"/>
                </a:solidFill>
              </a:rPr>
              <a:t>초기 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348F8C8-AF07-4912-B016-B7108314CCA4}"/>
              </a:ext>
            </a:extLst>
          </p:cNvPr>
          <p:cNvSpPr>
            <a:spLocks noGrp="1"/>
          </p:cNvSpPr>
          <p:nvPr/>
        </p:nvSpPr>
        <p:spPr>
          <a:xfrm>
            <a:off x="8239125" y="2381250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카메라 CRUD</a:t>
            </a:r>
          </a:p>
          <a:p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Ping · TCP Port Check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3A28BBC0-B0A4-49E6-A7E9-551781A96BB5}"/>
              </a:ext>
            </a:extLst>
          </p:cNvPr>
          <p:cNvSpPr>
            <a:spLocks noGrp="1"/>
          </p:cNvSpPr>
          <p:nvPr/>
        </p:nvSpPr>
        <p:spPr>
          <a:xfrm>
            <a:off x="8239125" y="3238500"/>
            <a:ext cx="2714625" cy="9525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01A6ABA6-09EE-423A-9602-E5C8E8603804}"/>
              </a:ext>
            </a:extLst>
          </p:cNvPr>
          <p:cNvSpPr>
            <a:spLocks noGrp="1"/>
          </p:cNvSpPr>
          <p:nvPr/>
        </p:nvSpPr>
        <p:spPr>
          <a:xfrm>
            <a:off x="8239125" y="348615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BB7A0"/>
                </a:solidFill>
              </a:defRPr>
            </a:pPr>
            <a:r>
              <a:rPr sz="1350" b="1">
                <a:solidFill>
                  <a:srgbClr val="3BB7A0"/>
                </a:solidFill>
              </a:rPr>
              <a:t>ChatPRD가 보완한 것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7C748A1F-CED9-42B3-8B04-810D780D9438}"/>
              </a:ext>
            </a:extLst>
          </p:cNvPr>
          <p:cNvSpPr>
            <a:spLocks noGrp="1"/>
          </p:cNvSpPr>
          <p:nvPr/>
        </p:nvSpPr>
        <p:spPr>
          <a:xfrm>
            <a:off x="8239125" y="3867150"/>
            <a:ext cx="2714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사용자 · 역할 · UI</a:t>
            </a:r>
          </a:p>
          <a:p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예외 · NFR · 메트릭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xmlns="" id="{FB7FCC49-C3C1-4413-BCC2-E3326F0E2346}"/>
              </a:ext>
            </a:extLst>
          </p:cNvPr>
          <p:cNvSpPr>
            <a:spLocks noGrp="1"/>
          </p:cNvSpPr>
          <p:nvPr/>
        </p:nvSpPr>
        <p:spPr>
          <a:xfrm>
            <a:off x="7962900" y="4953000"/>
            <a:ext cx="3333750" cy="647700"/>
          </a:xfrm>
          <a:prstGeom prst="roundRect">
            <a:avLst>
              <a:gd name="adj" fmla="val 17647"/>
            </a:avLst>
          </a:prstGeom>
          <a:solidFill>
            <a:srgbClr val="EAF4FB"/>
          </a:solidFill>
          <a:ln w="9525">
            <a:solidFill>
              <a:srgbClr val="EAF4FB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3AC0ED0-A1C6-4479-AD29-E345812F5AA2}"/>
              </a:ext>
            </a:extLst>
          </p:cNvPr>
          <p:cNvSpPr>
            <a:spLocks noGrp="1"/>
          </p:cNvSpPr>
          <p:nvPr/>
        </p:nvSpPr>
        <p:spPr>
          <a:xfrm>
            <a:off x="8134350" y="5067300"/>
            <a:ext cx="2990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878B5"/>
                </a:solidFill>
              </a:defRPr>
            </a:pPr>
            <a:r>
              <a:rPr sz="1275" b="1">
                <a:solidFill>
                  <a:srgbClr val="2878B5"/>
                </a:solidFill>
              </a:rPr>
              <a:t>질문을 통해 “문서로 검토 가능한 요구사항”이 됐다.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E62BA0E1-3BE0-4595-A379-968C2868EC1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7939E"/>
                </a:solidFill>
              </a:defRPr>
            </a:pPr>
            <a:r>
              <a:rPr sz="825" b="0">
                <a:solidFill>
                  <a:srgbClr val="87939E"/>
                </a:solidFill>
              </a:rPr>
              <a:t>AI 엔지니어링 세미나 · 요구사항 → 설계 → 구현 → 검증</a:t>
            </a:r>
          </a:p>
        </p:txBody>
      </p:sp>
    </p:spTree>
    <p:extLst>
      <p:ext uri="{BB962C8B-B14F-4D97-AF65-F5344CB8AC3E}">
        <p14:creationId xmlns:p14="http://schemas.microsoft.com/office/powerpoint/2010/main" val="39675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F7CD8526-2FBF-4CA9-A1B2-158E1271055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878B5"/>
                </a:solidFill>
              </a:defRPr>
            </a:pPr>
            <a:r>
              <a:rPr sz="1050" b="1">
                <a:solidFill>
                  <a:srgbClr val="2878B5"/>
                </a:solidFill>
              </a:rPr>
              <a:t>STEP 1 · CHATPRD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56326507-9130-4379-A67B-EC3E0EC6E9C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질문은 선명했지만, 최종 일관성은 사람이 확인해야 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221A9BE8-99E1-484F-8889-A93F5DD303D1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DCC64CF8-F7CA-42AE-9193-988B18322B88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93A0AA"/>
                </a:solidFill>
              </a:defRPr>
            </a:pPr>
            <a:r>
              <a:rPr sz="975" b="1">
                <a:solidFill>
                  <a:srgbClr val="93A0AA"/>
                </a:solidFill>
              </a:rPr>
              <a:t>05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830586"/>
            <a:ext cx="6191250" cy="3482578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xmlns="" id="{C10CA41D-8787-46BF-8CB1-883F4D8B9239}"/>
              </a:ext>
            </a:extLst>
          </p:cNvPr>
          <p:cNvSpPr>
            <a:spLocks noGrp="1"/>
          </p:cNvSpPr>
          <p:nvPr/>
        </p:nvSpPr>
        <p:spPr>
          <a:xfrm>
            <a:off x="7191375" y="1828800"/>
            <a:ext cx="40957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64AC3F82-A0E2-4714-9A74-6B28B291AA08}"/>
              </a:ext>
            </a:extLst>
          </p:cNvPr>
          <p:cNvSpPr>
            <a:spLocks noGrp="1"/>
          </p:cNvSpPr>
          <p:nvPr/>
        </p:nvSpPr>
        <p:spPr>
          <a:xfrm>
            <a:off x="7191375" y="1828800"/>
            <a:ext cx="76200" cy="876300"/>
          </a:xfrm>
          <a:prstGeom prst="rect">
            <a:avLst/>
          </a:prstGeom>
          <a:solidFill>
            <a:srgbClr val="3BB7A0"/>
          </a:solidFill>
          <a:ln w="0">
            <a:solidFill>
              <a:srgbClr val="3BB7A0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69935C6C-115F-4A25-B682-6DB4E28B9D0C}"/>
              </a:ext>
            </a:extLst>
          </p:cNvPr>
          <p:cNvSpPr>
            <a:spLocks noGrp="1"/>
          </p:cNvSpPr>
          <p:nvPr/>
        </p:nvSpPr>
        <p:spPr>
          <a:xfrm>
            <a:off x="7448550" y="19907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3BB7A0"/>
                </a:solidFill>
              </a:defRPr>
            </a:pPr>
            <a:r>
              <a:rPr sz="1275" b="1">
                <a:solidFill>
                  <a:srgbClr val="3BB7A0"/>
                </a:solidFill>
              </a:rPr>
              <a:t>강점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10D09CB1-C038-4B1E-A5EF-D984EF859B53}"/>
              </a:ext>
            </a:extLst>
          </p:cNvPr>
          <p:cNvSpPr>
            <a:spLocks noGrp="1"/>
          </p:cNvSpPr>
          <p:nvPr/>
        </p:nvSpPr>
        <p:spPr>
          <a:xfrm>
            <a:off x="8286750" y="196215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Gap Analysis와 Clarification으로 누락을 드러냄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xmlns="" id="{02FCD244-F1BE-4989-890A-450FCC9497B8}"/>
              </a:ext>
            </a:extLst>
          </p:cNvPr>
          <p:cNvSpPr>
            <a:spLocks noGrp="1"/>
          </p:cNvSpPr>
          <p:nvPr/>
        </p:nvSpPr>
        <p:spPr>
          <a:xfrm>
            <a:off x="7191375" y="2971800"/>
            <a:ext cx="40957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E7D28337-34B4-4714-B441-957612271A4D}"/>
              </a:ext>
            </a:extLst>
          </p:cNvPr>
          <p:cNvSpPr>
            <a:spLocks noGrp="1"/>
          </p:cNvSpPr>
          <p:nvPr/>
        </p:nvSpPr>
        <p:spPr>
          <a:xfrm>
            <a:off x="7191375" y="2971800"/>
            <a:ext cx="76200" cy="876300"/>
          </a:xfrm>
          <a:prstGeom prst="rect">
            <a:avLst/>
          </a:prstGeom>
          <a:solidFill>
            <a:srgbClr val="F59B23"/>
          </a:solidFill>
          <a:ln w="0">
            <a:solidFill>
              <a:srgbClr val="F59B23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60D3B221-56B5-49BB-953B-DF9233AAA903}"/>
              </a:ext>
            </a:extLst>
          </p:cNvPr>
          <p:cNvSpPr>
            <a:spLocks noGrp="1"/>
          </p:cNvSpPr>
          <p:nvPr/>
        </p:nvSpPr>
        <p:spPr>
          <a:xfrm>
            <a:off x="7448550" y="31337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59B23"/>
                </a:solidFill>
              </a:defRPr>
            </a:pPr>
            <a:r>
              <a:rPr sz="1275" b="1">
                <a:solidFill>
                  <a:srgbClr val="F59B23"/>
                </a:solidFill>
              </a:rPr>
              <a:t>한계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5DAF18B9-A2B7-4C0B-9964-152870EB6E8F}"/>
              </a:ext>
            </a:extLst>
          </p:cNvPr>
          <p:cNvSpPr>
            <a:spLocks noGrp="1"/>
          </p:cNvSpPr>
          <p:nvPr/>
        </p:nvSpPr>
        <p:spPr>
          <a:xfrm>
            <a:off x="8286750" y="310515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Review 중 Network authentication 조건이 흔들림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xmlns="" id="{C66F6409-1D21-4B9D-AA36-AD44E79BD102}"/>
              </a:ext>
            </a:extLst>
          </p:cNvPr>
          <p:cNvSpPr>
            <a:spLocks noGrp="1"/>
          </p:cNvSpPr>
          <p:nvPr/>
        </p:nvSpPr>
        <p:spPr>
          <a:xfrm>
            <a:off x="7191375" y="4114800"/>
            <a:ext cx="40957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27A4DF9A-447A-4EE9-8A3C-BA46AAD7EB23}"/>
              </a:ext>
            </a:extLst>
          </p:cNvPr>
          <p:cNvSpPr>
            <a:spLocks noGrp="1"/>
          </p:cNvSpPr>
          <p:nvPr/>
        </p:nvSpPr>
        <p:spPr>
          <a:xfrm>
            <a:off x="7191375" y="4114800"/>
            <a:ext cx="76200" cy="876300"/>
          </a:xfrm>
          <a:prstGeom prst="rect">
            <a:avLst/>
          </a:prstGeom>
          <a:solidFill>
            <a:srgbClr val="EF5B62"/>
          </a:solidFill>
          <a:ln w="0">
            <a:solidFill>
              <a:srgbClr val="EF5B62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2F7DC407-4FA2-408F-8398-2D05901E3CFC}"/>
              </a:ext>
            </a:extLst>
          </p:cNvPr>
          <p:cNvSpPr>
            <a:spLocks noGrp="1"/>
          </p:cNvSpPr>
          <p:nvPr/>
        </p:nvSpPr>
        <p:spPr>
          <a:xfrm>
            <a:off x="7448550" y="42767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EF5B62"/>
                </a:solidFill>
              </a:defRPr>
            </a:pPr>
            <a:r>
              <a:rPr sz="1275" b="1">
                <a:solidFill>
                  <a:srgbClr val="EF5B62"/>
                </a:solidFill>
              </a:rPr>
              <a:t>판단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34B71BE1-2213-4A2B-ADC7-5A85CE5EF2B7}"/>
              </a:ext>
            </a:extLst>
          </p:cNvPr>
          <p:cNvSpPr>
            <a:spLocks noGrp="1"/>
          </p:cNvSpPr>
          <p:nvPr/>
        </p:nvSpPr>
        <p:spPr>
          <a:xfrm>
            <a:off x="8286750" y="424815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PRD 생성 완료 ≠ 요구사항 확정 완료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xmlns="" id="{09AB798F-1928-4D76-A4E1-AAEB30DBEC7D}"/>
              </a:ext>
            </a:extLst>
          </p:cNvPr>
          <p:cNvSpPr>
            <a:spLocks noGrp="1"/>
          </p:cNvSpPr>
          <p:nvPr/>
        </p:nvSpPr>
        <p:spPr>
          <a:xfrm>
            <a:off x="7191375" y="5391150"/>
            <a:ext cx="4095750" cy="552450"/>
          </a:xfrm>
          <a:prstGeom prst="roundRect">
            <a:avLst>
              <a:gd name="adj" fmla="val 20690"/>
            </a:avLst>
          </a:prstGeom>
          <a:solidFill>
            <a:srgbClr val="111D29"/>
          </a:solidFill>
          <a:ln w="9525">
            <a:solidFill>
              <a:srgbClr val="111D29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AF7F15DC-3033-49D5-95D4-337085C78CD4}"/>
              </a:ext>
            </a:extLst>
          </p:cNvPr>
          <p:cNvSpPr>
            <a:spLocks noGrp="1"/>
          </p:cNvSpPr>
          <p:nvPr/>
        </p:nvSpPr>
        <p:spPr>
          <a:xfrm>
            <a:off x="7381875" y="54959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Human Review가 마지막 품질 게이트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5DE7F744-3B38-4032-9C12-34E504953A2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7939E"/>
                </a:solidFill>
              </a:defRPr>
            </a:pPr>
            <a:r>
              <a:rPr sz="825" b="0">
                <a:solidFill>
                  <a:srgbClr val="87939E"/>
                </a:solidFill>
              </a:rPr>
              <a:t>AI 엔지니어링 세미나 · 요구사항 → 설계 → 구현 → 검증</a:t>
            </a:r>
          </a:p>
        </p:txBody>
      </p:sp>
    </p:spTree>
    <p:extLst>
      <p:ext uri="{BB962C8B-B14F-4D97-AF65-F5344CB8AC3E}">
        <p14:creationId xmlns:p14="http://schemas.microsoft.com/office/powerpoint/2010/main" val="927721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1AD34DF5-497C-4D08-873C-C755154AED2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BB7A0"/>
                </a:solidFill>
              </a:defRPr>
            </a:pPr>
            <a:r>
              <a:rPr sz="1050" b="1">
                <a:solidFill>
                  <a:srgbClr val="3BB7A0"/>
                </a:solidFill>
              </a:rPr>
              <a:t>STEP 2 · SPEC KIT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990BD2E0-B00E-4441-ABDA-624272BDC13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요구사항을 설계·Task·검증으로 연결했다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3AAB6580-AD0E-403F-8826-3CD674ABC27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355064"/>
          </a:solidFill>
          <a:ln w="0">
            <a:solidFill>
              <a:srgbClr val="355064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5F7536D-176C-4F58-8ACE-366A0721F9F8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7891A4"/>
                </a:solidFill>
              </a:defRPr>
            </a:pPr>
            <a:r>
              <a:rPr sz="975" b="1">
                <a:solidFill>
                  <a:srgbClr val="7891A4"/>
                </a:solidFill>
              </a:rPr>
              <a:t>06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E44EF22-A9BB-45BB-B378-E268C96D2DE6}"/>
              </a:ext>
            </a:extLst>
          </p:cNvPr>
          <p:cNvSpPr>
            <a:spLocks noGrp="1"/>
          </p:cNvSpPr>
          <p:nvPr/>
        </p:nvSpPr>
        <p:spPr>
          <a:xfrm>
            <a:off x="2266950" y="2781300"/>
            <a:ext cx="685800" cy="38100"/>
          </a:xfrm>
          <a:prstGeom prst="rect">
            <a:avLst/>
          </a:prstGeom>
          <a:solidFill>
            <a:srgbClr val="43647A"/>
          </a:solidFill>
          <a:ln w="0">
            <a:solidFill>
              <a:srgbClr val="43647A"/>
            </a:solidFill>
            <a:prstDash val="solid"/>
          </a:ln>
        </p:spPr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xmlns="" id="{F9088D40-F6FF-4C5F-9D2F-2E4F9371100B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1695450" cy="1428750"/>
          </a:xfrm>
          <a:prstGeom prst="roundRect">
            <a:avLst>
              <a:gd name="adj" fmla="val 8000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C5B77C95-DED1-4A90-B27F-781A7BD9F4AB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BB7A0"/>
                </a:solidFill>
              </a:defRPr>
            </a:pPr>
            <a:r>
              <a:rPr sz="1050" b="1">
                <a:solidFill>
                  <a:srgbClr val="3BB7A0"/>
                </a:solidFill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0B82CAC2-6C8F-47C1-97FF-0A1AD81FF9EB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Specify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1EDBA625-38B0-4B92-B91A-642C9CC61A85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B9CAD5"/>
                </a:solidFill>
              </a:defRPr>
            </a:pPr>
            <a:r>
              <a:rPr sz="1200" b="0">
                <a:solidFill>
                  <a:srgbClr val="B9CAD5"/>
                </a:solidFill>
              </a:rPr>
              <a:t>명세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03E1BB7F-BD61-4671-BE0B-C128440F10E7}"/>
              </a:ext>
            </a:extLst>
          </p:cNvPr>
          <p:cNvSpPr>
            <a:spLocks noGrp="1"/>
          </p:cNvSpPr>
          <p:nvPr/>
        </p:nvSpPr>
        <p:spPr>
          <a:xfrm>
            <a:off x="4572000" y="2781300"/>
            <a:ext cx="685800" cy="38100"/>
          </a:xfrm>
          <a:prstGeom prst="rect">
            <a:avLst/>
          </a:prstGeom>
          <a:solidFill>
            <a:srgbClr val="43647A"/>
          </a:solidFill>
          <a:ln w="0">
            <a:solidFill>
              <a:srgbClr val="43647A"/>
            </a:solidFill>
            <a:prstDash val="solid"/>
          </a:ln>
        </p:spPr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xmlns="" id="{DF861B84-7E90-4263-BD9B-B9AE01EE370C}"/>
              </a:ext>
            </a:extLst>
          </p:cNvPr>
          <p:cNvSpPr>
            <a:spLocks noGrp="1"/>
          </p:cNvSpPr>
          <p:nvPr/>
        </p:nvSpPr>
        <p:spPr>
          <a:xfrm>
            <a:off x="2876550" y="2095500"/>
            <a:ext cx="1695450" cy="1428750"/>
          </a:xfrm>
          <a:prstGeom prst="roundRect">
            <a:avLst>
              <a:gd name="adj" fmla="val 8000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21100AFD-9802-43B7-98A8-8A89590E030F}"/>
              </a:ext>
            </a:extLst>
          </p:cNvPr>
          <p:cNvSpPr>
            <a:spLocks noGrp="1"/>
          </p:cNvSpPr>
          <p:nvPr/>
        </p:nvSpPr>
        <p:spPr>
          <a:xfrm>
            <a:off x="3048000" y="2266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BB7A0"/>
                </a:solidFill>
              </a:defRPr>
            </a:pPr>
            <a:r>
              <a:rPr sz="1050" b="1">
                <a:solidFill>
                  <a:srgbClr val="3BB7A0"/>
                </a:solidFill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10B97F0-6E5D-4C52-9F2A-B99BB9695665}"/>
              </a:ext>
            </a:extLst>
          </p:cNvPr>
          <p:cNvSpPr>
            <a:spLocks noGrp="1"/>
          </p:cNvSpPr>
          <p:nvPr/>
        </p:nvSpPr>
        <p:spPr>
          <a:xfrm>
            <a:off x="3048000" y="2609850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Clarify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6751E237-F6E1-40BC-A75F-EBAE715D3B87}"/>
              </a:ext>
            </a:extLst>
          </p:cNvPr>
          <p:cNvSpPr>
            <a:spLocks noGrp="1"/>
          </p:cNvSpPr>
          <p:nvPr/>
        </p:nvSpPr>
        <p:spPr>
          <a:xfrm>
            <a:off x="3048000" y="3028950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B9CAD5"/>
                </a:solidFill>
              </a:defRPr>
            </a:pPr>
            <a:r>
              <a:rPr sz="1200" b="0">
                <a:solidFill>
                  <a:srgbClr val="B9CAD5"/>
                </a:solidFill>
              </a:rPr>
              <a:t>모호성 제거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781B8007-1B1D-4601-AB82-E752547B49E4}"/>
              </a:ext>
            </a:extLst>
          </p:cNvPr>
          <p:cNvSpPr>
            <a:spLocks noGrp="1"/>
          </p:cNvSpPr>
          <p:nvPr/>
        </p:nvSpPr>
        <p:spPr>
          <a:xfrm>
            <a:off x="6877050" y="2781300"/>
            <a:ext cx="685800" cy="38100"/>
          </a:xfrm>
          <a:prstGeom prst="rect">
            <a:avLst/>
          </a:prstGeom>
          <a:solidFill>
            <a:srgbClr val="43647A"/>
          </a:solidFill>
          <a:ln w="0">
            <a:solidFill>
              <a:srgbClr val="43647A"/>
            </a:solidFill>
            <a:prstDash val="solid"/>
          </a:ln>
        </p:spPr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xmlns="" id="{A507F1BC-155B-4F6B-9C2C-EE4A0A8F2CBB}"/>
              </a:ext>
            </a:extLst>
          </p:cNvPr>
          <p:cNvSpPr>
            <a:spLocks noGrp="1"/>
          </p:cNvSpPr>
          <p:nvPr/>
        </p:nvSpPr>
        <p:spPr>
          <a:xfrm>
            <a:off x="5181600" y="2095500"/>
            <a:ext cx="1695450" cy="1428750"/>
          </a:xfrm>
          <a:prstGeom prst="roundRect">
            <a:avLst>
              <a:gd name="adj" fmla="val 8000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CA98B305-3B0E-4A7A-B237-C3CC4C9DD201}"/>
              </a:ext>
            </a:extLst>
          </p:cNvPr>
          <p:cNvSpPr>
            <a:spLocks noGrp="1"/>
          </p:cNvSpPr>
          <p:nvPr/>
        </p:nvSpPr>
        <p:spPr>
          <a:xfrm>
            <a:off x="5353050" y="2266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BB7A0"/>
                </a:solidFill>
              </a:defRPr>
            </a:pPr>
            <a:r>
              <a:rPr sz="1050" b="1">
                <a:solidFill>
                  <a:srgbClr val="3BB7A0"/>
                </a:solidFill>
              </a:rPr>
              <a:t>03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2B65778C-6449-45BF-AAFC-894507620D54}"/>
              </a:ext>
            </a:extLst>
          </p:cNvPr>
          <p:cNvSpPr>
            <a:spLocks noGrp="1"/>
          </p:cNvSpPr>
          <p:nvPr/>
        </p:nvSpPr>
        <p:spPr>
          <a:xfrm>
            <a:off x="5353050" y="2609850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AC0A920A-8EA1-46C4-AF11-FE767F5DD6BE}"/>
              </a:ext>
            </a:extLst>
          </p:cNvPr>
          <p:cNvSpPr>
            <a:spLocks noGrp="1"/>
          </p:cNvSpPr>
          <p:nvPr/>
        </p:nvSpPr>
        <p:spPr>
          <a:xfrm>
            <a:off x="5353050" y="3028950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B9CAD5"/>
                </a:solidFill>
              </a:defRPr>
            </a:pPr>
            <a:r>
              <a:rPr sz="1200" b="0">
                <a:solidFill>
                  <a:srgbClr val="B9CAD5"/>
                </a:solidFill>
              </a:rPr>
              <a:t>설계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698A91CE-92A3-4BC7-9AC4-713DFA5430BC}"/>
              </a:ext>
            </a:extLst>
          </p:cNvPr>
          <p:cNvSpPr>
            <a:spLocks noGrp="1"/>
          </p:cNvSpPr>
          <p:nvPr/>
        </p:nvSpPr>
        <p:spPr>
          <a:xfrm>
            <a:off x="9182100" y="2781300"/>
            <a:ext cx="685800" cy="38100"/>
          </a:xfrm>
          <a:prstGeom prst="rect">
            <a:avLst/>
          </a:prstGeom>
          <a:solidFill>
            <a:srgbClr val="43647A"/>
          </a:solidFill>
          <a:ln w="0">
            <a:solidFill>
              <a:srgbClr val="43647A"/>
            </a:solidFill>
            <a:prstDash val="solid"/>
          </a:ln>
        </p:spPr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xmlns="" id="{1CE7A4DB-6859-4B4B-9BC3-EE3524F9B154}"/>
              </a:ext>
            </a:extLst>
          </p:cNvPr>
          <p:cNvSpPr>
            <a:spLocks noGrp="1"/>
          </p:cNvSpPr>
          <p:nvPr/>
        </p:nvSpPr>
        <p:spPr>
          <a:xfrm>
            <a:off x="7486650" y="2095500"/>
            <a:ext cx="1695450" cy="1428750"/>
          </a:xfrm>
          <a:prstGeom prst="roundRect">
            <a:avLst>
              <a:gd name="adj" fmla="val 8000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5CBB7E8E-092F-4258-9D68-597D5DD5820E}"/>
              </a:ext>
            </a:extLst>
          </p:cNvPr>
          <p:cNvSpPr>
            <a:spLocks noGrp="1"/>
          </p:cNvSpPr>
          <p:nvPr/>
        </p:nvSpPr>
        <p:spPr>
          <a:xfrm>
            <a:off x="7658100" y="2266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BB7A0"/>
                </a:solidFill>
              </a:defRPr>
            </a:pPr>
            <a:r>
              <a:rPr sz="1050" b="1">
                <a:solidFill>
                  <a:srgbClr val="3BB7A0"/>
                </a:solidFill>
              </a:rPr>
              <a:t>04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3D785916-603C-4936-AA93-FF6D4478BE69}"/>
              </a:ext>
            </a:extLst>
          </p:cNvPr>
          <p:cNvSpPr>
            <a:spLocks noGrp="1"/>
          </p:cNvSpPr>
          <p:nvPr/>
        </p:nvSpPr>
        <p:spPr>
          <a:xfrm>
            <a:off x="7658100" y="2609850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Tasks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DA8967A0-DE11-430D-9DBE-C2BA4EC2673B}"/>
              </a:ext>
            </a:extLst>
          </p:cNvPr>
          <p:cNvSpPr>
            <a:spLocks noGrp="1"/>
          </p:cNvSpPr>
          <p:nvPr/>
        </p:nvSpPr>
        <p:spPr>
          <a:xfrm>
            <a:off x="7658100" y="3028950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B9CAD5"/>
                </a:solidFill>
              </a:defRPr>
            </a:pPr>
            <a:r>
              <a:rPr sz="1200" b="0">
                <a:solidFill>
                  <a:srgbClr val="B9CAD5"/>
                </a:solidFill>
              </a:rPr>
              <a:t>작업 분해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xmlns="" id="{D93D2F7F-1F22-4E8E-A5E8-8EF03F5B7BB1}"/>
              </a:ext>
            </a:extLst>
          </p:cNvPr>
          <p:cNvSpPr>
            <a:spLocks noGrp="1"/>
          </p:cNvSpPr>
          <p:nvPr/>
        </p:nvSpPr>
        <p:spPr>
          <a:xfrm>
            <a:off x="9791700" y="2095500"/>
            <a:ext cx="1695450" cy="1428750"/>
          </a:xfrm>
          <a:prstGeom prst="roundRect">
            <a:avLst>
              <a:gd name="adj" fmla="val 8000"/>
            </a:avLst>
          </a:prstGeom>
          <a:solidFill>
            <a:srgbClr val="19394A"/>
          </a:solidFill>
          <a:ln w="9525">
            <a:solidFill>
              <a:srgbClr val="3BB7A0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0137911F-FBDB-4619-BC41-8EAB3855DD0D}"/>
              </a:ext>
            </a:extLst>
          </p:cNvPr>
          <p:cNvSpPr>
            <a:spLocks noGrp="1"/>
          </p:cNvSpPr>
          <p:nvPr/>
        </p:nvSpPr>
        <p:spPr>
          <a:xfrm>
            <a:off x="9963150" y="2266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BB7A0"/>
                </a:solidFill>
              </a:defRPr>
            </a:pPr>
            <a:r>
              <a:rPr sz="1050" b="1">
                <a:solidFill>
                  <a:srgbClr val="3BB7A0"/>
                </a:solidFill>
              </a:rPr>
              <a:t>05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7E3A74F7-E443-48F4-BC90-2D580B2C5894}"/>
              </a:ext>
            </a:extLst>
          </p:cNvPr>
          <p:cNvSpPr>
            <a:spLocks noGrp="1"/>
          </p:cNvSpPr>
          <p:nvPr/>
        </p:nvSpPr>
        <p:spPr>
          <a:xfrm>
            <a:off x="9963150" y="2609850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Analyze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BC0DEFD3-A667-44B7-8FE3-36BD52F959E2}"/>
              </a:ext>
            </a:extLst>
          </p:cNvPr>
          <p:cNvSpPr>
            <a:spLocks noGrp="1"/>
          </p:cNvSpPr>
          <p:nvPr/>
        </p:nvSpPr>
        <p:spPr>
          <a:xfrm>
            <a:off x="9963150" y="3028950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B9CAD5"/>
                </a:solidFill>
              </a:defRPr>
            </a:pPr>
            <a:r>
              <a:rPr sz="1200" b="0">
                <a:solidFill>
                  <a:srgbClr val="B9CAD5"/>
                </a:solidFill>
              </a:rPr>
              <a:t>정합성 검사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xmlns="" id="{92073966-4D19-4487-91E6-BCE90A14AE65}"/>
              </a:ext>
            </a:extLst>
          </p:cNvPr>
          <p:cNvSpPr>
            <a:spLocks noGrp="1"/>
          </p:cNvSpPr>
          <p:nvPr/>
        </p:nvSpPr>
        <p:spPr>
          <a:xfrm>
            <a:off x="819150" y="4248150"/>
            <a:ext cx="10553700" cy="1104900"/>
          </a:xfrm>
          <a:prstGeom prst="roundRect">
            <a:avLst>
              <a:gd name="adj" fmla="val 10345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EAD0AF6B-B278-40F4-A706-2A4A5CDDC133}"/>
              </a:ext>
            </a:extLst>
          </p:cNvPr>
          <p:cNvSpPr>
            <a:spLocks noGrp="1"/>
          </p:cNvSpPr>
          <p:nvPr/>
        </p:nvSpPr>
        <p:spPr>
          <a:xfrm>
            <a:off x="1066800" y="44577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59B23"/>
                </a:solidFill>
              </a:defRPr>
            </a:pPr>
            <a:r>
              <a:rPr sz="1275" b="1">
                <a:solidFill>
                  <a:srgbClr val="F59B23"/>
                </a:solidFill>
              </a:rPr>
              <a:t>산출물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693FFED8-6304-478D-9928-A41A85629FEC}"/>
              </a:ext>
            </a:extLst>
          </p:cNvPr>
          <p:cNvSpPr>
            <a:spLocks noGrp="1"/>
          </p:cNvSpPr>
          <p:nvPr/>
        </p:nvSpPr>
        <p:spPr>
          <a:xfrm>
            <a:off x="2305050" y="441960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spec.md  ·  plan.md  ·  data-model.md  ·  openapi.yaml  ·  tasks.md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CB27B87D-D028-4359-9D34-80566116DCC4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C6D5DF"/>
                </a:solidFill>
              </a:defRPr>
            </a:pPr>
            <a:r>
              <a:rPr sz="1275" b="0">
                <a:solidFill>
                  <a:srgbClr val="C6D5DF"/>
                </a:solidFill>
              </a:rPr>
              <a:t>각 문서는 다음 단계의 입력이 되고, Analyze가 구현 전 충돌과 누락을 다시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1835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26FAA115-CD84-4044-8D1D-C6A474B9B17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878B5"/>
                </a:solidFill>
              </a:defRPr>
            </a:pPr>
            <a:r>
              <a:rPr sz="1050" b="1">
                <a:solidFill>
                  <a:srgbClr val="2878B5"/>
                </a:solidFill>
              </a:rPr>
              <a:t>STEP 2 · SPECIFY / CLARIFY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9139664C-6A6E-413A-BDFA-E3F58599FF2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기능 요구 FR-001~FR-018과 모호성을 먼저 고정했다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2763F323-0A5F-4005-90D5-6A020314A026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EC5EB0DD-1C33-4ED8-A1B8-8CE1B1DBDB41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93A0AA"/>
                </a:solidFill>
              </a:defRPr>
            </a:pPr>
            <a:r>
              <a:rPr sz="975" b="1">
                <a:solidFill>
                  <a:srgbClr val="93A0AA"/>
                </a:solidFill>
              </a:rPr>
              <a:t>07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662113"/>
            <a:ext cx="6858000" cy="3857625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xmlns="" id="{27B5534F-1981-4647-B1D1-60A6AC0347FB}"/>
              </a:ext>
            </a:extLst>
          </p:cNvPr>
          <p:cNvSpPr>
            <a:spLocks noGrp="1"/>
          </p:cNvSpPr>
          <p:nvPr/>
        </p:nvSpPr>
        <p:spPr>
          <a:xfrm>
            <a:off x="7858125" y="1809750"/>
            <a:ext cx="3381375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A8B3A121-1166-42EC-9B2C-A7DBDD24B41F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878B5"/>
                </a:solidFill>
              </a:defRPr>
            </a:pPr>
            <a:r>
              <a:rPr sz="1350" b="1">
                <a:solidFill>
                  <a:srgbClr val="2878B5"/>
                </a:solidFill>
              </a:rPr>
              <a:t>Specify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AE8568CA-5D31-42D2-BFF0-B50208866CD3}"/>
              </a:ext>
            </a:extLst>
          </p:cNvPr>
          <p:cNvSpPr>
            <a:spLocks noGrp="1"/>
          </p:cNvSpPr>
          <p:nvPr/>
        </p:nvSpPr>
        <p:spPr>
          <a:xfrm>
            <a:off x="8096250" y="2362200"/>
            <a:ext cx="2809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Camera CRUD + 진단 범위를</a:t>
            </a:r>
          </a:p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검토 가능한 명세로 전환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3DA18B5A-4461-49E1-9D14-50CAF9532A58}"/>
              </a:ext>
            </a:extLst>
          </p:cNvPr>
          <p:cNvSpPr>
            <a:spLocks noGrp="1"/>
          </p:cNvSpPr>
          <p:nvPr/>
        </p:nvSpPr>
        <p:spPr>
          <a:xfrm>
            <a:off x="7858125" y="3429000"/>
            <a:ext cx="3381375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0196865A-B21F-4AA1-A829-F849BDDD8506}"/>
              </a:ext>
            </a:extLst>
          </p:cNvPr>
          <p:cNvSpPr>
            <a:spLocks noGrp="1"/>
          </p:cNvSpPr>
          <p:nvPr/>
        </p:nvSpPr>
        <p:spPr>
          <a:xfrm>
            <a:off x="8096250" y="36195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BB7A0"/>
                </a:solidFill>
              </a:defRPr>
            </a:pPr>
            <a:r>
              <a:rPr sz="1350" b="1">
                <a:solidFill>
                  <a:srgbClr val="3BB7A0"/>
                </a:solidFill>
              </a:rPr>
              <a:t>Clarify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6064527A-049A-4510-9FFC-4EA2C2C02796}"/>
              </a:ext>
            </a:extLst>
          </p:cNvPr>
          <p:cNvSpPr>
            <a:spLocks noGrp="1"/>
          </p:cNvSpPr>
          <p:nvPr/>
        </p:nvSpPr>
        <p:spPr>
          <a:xfrm>
            <a:off x="8096250" y="3981450"/>
            <a:ext cx="2809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인증·입력·예외 조건의</a:t>
            </a:r>
          </a:p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모호성을 질문으로 제거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xmlns="" id="{783C58E8-081A-482D-BFDE-F9194AB1AEA8}"/>
              </a:ext>
            </a:extLst>
          </p:cNvPr>
          <p:cNvSpPr>
            <a:spLocks noGrp="1"/>
          </p:cNvSpPr>
          <p:nvPr/>
        </p:nvSpPr>
        <p:spPr>
          <a:xfrm>
            <a:off x="7858125" y="5067300"/>
            <a:ext cx="3381375" cy="552450"/>
          </a:xfrm>
          <a:prstGeom prst="roundRect">
            <a:avLst>
              <a:gd name="adj" fmla="val 20690"/>
            </a:avLst>
          </a:prstGeom>
          <a:solidFill>
            <a:srgbClr val="EAF4FB"/>
          </a:solidFill>
          <a:ln w="9525">
            <a:solidFill>
              <a:srgbClr val="EAF4FB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C55AABE9-350C-45AD-A983-1EF70F0E6CA3}"/>
              </a:ext>
            </a:extLst>
          </p:cNvPr>
          <p:cNvSpPr>
            <a:spLocks noGrp="1"/>
          </p:cNvSpPr>
          <p:nvPr/>
        </p:nvSpPr>
        <p:spPr>
          <a:xfrm>
            <a:off x="8020050" y="5172075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878B5"/>
                </a:solidFill>
              </a:defRPr>
            </a:pPr>
            <a:r>
              <a:rPr sz="1275" b="1">
                <a:solidFill>
                  <a:srgbClr val="2878B5"/>
                </a:solidFill>
              </a:rPr>
              <a:t>구현보다 먼저 “무엇이 맞는가”를 합의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362A68AC-5DAA-4F1D-A4EE-46E8CD74AB2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7939E"/>
                </a:solidFill>
              </a:defRPr>
            </a:pPr>
            <a:r>
              <a:rPr sz="825" b="0">
                <a:solidFill>
                  <a:srgbClr val="87939E"/>
                </a:solidFill>
              </a:rPr>
              <a:t>AI 엔지니어링 세미나 · 요구사항 → 설계 → 구현 → 검증</a:t>
            </a:r>
          </a:p>
        </p:txBody>
      </p:sp>
    </p:spTree>
    <p:extLst>
      <p:ext uri="{BB962C8B-B14F-4D97-AF65-F5344CB8AC3E}">
        <p14:creationId xmlns:p14="http://schemas.microsoft.com/office/powerpoint/2010/main" val="1102787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BF18E8F0-8813-4BE6-A095-75BFBEDBB0E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BB7A0"/>
                </a:solidFill>
              </a:defRPr>
            </a:pPr>
            <a:r>
              <a:rPr sz="1050" b="1">
                <a:solidFill>
                  <a:srgbClr val="3BB7A0"/>
                </a:solidFill>
              </a:rPr>
              <a:t>STEP 2 · PLAN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60F6626E-47D7-4EFE-9AE6-5A3B9C45D74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설계는 코드 모양보다 입력과 출력의 경계를 그렸다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A83E19D4-94C0-43D5-9662-8FC796BC3F0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355064"/>
          </a:solidFill>
          <a:ln w="0">
            <a:solidFill>
              <a:srgbClr val="355064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9FC76B55-6B9E-42D3-B1AD-8F7E360D040C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7891A4"/>
                </a:solidFill>
              </a:defRPr>
            </a:pPr>
            <a:r>
              <a:rPr sz="975" b="1">
                <a:solidFill>
                  <a:srgbClr val="7891A4"/>
                </a:solidFill>
              </a:rPr>
              <a:t>08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xmlns="" id="{54874EBA-E4FD-44EC-BD8D-343036E47F64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2476500" cy="1714500"/>
          </a:xfrm>
          <a:prstGeom prst="roundRect">
            <a:avLst>
              <a:gd name="adj" fmla="val 6667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C25338BE-479C-4403-AD12-82256EDDFBB8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BB7A0"/>
                </a:solidFill>
              </a:defRPr>
            </a:pPr>
            <a:r>
              <a:rPr sz="1500" b="1">
                <a:solidFill>
                  <a:srgbClr val="3BB7A0"/>
                </a:solidFill>
              </a:rPr>
              <a:t>Data Model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57D2A28C-8F54-418B-A592-8441961CEEBF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2057400" cy="9525"/>
          </a:xfrm>
          <a:prstGeom prst="rect">
            <a:avLst/>
          </a:prstGeom>
          <a:solidFill>
            <a:srgbClr val="355064"/>
          </a:solidFill>
          <a:ln w="0">
            <a:solidFill>
              <a:srgbClr val="355064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F96E6939-EC49-4BDF-965D-CF8BE917AB07}"/>
              </a:ext>
            </a:extLst>
          </p:cNvPr>
          <p:cNvSpPr>
            <a:spLocks noGrp="1"/>
          </p:cNvSpPr>
          <p:nvPr/>
        </p:nvSpPr>
        <p:spPr>
          <a:xfrm>
            <a:off x="800100" y="2819400"/>
            <a:ext cx="2057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Camera entity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240E3084-45DC-4039-BFF1-2F4932086F45}"/>
              </a:ext>
            </a:extLst>
          </p:cNvPr>
          <p:cNvSpPr>
            <a:spLocks noGrp="1"/>
          </p:cNvSpPr>
          <p:nvPr/>
        </p:nvSpPr>
        <p:spPr>
          <a:xfrm>
            <a:off x="3390900" y="1905000"/>
            <a:ext cx="2476500" cy="1714500"/>
          </a:xfrm>
          <a:prstGeom prst="roundRect">
            <a:avLst>
              <a:gd name="adj" fmla="val 6667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F4D59D4D-72D6-4F75-B82A-7F5629C6C0AE}"/>
              </a:ext>
            </a:extLst>
          </p:cNvPr>
          <p:cNvSpPr>
            <a:spLocks noGrp="1"/>
          </p:cNvSpPr>
          <p:nvPr/>
        </p:nvSpPr>
        <p:spPr>
          <a:xfrm>
            <a:off x="3600450" y="21526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BB7A0"/>
                </a:solidFill>
              </a:defRPr>
            </a:pPr>
            <a:r>
              <a:rPr sz="1500" b="1">
                <a:solidFill>
                  <a:srgbClr val="3BB7A0"/>
                </a:solidFill>
              </a:rPr>
              <a:t>OpenAPI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8A25DA90-9CEB-4C32-B795-6F29628BB575}"/>
              </a:ext>
            </a:extLst>
          </p:cNvPr>
          <p:cNvSpPr>
            <a:spLocks noGrp="1"/>
          </p:cNvSpPr>
          <p:nvPr/>
        </p:nvSpPr>
        <p:spPr>
          <a:xfrm>
            <a:off x="3600450" y="2571750"/>
            <a:ext cx="2057400" cy="9525"/>
          </a:xfrm>
          <a:prstGeom prst="rect">
            <a:avLst/>
          </a:prstGeom>
          <a:solidFill>
            <a:srgbClr val="355064"/>
          </a:solidFill>
          <a:ln w="0">
            <a:solidFill>
              <a:srgbClr val="355064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9D94AC13-174C-4555-83C6-45838C69EE83}"/>
              </a:ext>
            </a:extLst>
          </p:cNvPr>
          <p:cNvSpPr>
            <a:spLocks noGrp="1"/>
          </p:cNvSpPr>
          <p:nvPr/>
        </p:nvSpPr>
        <p:spPr>
          <a:xfrm>
            <a:off x="3600450" y="2819400"/>
            <a:ext cx="2057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CRUD contract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xmlns="" id="{18924212-0D0A-44C6-8F8A-64A843C02BC0}"/>
              </a:ext>
            </a:extLst>
          </p:cNvPr>
          <p:cNvSpPr>
            <a:spLocks noGrp="1"/>
          </p:cNvSpPr>
          <p:nvPr/>
        </p:nvSpPr>
        <p:spPr>
          <a:xfrm>
            <a:off x="6191250" y="1905000"/>
            <a:ext cx="2476500" cy="1714500"/>
          </a:xfrm>
          <a:prstGeom prst="roundRect">
            <a:avLst>
              <a:gd name="adj" fmla="val 6667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722DB324-1EA6-4929-B7F8-7E1243CB0976}"/>
              </a:ext>
            </a:extLst>
          </p:cNvPr>
          <p:cNvSpPr>
            <a:spLocks noGrp="1"/>
          </p:cNvSpPr>
          <p:nvPr/>
        </p:nvSpPr>
        <p:spPr>
          <a:xfrm>
            <a:off x="6400800" y="21526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BB7A0"/>
                </a:solidFill>
              </a:defRPr>
            </a:pPr>
            <a:r>
              <a:rPr sz="1500" b="1">
                <a:solidFill>
                  <a:srgbClr val="3BB7A0"/>
                </a:solidFill>
              </a:rPr>
              <a:t>Quickstart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1E54F974-7822-4426-9117-EAEADF0338A2}"/>
              </a:ext>
            </a:extLst>
          </p:cNvPr>
          <p:cNvSpPr>
            <a:spLocks noGrp="1"/>
          </p:cNvSpPr>
          <p:nvPr/>
        </p:nvSpPr>
        <p:spPr>
          <a:xfrm>
            <a:off x="6400800" y="2571750"/>
            <a:ext cx="2057400" cy="9525"/>
          </a:xfrm>
          <a:prstGeom prst="rect">
            <a:avLst/>
          </a:prstGeom>
          <a:solidFill>
            <a:srgbClr val="355064"/>
          </a:solidFill>
          <a:ln w="0">
            <a:solidFill>
              <a:srgbClr val="355064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A8935A9C-B355-47E3-BDAB-BBBE38CFCA6D}"/>
              </a:ext>
            </a:extLst>
          </p:cNvPr>
          <p:cNvSpPr>
            <a:spLocks noGrp="1"/>
          </p:cNvSpPr>
          <p:nvPr/>
        </p:nvSpPr>
        <p:spPr>
          <a:xfrm>
            <a:off x="6400800" y="2819400"/>
            <a:ext cx="2057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실행·검증 절차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xmlns="" id="{17C2632F-DD31-41B9-B8C5-AF96F1A1C1E9}"/>
              </a:ext>
            </a:extLst>
          </p:cNvPr>
          <p:cNvSpPr>
            <a:spLocks noGrp="1"/>
          </p:cNvSpPr>
          <p:nvPr/>
        </p:nvSpPr>
        <p:spPr>
          <a:xfrm>
            <a:off x="8991600" y="1905000"/>
            <a:ext cx="2476500" cy="1714500"/>
          </a:xfrm>
          <a:prstGeom prst="roundRect">
            <a:avLst>
              <a:gd name="adj" fmla="val 6667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C71C4743-405C-42C7-9AB1-EBECD47B2099}"/>
              </a:ext>
            </a:extLst>
          </p:cNvPr>
          <p:cNvSpPr>
            <a:spLocks noGrp="1"/>
          </p:cNvSpPr>
          <p:nvPr/>
        </p:nvSpPr>
        <p:spPr>
          <a:xfrm>
            <a:off x="9201150" y="21526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BB7A0"/>
                </a:solidFill>
              </a:defRPr>
            </a:pPr>
            <a:r>
              <a:rPr sz="1500" b="1">
                <a:solidFill>
                  <a:srgbClr val="3BB7A0"/>
                </a:solidFill>
              </a:rPr>
              <a:t>Project Structure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4B463888-14CB-42F8-930A-D841213BD267}"/>
              </a:ext>
            </a:extLst>
          </p:cNvPr>
          <p:cNvSpPr>
            <a:spLocks noGrp="1"/>
          </p:cNvSpPr>
          <p:nvPr/>
        </p:nvSpPr>
        <p:spPr>
          <a:xfrm>
            <a:off x="9201150" y="2571750"/>
            <a:ext cx="2057400" cy="9525"/>
          </a:xfrm>
          <a:prstGeom prst="rect">
            <a:avLst/>
          </a:prstGeom>
          <a:solidFill>
            <a:srgbClr val="355064"/>
          </a:solidFill>
          <a:ln w="0">
            <a:solidFill>
              <a:srgbClr val="355064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00005FDF-4313-4DD5-B4A2-51B168B69382}"/>
              </a:ext>
            </a:extLst>
          </p:cNvPr>
          <p:cNvSpPr>
            <a:spLocks noGrp="1"/>
          </p:cNvSpPr>
          <p:nvPr/>
        </p:nvSpPr>
        <p:spPr>
          <a:xfrm>
            <a:off x="9201150" y="2819400"/>
            <a:ext cx="2057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src / tests / specs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73753834-9160-462E-96B5-68D37EB1301B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59B23"/>
                </a:solidFill>
              </a:defRPr>
            </a:pPr>
            <a:r>
              <a:rPr sz="1350" b="1">
                <a:solidFill>
                  <a:srgbClr val="F59B23"/>
                </a:solidFill>
              </a:rPr>
              <a:t>Plan의 역할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D86D6223-368B-4EC6-902C-C853100057B6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요구사항을 구현 가능한 기술 계약으로 번역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xmlns="" id="{B579AB85-F8CD-4741-94EA-FF3961B0916D}"/>
              </a:ext>
            </a:extLst>
          </p:cNvPr>
          <p:cNvSpPr>
            <a:spLocks noGrp="1"/>
          </p:cNvSpPr>
          <p:nvPr/>
        </p:nvSpPr>
        <p:spPr>
          <a:xfrm>
            <a:off x="8286750" y="4114800"/>
            <a:ext cx="3219450" cy="1066800"/>
          </a:xfrm>
          <a:prstGeom prst="roundRect">
            <a:avLst>
              <a:gd name="adj" fmla="val 10714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FAB17EF3-14B7-4395-A21C-FF0EBC8E5AB4}"/>
              </a:ext>
            </a:extLst>
          </p:cNvPr>
          <p:cNvSpPr>
            <a:spLocks noGrp="1"/>
          </p:cNvSpPr>
          <p:nvPr/>
        </p:nvSpPr>
        <p:spPr>
          <a:xfrm>
            <a:off x="8477250" y="430530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TypeScript · Fastify · SQLite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5A455A02-9A81-4029-B06A-1AB49D80BFB2}"/>
              </a:ext>
            </a:extLst>
          </p:cNvPr>
          <p:cNvSpPr>
            <a:spLocks noGrp="1"/>
          </p:cNvSpPr>
          <p:nvPr/>
        </p:nvSpPr>
        <p:spPr>
          <a:xfrm>
            <a:off x="8477250" y="4705350"/>
            <a:ext cx="2838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BFD0DB"/>
                </a:solidFill>
              </a:defRPr>
            </a:pPr>
            <a:r>
              <a:rPr sz="1275" b="0">
                <a:solidFill>
                  <a:srgbClr val="BFD0DB"/>
                </a:solidFill>
              </a:rPr>
              <a:t>Camera CRUD MVP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CE7B51F9-6A97-4A5E-88FC-14497F263BEC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CBD9E2"/>
                </a:solidFill>
              </a:defRPr>
            </a:pPr>
            <a:r>
              <a:rPr sz="1425" b="1">
                <a:solidFill>
                  <a:srgbClr val="CBD9E2"/>
                </a:solidFill>
              </a:rPr>
              <a:t>설계 산출물은 Codex가 추측해야 할 여지를 줄이는 입력 컨텍스트가 됐다.</a:t>
            </a:r>
          </a:p>
        </p:txBody>
      </p:sp>
    </p:spTree>
    <p:extLst>
      <p:ext uri="{BB962C8B-B14F-4D97-AF65-F5344CB8AC3E}">
        <p14:creationId xmlns:p14="http://schemas.microsoft.com/office/powerpoint/2010/main" val="1077006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FC6C07B2-C16C-4C2E-B733-B6CE7FD5FE1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878B5"/>
                </a:solidFill>
              </a:defRPr>
            </a:pPr>
            <a:r>
              <a:rPr sz="1050" b="1">
                <a:solidFill>
                  <a:srgbClr val="2878B5"/>
                </a:solidFill>
              </a:rPr>
              <a:t>STEP 2 · TASKS / ANALYZE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5D9C5299-6AA4-468E-80F1-E2B3418A12B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43개 Task로 분해하고 구현 전 정합성을 확인했다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9736B477-2323-4F38-92DB-C5C96B545E41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5A6544F3-F830-40FE-B9D6-843117601BC6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93A0AA"/>
                </a:solidFill>
              </a:defRPr>
            </a:pPr>
            <a:r>
              <a:rPr sz="975" b="1">
                <a:solidFill>
                  <a:srgbClr val="93A0AA"/>
                </a:solidFill>
              </a:rPr>
              <a:t>09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092821"/>
            <a:ext cx="5191125" cy="2920008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0" y="2092821"/>
            <a:ext cx="5191125" cy="2920008"/>
          </a:xfrm>
          <a:prstGeom prst="rect">
            <a:avLst/>
          </a:prstGeom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xmlns="" id="{3CF1C62E-10A1-4169-A964-1DF3BEE1EE64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809750" cy="361950"/>
          </a:xfrm>
          <a:prstGeom prst="roundRect">
            <a:avLst>
              <a:gd name="adj" fmla="val 31579"/>
            </a:avLst>
          </a:prstGeom>
          <a:solidFill>
            <a:srgbClr val="EAF4FB"/>
          </a:solidFill>
          <a:ln w="9525">
            <a:solidFill>
              <a:srgbClr val="EAF4F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3A10E0AF-AA14-4948-B4E6-2527DB2FFC23}"/>
              </a:ext>
            </a:extLst>
          </p:cNvPr>
          <p:cNvSpPr>
            <a:spLocks noGrp="1"/>
          </p:cNvSpPr>
          <p:nvPr/>
        </p:nvSpPr>
        <p:spPr>
          <a:xfrm>
            <a:off x="1123950" y="5724525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878B5"/>
                </a:solidFill>
              </a:defRPr>
            </a:pPr>
            <a:r>
              <a:rPr sz="1125" b="1">
                <a:solidFill>
                  <a:srgbClr val="2878B5"/>
                </a:solidFill>
              </a:rPr>
              <a:t>T001–T043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6A7C7553-FDCA-4023-BFA0-E9BEFF8980EA}"/>
              </a:ext>
            </a:extLst>
          </p:cNvPr>
          <p:cNvSpPr>
            <a:spLocks noGrp="1"/>
          </p:cNvSpPr>
          <p:nvPr/>
        </p:nvSpPr>
        <p:spPr>
          <a:xfrm>
            <a:off x="3095625" y="5695950"/>
            <a:ext cx="1809750" cy="361950"/>
          </a:xfrm>
          <a:prstGeom prst="roundRect">
            <a:avLst>
              <a:gd name="adj" fmla="val 31579"/>
            </a:avLst>
          </a:prstGeom>
          <a:solidFill>
            <a:srgbClr val="E9F8F4"/>
          </a:solidFill>
          <a:ln w="9525">
            <a:solidFill>
              <a:srgbClr val="E9F8F4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F7FB19AF-1226-4DD5-9665-6E5C12BFDA29}"/>
              </a:ext>
            </a:extLst>
          </p:cNvPr>
          <p:cNvSpPr>
            <a:spLocks noGrp="1"/>
          </p:cNvSpPr>
          <p:nvPr/>
        </p:nvSpPr>
        <p:spPr>
          <a:xfrm>
            <a:off x="3171825" y="5724525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3BB7A0"/>
                </a:solidFill>
              </a:defRPr>
            </a:pPr>
            <a:r>
              <a:rPr sz="1125" b="1">
                <a:solidFill>
                  <a:srgbClr val="3BB7A0"/>
                </a:solidFill>
              </a:rPr>
              <a:t>요구사항 추적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xmlns="" id="{DA8E2278-FA98-4A87-9453-D8B167350C09}"/>
              </a:ext>
            </a:extLst>
          </p:cNvPr>
          <p:cNvSpPr>
            <a:spLocks noGrp="1"/>
          </p:cNvSpPr>
          <p:nvPr/>
        </p:nvSpPr>
        <p:spPr>
          <a:xfrm>
            <a:off x="7239000" y="5695950"/>
            <a:ext cx="1809750" cy="361950"/>
          </a:xfrm>
          <a:prstGeom prst="roundRect">
            <a:avLst>
              <a:gd name="adj" fmla="val 31579"/>
            </a:avLst>
          </a:prstGeom>
          <a:solidFill>
            <a:srgbClr val="FFF2E2"/>
          </a:solidFill>
          <a:ln w="9525">
            <a:solidFill>
              <a:srgbClr val="FFF2E2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A4D1ACA0-AD50-4445-9C64-082B648B5194}"/>
              </a:ext>
            </a:extLst>
          </p:cNvPr>
          <p:cNvSpPr>
            <a:spLocks noGrp="1"/>
          </p:cNvSpPr>
          <p:nvPr/>
        </p:nvSpPr>
        <p:spPr>
          <a:xfrm>
            <a:off x="7315200" y="5724525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59B23"/>
                </a:solidFill>
              </a:defRPr>
            </a:pPr>
            <a:r>
              <a:rPr sz="1125" b="1">
                <a:solidFill>
                  <a:srgbClr val="F59B23"/>
                </a:solidFill>
              </a:rPr>
              <a:t>충돌·누락 탐지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xmlns="" id="{CB0D14C7-2295-4268-A97A-44DF08FB09BC}"/>
              </a:ext>
            </a:extLst>
          </p:cNvPr>
          <p:cNvSpPr>
            <a:spLocks noGrp="1"/>
          </p:cNvSpPr>
          <p:nvPr/>
        </p:nvSpPr>
        <p:spPr>
          <a:xfrm>
            <a:off x="9286875" y="5695950"/>
            <a:ext cx="1809750" cy="361950"/>
          </a:xfrm>
          <a:prstGeom prst="roundRect">
            <a:avLst>
              <a:gd name="adj" fmla="val 31579"/>
            </a:avLst>
          </a:prstGeom>
          <a:solidFill>
            <a:srgbClr val="FDEDEF"/>
          </a:solidFill>
          <a:ln w="9525">
            <a:solidFill>
              <a:srgbClr val="FDEDEF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0F1DA48B-F714-4529-918D-BEB1DB2A9484}"/>
              </a:ext>
            </a:extLst>
          </p:cNvPr>
          <p:cNvSpPr>
            <a:spLocks noGrp="1"/>
          </p:cNvSpPr>
          <p:nvPr/>
        </p:nvSpPr>
        <p:spPr>
          <a:xfrm>
            <a:off x="9363075" y="5724525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EF5B62"/>
                </a:solidFill>
              </a:defRPr>
            </a:pPr>
            <a:r>
              <a:rPr sz="1125" b="1">
                <a:solidFill>
                  <a:srgbClr val="EF5B62"/>
                </a:solidFill>
              </a:rPr>
              <a:t>구현 전 수정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19B7F696-5D4C-42A6-9879-FA6F8FB8D21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7939E"/>
                </a:solidFill>
              </a:defRPr>
            </a:pPr>
            <a:r>
              <a:rPr sz="825" b="0">
                <a:solidFill>
                  <a:srgbClr val="87939E"/>
                </a:solidFill>
              </a:rPr>
              <a:t>AI 엔지니어링 세미나 · 요구사항 → 설계 → 구현 → 검증</a:t>
            </a:r>
          </a:p>
        </p:txBody>
      </p:sp>
    </p:spTree>
    <p:extLst>
      <p:ext uri="{BB962C8B-B14F-4D97-AF65-F5344CB8AC3E}">
        <p14:creationId xmlns:p14="http://schemas.microsoft.com/office/powerpoint/2010/main" val="200998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xmlns="" id="{04B63593-962E-45FC-979A-D9AF0BD2A19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878B5"/>
                </a:solidFill>
              </a:defRPr>
            </a:pPr>
            <a:r>
              <a:rPr sz="1050" b="1">
                <a:solidFill>
                  <a:srgbClr val="2878B5"/>
                </a:solidFill>
              </a:rPr>
              <a:t>TRACEABILITY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9E6B828F-5319-46F4-A34A-B3758DA16FC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요구사항이 Task와 테스트까지 연결되는지 추적했다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CB59D7D3-C88F-4085-9F08-094A51F56B1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0689964C-9C9C-46FD-803C-06624F66EFD2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93A0AA"/>
                </a:solidFill>
              </a:defRPr>
            </a:pPr>
            <a:r>
              <a:rPr sz="975" b="1">
                <a:solidFill>
                  <a:srgbClr val="93A0AA"/>
                </a:solidFill>
              </a:rPr>
              <a:t>10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xmlns="" id="{CD542374-9DFB-4E87-B4DA-25ED299C60BF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2800350" cy="457200"/>
          </a:xfrm>
          <a:prstGeom prst="roundRect">
            <a:avLst>
              <a:gd name="adj" fmla="val 25000"/>
            </a:avLst>
          </a:prstGeom>
          <a:solidFill>
            <a:srgbClr val="111D29"/>
          </a:solidFill>
          <a:ln w="9525">
            <a:solidFill>
              <a:srgbClr val="111D29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AC9DD237-3DAA-4CC7-A77B-5051A07ABC7F}"/>
              </a:ext>
            </a:extLst>
          </p:cNvPr>
          <p:cNvSpPr>
            <a:spLocks noGrp="1"/>
          </p:cNvSpPr>
          <p:nvPr/>
        </p:nvSpPr>
        <p:spPr>
          <a:xfrm>
            <a:off x="704850" y="1781175"/>
            <a:ext cx="2609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요구사항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xmlns="" id="{18F1DBFA-8353-4213-AE06-F3369933FB6F}"/>
              </a:ext>
            </a:extLst>
          </p:cNvPr>
          <p:cNvSpPr>
            <a:spLocks noGrp="1"/>
          </p:cNvSpPr>
          <p:nvPr/>
        </p:nvSpPr>
        <p:spPr>
          <a:xfrm>
            <a:off x="3524250" y="1714500"/>
            <a:ext cx="3028950" cy="457200"/>
          </a:xfrm>
          <a:prstGeom prst="roundRect">
            <a:avLst>
              <a:gd name="adj" fmla="val 25000"/>
            </a:avLst>
          </a:prstGeom>
          <a:solidFill>
            <a:srgbClr val="111D29"/>
          </a:solidFill>
          <a:ln w="9525">
            <a:solidFill>
              <a:srgbClr val="111D29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F9F52088-0465-4D47-A5E8-59D7C17AA5E8}"/>
              </a:ext>
            </a:extLst>
          </p:cNvPr>
          <p:cNvSpPr>
            <a:spLocks noGrp="1"/>
          </p:cNvSpPr>
          <p:nvPr/>
        </p:nvSpPr>
        <p:spPr>
          <a:xfrm>
            <a:off x="3619500" y="1781175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설계 계약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1C261DB9-5264-411E-9CC1-739B31EAC29A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2171700" cy="457200"/>
          </a:xfrm>
          <a:prstGeom prst="roundRect">
            <a:avLst>
              <a:gd name="adj" fmla="val 25000"/>
            </a:avLst>
          </a:prstGeom>
          <a:solidFill>
            <a:srgbClr val="111D29"/>
          </a:solidFill>
          <a:ln w="9525">
            <a:solidFill>
              <a:srgbClr val="111D29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9E38A825-F956-460A-91CA-F409C8B39516}"/>
              </a:ext>
            </a:extLst>
          </p:cNvPr>
          <p:cNvSpPr>
            <a:spLocks noGrp="1"/>
          </p:cNvSpPr>
          <p:nvPr/>
        </p:nvSpPr>
        <p:spPr>
          <a:xfrm>
            <a:off x="6762750" y="1781175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xmlns="" id="{F773BC5B-6220-4A9E-9F2A-2CDF6131D59A}"/>
              </a:ext>
            </a:extLst>
          </p:cNvPr>
          <p:cNvSpPr>
            <a:spLocks noGrp="1"/>
          </p:cNvSpPr>
          <p:nvPr/>
        </p:nvSpPr>
        <p:spPr>
          <a:xfrm>
            <a:off x="8953500" y="1714500"/>
            <a:ext cx="2266950" cy="457200"/>
          </a:xfrm>
          <a:prstGeom prst="roundRect">
            <a:avLst>
              <a:gd name="adj" fmla="val 25000"/>
            </a:avLst>
          </a:prstGeom>
          <a:solidFill>
            <a:srgbClr val="111D29"/>
          </a:solidFill>
          <a:ln w="9525">
            <a:solidFill>
              <a:srgbClr val="111D29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3E1F439D-A6BE-4D29-B1BF-F16BB8C4715C}"/>
              </a:ext>
            </a:extLst>
          </p:cNvPr>
          <p:cNvSpPr>
            <a:spLocks noGrp="1"/>
          </p:cNvSpPr>
          <p:nvPr/>
        </p:nvSpPr>
        <p:spPr>
          <a:xfrm>
            <a:off x="9048750" y="1781175"/>
            <a:ext cx="2076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검증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xmlns="" id="{613C81DD-22BD-47AA-96E7-9A86F4F61C35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28003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58547EB-B912-4CE7-98FA-924982379A3D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Camera CRUD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xmlns="" id="{034C0C5F-2ED1-41AD-9BBE-074549C6DA36}"/>
              </a:ext>
            </a:extLst>
          </p:cNvPr>
          <p:cNvSpPr>
            <a:spLocks noGrp="1"/>
          </p:cNvSpPr>
          <p:nvPr/>
        </p:nvSpPr>
        <p:spPr>
          <a:xfrm>
            <a:off x="3524250" y="2286000"/>
            <a:ext cx="30289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712F8BD7-651D-42AA-92EA-633A2283309B}"/>
              </a:ext>
            </a:extLst>
          </p:cNvPr>
          <p:cNvSpPr>
            <a:spLocks noGrp="1"/>
          </p:cNvSpPr>
          <p:nvPr/>
        </p:nvSpPr>
        <p:spPr>
          <a:xfrm>
            <a:off x="3638550" y="24003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OpenAPI / Camera model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xmlns="" id="{01DC118E-43B2-4081-8405-31200192489B}"/>
              </a:ext>
            </a:extLst>
          </p:cNvPr>
          <p:cNvSpPr>
            <a:spLocks noGrp="1"/>
          </p:cNvSpPr>
          <p:nvPr/>
        </p:nvSpPr>
        <p:spPr>
          <a:xfrm>
            <a:off x="6667500" y="2286000"/>
            <a:ext cx="21717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115DB26B-9528-48AB-B1E8-82B376EFD416}"/>
              </a:ext>
            </a:extLst>
          </p:cNvPr>
          <p:cNvSpPr>
            <a:spLocks noGrp="1"/>
          </p:cNvSpPr>
          <p:nvPr/>
        </p:nvSpPr>
        <p:spPr>
          <a:xfrm>
            <a:off x="6781800" y="2400300"/>
            <a:ext cx="1943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T001–T021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xmlns="" id="{2BE6609B-18FA-4D24-B693-10858F2B4C9C}"/>
              </a:ext>
            </a:extLst>
          </p:cNvPr>
          <p:cNvSpPr>
            <a:spLocks noGrp="1"/>
          </p:cNvSpPr>
          <p:nvPr/>
        </p:nvSpPr>
        <p:spPr>
          <a:xfrm>
            <a:off x="8953500" y="2286000"/>
            <a:ext cx="22669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57ACF238-F538-44B4-8804-33BFB660228A}"/>
              </a:ext>
            </a:extLst>
          </p:cNvPr>
          <p:cNvSpPr>
            <a:spLocks noGrp="1"/>
          </p:cNvSpPr>
          <p:nvPr/>
        </p:nvSpPr>
        <p:spPr>
          <a:xfrm>
            <a:off x="9067800" y="240030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Contract + Lifecycle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xmlns="" id="{F355E2FF-E5ED-4EA6-A90E-86602E8D3EFD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28003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761037B2-C277-41EF-A7CB-D5D3B4B5BCD9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Persistence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xmlns="" id="{CA6B1C39-47B5-4E4D-A7FE-D83579E2BAD3}"/>
              </a:ext>
            </a:extLst>
          </p:cNvPr>
          <p:cNvSpPr>
            <a:spLocks noGrp="1"/>
          </p:cNvSpPr>
          <p:nvPr/>
        </p:nvSpPr>
        <p:spPr>
          <a:xfrm>
            <a:off x="3524250" y="3257550"/>
            <a:ext cx="30289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87957F7C-9ACB-4E33-B335-BD6BC2AAEE9D}"/>
              </a:ext>
            </a:extLst>
          </p:cNvPr>
          <p:cNvSpPr>
            <a:spLocks noGrp="1"/>
          </p:cNvSpPr>
          <p:nvPr/>
        </p:nvSpPr>
        <p:spPr>
          <a:xfrm>
            <a:off x="3638550" y="337185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SQLite / WAL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xmlns="" id="{7922F189-37F7-46AB-A95A-B16BA88399D7}"/>
              </a:ext>
            </a:extLst>
          </p:cNvPr>
          <p:cNvSpPr>
            <a:spLocks noGrp="1"/>
          </p:cNvSpPr>
          <p:nvPr/>
        </p:nvSpPr>
        <p:spPr>
          <a:xfrm>
            <a:off x="6667500" y="3257550"/>
            <a:ext cx="21717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99B5F1CE-0F3B-4DC1-A56D-9B632068A31D}"/>
              </a:ext>
            </a:extLst>
          </p:cNvPr>
          <p:cNvSpPr>
            <a:spLocks noGrp="1"/>
          </p:cNvSpPr>
          <p:nvPr/>
        </p:nvSpPr>
        <p:spPr>
          <a:xfrm>
            <a:off x="6781800" y="3371850"/>
            <a:ext cx="1943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T001–T021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xmlns="" id="{267F297E-D250-4686-9940-D302B6C9472C}"/>
              </a:ext>
            </a:extLst>
          </p:cNvPr>
          <p:cNvSpPr>
            <a:spLocks noGrp="1"/>
          </p:cNvSpPr>
          <p:nvPr/>
        </p:nvSpPr>
        <p:spPr>
          <a:xfrm>
            <a:off x="8953500" y="3257550"/>
            <a:ext cx="22669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1E7AFE3D-C7A9-41B3-88D4-67D8E3C0E25C}"/>
              </a:ext>
            </a:extLst>
          </p:cNvPr>
          <p:cNvSpPr>
            <a:spLocks noGrp="1"/>
          </p:cNvSpPr>
          <p:nvPr/>
        </p:nvSpPr>
        <p:spPr>
          <a:xfrm>
            <a:off x="9067800" y="337185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Restart persistence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xmlns="" id="{E1AFC57C-7A32-407D-841B-BEC0061BF81B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2800350" cy="819150"/>
          </a:xfrm>
          <a:prstGeom prst="roundRect">
            <a:avLst>
              <a:gd name="adj" fmla="val 13953"/>
            </a:avLst>
          </a:prstGeom>
          <a:solidFill>
            <a:srgbClr val="FAF1E8"/>
          </a:solidFill>
          <a:ln w="9525">
            <a:solidFill>
              <a:srgbClr val="EDC58C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BE9D1DAE-C7DD-482E-8033-A693B09FA5D2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F59B23"/>
                </a:solidFill>
              </a:defRPr>
            </a:pPr>
            <a:r>
              <a:rPr sz="1275" b="0">
                <a:solidFill>
                  <a:srgbClr val="F59B23"/>
                </a:solidFill>
              </a:rPr>
              <a:t>Ping / TCP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xmlns="" id="{F119C4F5-0E7C-4133-8C38-DB1A398E427D}"/>
              </a:ext>
            </a:extLst>
          </p:cNvPr>
          <p:cNvSpPr>
            <a:spLocks noGrp="1"/>
          </p:cNvSpPr>
          <p:nvPr/>
        </p:nvSpPr>
        <p:spPr>
          <a:xfrm>
            <a:off x="3524250" y="4229100"/>
            <a:ext cx="3028950" cy="819150"/>
          </a:xfrm>
          <a:prstGeom prst="roundRect">
            <a:avLst>
              <a:gd name="adj" fmla="val 13953"/>
            </a:avLst>
          </a:prstGeom>
          <a:solidFill>
            <a:srgbClr val="FAF1E8"/>
          </a:solidFill>
          <a:ln w="9525">
            <a:solidFill>
              <a:srgbClr val="EDC58C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3FBB950A-5F1B-4E85-9C42-9C427FC9B23F}"/>
              </a:ext>
            </a:extLst>
          </p:cNvPr>
          <p:cNvSpPr>
            <a:spLocks noGrp="1"/>
          </p:cNvSpPr>
          <p:nvPr/>
        </p:nvSpPr>
        <p:spPr>
          <a:xfrm>
            <a:off x="3638550" y="43434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F59B23"/>
                </a:solidFill>
              </a:defRPr>
            </a:pPr>
            <a:r>
              <a:rPr sz="1275" b="0">
                <a:solidFill>
                  <a:srgbClr val="F59B23"/>
                </a:solidFill>
              </a:rPr>
              <a:t>Diagnostics contract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xmlns="" id="{D35D98AA-D40A-4A75-AB28-960DA00C34BB}"/>
              </a:ext>
            </a:extLst>
          </p:cNvPr>
          <p:cNvSpPr>
            <a:spLocks noGrp="1"/>
          </p:cNvSpPr>
          <p:nvPr/>
        </p:nvSpPr>
        <p:spPr>
          <a:xfrm>
            <a:off x="6667500" y="4229100"/>
            <a:ext cx="2171700" cy="819150"/>
          </a:xfrm>
          <a:prstGeom prst="roundRect">
            <a:avLst>
              <a:gd name="adj" fmla="val 13953"/>
            </a:avLst>
          </a:prstGeom>
          <a:solidFill>
            <a:srgbClr val="FAF1E8"/>
          </a:solidFill>
          <a:ln w="9525">
            <a:solidFill>
              <a:srgbClr val="EDC58C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xmlns="" id="{F5E92793-CA11-46D1-AFA4-8BD593F972C8}"/>
              </a:ext>
            </a:extLst>
          </p:cNvPr>
          <p:cNvSpPr>
            <a:spLocks noGrp="1"/>
          </p:cNvSpPr>
          <p:nvPr/>
        </p:nvSpPr>
        <p:spPr>
          <a:xfrm>
            <a:off x="6781800" y="4343400"/>
            <a:ext cx="1943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F59B23"/>
                </a:solidFill>
              </a:defRPr>
            </a:pPr>
            <a:r>
              <a:rPr sz="1275" b="0">
                <a:solidFill>
                  <a:srgbClr val="F59B23"/>
                </a:solidFill>
              </a:rPr>
              <a:t>T022–T043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xmlns="" id="{3DB03823-BF6E-4479-B29C-4D83F9D949B7}"/>
              </a:ext>
            </a:extLst>
          </p:cNvPr>
          <p:cNvSpPr>
            <a:spLocks noGrp="1"/>
          </p:cNvSpPr>
          <p:nvPr/>
        </p:nvSpPr>
        <p:spPr>
          <a:xfrm>
            <a:off x="8953500" y="4229100"/>
            <a:ext cx="2266950" cy="819150"/>
          </a:xfrm>
          <a:prstGeom prst="roundRect">
            <a:avLst>
              <a:gd name="adj" fmla="val 13953"/>
            </a:avLst>
          </a:prstGeom>
          <a:solidFill>
            <a:srgbClr val="FAF1E8"/>
          </a:solidFill>
          <a:ln w="9525">
            <a:solidFill>
              <a:srgbClr val="EDC58C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ABF56157-B342-4D15-9532-24CC41C43299}"/>
              </a:ext>
            </a:extLst>
          </p:cNvPr>
          <p:cNvSpPr>
            <a:spLocks noGrp="1"/>
          </p:cNvSpPr>
          <p:nvPr/>
        </p:nvSpPr>
        <p:spPr>
          <a:xfrm>
            <a:off x="9067800" y="434340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F59B23"/>
                </a:solidFill>
              </a:defRPr>
            </a:pPr>
            <a:r>
              <a:rPr sz="1275" b="0">
                <a:solidFill>
                  <a:srgbClr val="F59B23"/>
                </a:solidFill>
              </a:rPr>
              <a:t>후속 범위</a:t>
            </a: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xmlns="" id="{7AED3334-8294-4180-941D-670298D4AF71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725150" cy="552450"/>
          </a:xfrm>
          <a:prstGeom prst="roundRect">
            <a:avLst>
              <a:gd name="adj" fmla="val 20690"/>
            </a:avLst>
          </a:prstGeom>
          <a:solidFill>
            <a:srgbClr val="EAF4FB"/>
          </a:solidFill>
          <a:ln w="9525">
            <a:solidFill>
              <a:srgbClr val="EAF4FB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DC090FCA-5E12-41C9-90FD-2A229AE89C4C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878B5"/>
                </a:solidFill>
              </a:defRPr>
            </a:pPr>
            <a:r>
              <a:rPr sz="1350" b="1">
                <a:solidFill>
                  <a:srgbClr val="2878B5"/>
                </a:solidFill>
              </a:rPr>
              <a:t>완료 판정은 “코드가 생겼다”가 아니라 요구사항 → 계약 → Task → 테스트가 이어졌는가로 판단했다.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9C4AE677-DCD5-4629-BA92-DC9C0F3400A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7939E"/>
                </a:solidFill>
              </a:defRPr>
            </a:pPr>
            <a:r>
              <a:rPr sz="825" b="0">
                <a:solidFill>
                  <a:srgbClr val="87939E"/>
                </a:solidFill>
              </a:rPr>
              <a:t>AI 엔지니어링 세미나 · 요구사항 → 설계 → 구현 → 검증</a:t>
            </a:r>
          </a:p>
        </p:txBody>
      </p:sp>
    </p:spTree>
    <p:extLst>
      <p:ext uri="{BB962C8B-B14F-4D97-AF65-F5344CB8AC3E}">
        <p14:creationId xmlns:p14="http://schemas.microsoft.com/office/powerpoint/2010/main" val="1442683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3BADBD97-D8DA-4B82-90C3-01B33474C3D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BB7A0"/>
                </a:solidFill>
              </a:defRPr>
            </a:pPr>
            <a:r>
              <a:rPr sz="1050" b="1">
                <a:solidFill>
                  <a:srgbClr val="3BB7A0"/>
                </a:solidFill>
              </a:rPr>
              <a:t>STEP 3 · CODEX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942B1F9C-5E8A-43F3-A1C9-9528D2A70AA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Spec Kit 산출물을 Codex의 구현 입력으로 사용했다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87CF5B76-CD87-4166-9773-61497AC1FF5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355064"/>
          </a:solidFill>
          <a:ln w="0">
            <a:solidFill>
              <a:srgbClr val="355064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AD601E67-3A13-4239-9BE5-AA4A97F1002A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7891A4"/>
                </a:solidFill>
              </a:defRPr>
            </a:pPr>
            <a:r>
              <a:rPr sz="975" b="1">
                <a:solidFill>
                  <a:srgbClr val="7891A4"/>
                </a:solidFill>
              </a:rPr>
              <a:t>11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xmlns="" id="{8873DAE2-3CEC-40C7-A395-C2BDE948BFBC}"/>
              </a:ext>
            </a:extLst>
          </p:cNvPr>
          <p:cNvSpPr>
            <a:spLocks noGrp="1"/>
          </p:cNvSpPr>
          <p:nvPr/>
        </p:nvSpPr>
        <p:spPr>
          <a:xfrm>
            <a:off x="590550" y="2000250"/>
            <a:ext cx="1790700" cy="1143000"/>
          </a:xfrm>
          <a:prstGeom prst="roundRect">
            <a:avLst>
              <a:gd name="adj" fmla="val 10000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E31D4EDF-B495-4FDB-B9AA-1F3BC6069045}"/>
              </a:ext>
            </a:extLst>
          </p:cNvPr>
          <p:cNvSpPr>
            <a:spLocks noGrp="1"/>
          </p:cNvSpPr>
          <p:nvPr/>
        </p:nvSpPr>
        <p:spPr>
          <a:xfrm>
            <a:off x="733425" y="2200275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3BB7A0"/>
                </a:solidFill>
              </a:defRPr>
            </a:pPr>
            <a:r>
              <a:rPr sz="1425" b="1">
                <a:solidFill>
                  <a:srgbClr val="3BB7A0"/>
                </a:solidFill>
              </a:rPr>
              <a:t>spec.md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411EC28F-154F-4DD2-B7FC-C5B6AA5AFF8D}"/>
              </a:ext>
            </a:extLst>
          </p:cNvPr>
          <p:cNvSpPr>
            <a:spLocks noGrp="1"/>
          </p:cNvSpPr>
          <p:nvPr/>
        </p:nvSpPr>
        <p:spPr>
          <a:xfrm>
            <a:off x="733425" y="2609850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BFD0DB"/>
                </a:solidFill>
              </a:defRPr>
            </a:pPr>
            <a:r>
              <a:rPr sz="1125" b="0">
                <a:solidFill>
                  <a:srgbClr val="BFD0DB"/>
                </a:solidFill>
              </a:rPr>
              <a:t>요구사항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FABF62C9-FE37-42D2-B56D-F9437CE45E5B}"/>
              </a:ext>
            </a:extLst>
          </p:cNvPr>
          <p:cNvSpPr>
            <a:spLocks noGrp="1"/>
          </p:cNvSpPr>
          <p:nvPr/>
        </p:nvSpPr>
        <p:spPr>
          <a:xfrm>
            <a:off x="2381250" y="2552700"/>
            <a:ext cx="342900" cy="28575"/>
          </a:xfrm>
          <a:prstGeom prst="rect">
            <a:avLst/>
          </a:prstGeom>
          <a:solidFill>
            <a:srgbClr val="3BB7A0"/>
          </a:solidFill>
          <a:ln w="0">
            <a:solidFill>
              <a:srgbClr val="3BB7A0"/>
            </a:solidFill>
            <a:prstDash val="solid"/>
          </a:ln>
        </p:spPr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3B8FBBEA-3258-4ECB-A430-B7121AED1642}"/>
              </a:ext>
            </a:extLst>
          </p:cNvPr>
          <p:cNvSpPr>
            <a:spLocks noGrp="1"/>
          </p:cNvSpPr>
          <p:nvPr/>
        </p:nvSpPr>
        <p:spPr>
          <a:xfrm>
            <a:off x="2724150" y="2000250"/>
            <a:ext cx="1790700" cy="1143000"/>
          </a:xfrm>
          <a:prstGeom prst="roundRect">
            <a:avLst>
              <a:gd name="adj" fmla="val 10000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9CAFCFE5-FB3D-4420-A04E-C338BF20AE0A}"/>
              </a:ext>
            </a:extLst>
          </p:cNvPr>
          <p:cNvSpPr>
            <a:spLocks noGrp="1"/>
          </p:cNvSpPr>
          <p:nvPr/>
        </p:nvSpPr>
        <p:spPr>
          <a:xfrm>
            <a:off x="2867025" y="2200275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3BB7A0"/>
                </a:solidFill>
              </a:defRPr>
            </a:pPr>
            <a:r>
              <a:rPr sz="1425" b="1">
                <a:solidFill>
                  <a:srgbClr val="3BB7A0"/>
                </a:solidFill>
              </a:rPr>
              <a:t>plan.md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3A00DD24-7DF9-4A34-9879-E1D03D5E7BE1}"/>
              </a:ext>
            </a:extLst>
          </p:cNvPr>
          <p:cNvSpPr>
            <a:spLocks noGrp="1"/>
          </p:cNvSpPr>
          <p:nvPr/>
        </p:nvSpPr>
        <p:spPr>
          <a:xfrm>
            <a:off x="2867025" y="2609850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BFD0DB"/>
                </a:solidFill>
              </a:defRPr>
            </a:pPr>
            <a:r>
              <a:rPr sz="1125" b="0">
                <a:solidFill>
                  <a:srgbClr val="BFD0DB"/>
                </a:solidFill>
              </a:rPr>
              <a:t>구조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2D362FEA-9A28-40AA-8F05-F6AFCE60AFC6}"/>
              </a:ext>
            </a:extLst>
          </p:cNvPr>
          <p:cNvSpPr>
            <a:spLocks noGrp="1"/>
          </p:cNvSpPr>
          <p:nvPr/>
        </p:nvSpPr>
        <p:spPr>
          <a:xfrm>
            <a:off x="4514850" y="2552700"/>
            <a:ext cx="342900" cy="28575"/>
          </a:xfrm>
          <a:prstGeom prst="rect">
            <a:avLst/>
          </a:prstGeom>
          <a:solidFill>
            <a:srgbClr val="3BB7A0"/>
          </a:solidFill>
          <a:ln w="0">
            <a:solidFill>
              <a:srgbClr val="3BB7A0"/>
            </a:solidFill>
            <a:prstDash val="solid"/>
          </a:ln>
        </p:spPr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xmlns="" id="{AE1142C1-FFBD-4E2A-88B9-089A6DC1628F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1790700" cy="1143000"/>
          </a:xfrm>
          <a:prstGeom prst="roundRect">
            <a:avLst>
              <a:gd name="adj" fmla="val 10000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5DF7F95-31ED-4E6A-BEEE-00B0DAAE932D}"/>
              </a:ext>
            </a:extLst>
          </p:cNvPr>
          <p:cNvSpPr>
            <a:spLocks noGrp="1"/>
          </p:cNvSpPr>
          <p:nvPr/>
        </p:nvSpPr>
        <p:spPr>
          <a:xfrm>
            <a:off x="5000625" y="2200275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3BB7A0"/>
                </a:solidFill>
              </a:defRPr>
            </a:pPr>
            <a:r>
              <a:rPr sz="1425" b="1">
                <a:solidFill>
                  <a:srgbClr val="3BB7A0"/>
                </a:solidFill>
              </a:rPr>
              <a:t>openapi.yaml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CC4F6DA8-70BF-4B18-B144-094EB61BA468}"/>
              </a:ext>
            </a:extLst>
          </p:cNvPr>
          <p:cNvSpPr>
            <a:spLocks noGrp="1"/>
          </p:cNvSpPr>
          <p:nvPr/>
        </p:nvSpPr>
        <p:spPr>
          <a:xfrm>
            <a:off x="5000625" y="2609850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BFD0DB"/>
                </a:solidFill>
              </a:defRPr>
            </a:pPr>
            <a:r>
              <a:rPr sz="1125" b="0">
                <a:solidFill>
                  <a:srgbClr val="BFD0DB"/>
                </a:solidFill>
              </a:rPr>
              <a:t>API 계약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383B1CB0-F3A4-48A1-9555-B7AC59CE98B9}"/>
              </a:ext>
            </a:extLst>
          </p:cNvPr>
          <p:cNvSpPr>
            <a:spLocks noGrp="1"/>
          </p:cNvSpPr>
          <p:nvPr/>
        </p:nvSpPr>
        <p:spPr>
          <a:xfrm>
            <a:off x="6648450" y="2552700"/>
            <a:ext cx="342900" cy="28575"/>
          </a:xfrm>
          <a:prstGeom prst="rect">
            <a:avLst/>
          </a:prstGeom>
          <a:solidFill>
            <a:srgbClr val="3BB7A0"/>
          </a:solidFill>
          <a:ln w="0">
            <a:solidFill>
              <a:srgbClr val="3BB7A0"/>
            </a:solidFill>
            <a:prstDash val="solid"/>
          </a:ln>
        </p:spPr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xmlns="" id="{3017FBE0-F244-41FA-B5A5-65CD97A2F6DE}"/>
              </a:ext>
            </a:extLst>
          </p:cNvPr>
          <p:cNvSpPr>
            <a:spLocks noGrp="1"/>
          </p:cNvSpPr>
          <p:nvPr/>
        </p:nvSpPr>
        <p:spPr>
          <a:xfrm>
            <a:off x="6991350" y="2000250"/>
            <a:ext cx="1790700" cy="1143000"/>
          </a:xfrm>
          <a:prstGeom prst="roundRect">
            <a:avLst>
              <a:gd name="adj" fmla="val 10000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5BC1D175-C815-4878-A171-0023B23E2379}"/>
              </a:ext>
            </a:extLst>
          </p:cNvPr>
          <p:cNvSpPr>
            <a:spLocks noGrp="1"/>
          </p:cNvSpPr>
          <p:nvPr/>
        </p:nvSpPr>
        <p:spPr>
          <a:xfrm>
            <a:off x="7134225" y="2200275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3BB7A0"/>
                </a:solidFill>
              </a:defRPr>
            </a:pPr>
            <a:r>
              <a:rPr sz="1425" b="1">
                <a:solidFill>
                  <a:srgbClr val="3BB7A0"/>
                </a:solidFill>
              </a:rPr>
              <a:t>tasks.md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79F57397-6720-4D1B-B16F-F84F07CBCCAC}"/>
              </a:ext>
            </a:extLst>
          </p:cNvPr>
          <p:cNvSpPr>
            <a:spLocks noGrp="1"/>
          </p:cNvSpPr>
          <p:nvPr/>
        </p:nvSpPr>
        <p:spPr>
          <a:xfrm>
            <a:off x="7134225" y="2609850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BFD0DB"/>
                </a:solidFill>
              </a:defRPr>
            </a:pPr>
            <a:r>
              <a:rPr sz="1125" b="0">
                <a:solidFill>
                  <a:srgbClr val="BFD0DB"/>
                </a:solidFill>
              </a:rPr>
              <a:t>구현 순서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FCCADBBD-959D-410B-9945-AB7111B6AAE5}"/>
              </a:ext>
            </a:extLst>
          </p:cNvPr>
          <p:cNvSpPr>
            <a:spLocks noGrp="1"/>
          </p:cNvSpPr>
          <p:nvPr/>
        </p:nvSpPr>
        <p:spPr>
          <a:xfrm>
            <a:off x="8782050" y="2552700"/>
            <a:ext cx="342900" cy="28575"/>
          </a:xfrm>
          <a:prstGeom prst="rect">
            <a:avLst/>
          </a:prstGeom>
          <a:solidFill>
            <a:srgbClr val="3BB7A0"/>
          </a:solidFill>
          <a:ln w="0">
            <a:solidFill>
              <a:srgbClr val="3BB7A0"/>
            </a:solidFill>
            <a:prstDash val="solid"/>
          </a:ln>
        </p:spPr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xmlns="" id="{71381A61-41E1-42A6-A3D6-EC05850FD2A5}"/>
              </a:ext>
            </a:extLst>
          </p:cNvPr>
          <p:cNvSpPr>
            <a:spLocks noGrp="1"/>
          </p:cNvSpPr>
          <p:nvPr/>
        </p:nvSpPr>
        <p:spPr>
          <a:xfrm>
            <a:off x="9239250" y="1866900"/>
            <a:ext cx="2286000" cy="1409700"/>
          </a:xfrm>
          <a:prstGeom prst="roundRect">
            <a:avLst>
              <a:gd name="adj" fmla="val 8108"/>
            </a:avLst>
          </a:prstGeom>
          <a:solidFill>
            <a:srgbClr val="19394A"/>
          </a:solidFill>
          <a:ln w="9525">
            <a:solidFill>
              <a:srgbClr val="3BB7A0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7C666807-147F-4E4B-B6C7-714C5621B8C2}"/>
              </a:ext>
            </a:extLst>
          </p:cNvPr>
          <p:cNvSpPr>
            <a:spLocks noGrp="1"/>
          </p:cNvSpPr>
          <p:nvPr/>
        </p:nvSpPr>
        <p:spPr>
          <a:xfrm>
            <a:off x="9477375" y="21336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CODEX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ABA41F18-EC51-4CDC-90EF-D9DD79D84E81}"/>
              </a:ext>
            </a:extLst>
          </p:cNvPr>
          <p:cNvSpPr>
            <a:spLocks noGrp="1"/>
          </p:cNvSpPr>
          <p:nvPr/>
        </p:nvSpPr>
        <p:spPr>
          <a:xfrm>
            <a:off x="9477375" y="25908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8FD12D"/>
                </a:solidFill>
              </a:defRPr>
            </a:pPr>
            <a:r>
              <a:rPr sz="1350" b="1">
                <a:solidFill>
                  <a:srgbClr val="8FD12D"/>
                </a:solidFill>
              </a:rPr>
              <a:t>T001–T021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F86E0160-F4F8-4C9B-8869-71B34EE74839}"/>
              </a:ext>
            </a:extLst>
          </p:cNvPr>
          <p:cNvSpPr>
            <a:spLocks noGrp="1"/>
          </p:cNvSpPr>
          <p:nvPr/>
        </p:nvSpPr>
        <p:spPr>
          <a:xfrm>
            <a:off x="1581150" y="3676650"/>
            <a:ext cx="8572500" cy="19050"/>
          </a:xfrm>
          <a:prstGeom prst="rect">
            <a:avLst/>
          </a:prstGeom>
          <a:solidFill>
            <a:srgbClr val="355064"/>
          </a:solidFill>
          <a:ln w="0">
            <a:solidFill>
              <a:srgbClr val="355064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7826535F-A167-4F12-9C80-6A0E78F8234C}"/>
              </a:ext>
            </a:extLst>
          </p:cNvPr>
          <p:cNvSpPr>
            <a:spLocks noGrp="1"/>
          </p:cNvSpPr>
          <p:nvPr/>
        </p:nvSpPr>
        <p:spPr>
          <a:xfrm>
            <a:off x="5638800" y="356235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59B23"/>
                </a:solidFill>
              </a:defRPr>
            </a:pPr>
            <a:r>
              <a:rPr sz="2250" b="1">
                <a:solidFill>
                  <a:srgbClr val="F59B23"/>
                </a:solidFill>
              </a:rPr>
              <a:t>↓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xmlns="" id="{DE671D53-2472-4341-98E0-BC9C6F973C28}"/>
              </a:ext>
            </a:extLst>
          </p:cNvPr>
          <p:cNvSpPr>
            <a:spLocks noGrp="1"/>
          </p:cNvSpPr>
          <p:nvPr/>
        </p:nvSpPr>
        <p:spPr>
          <a:xfrm>
            <a:off x="1619250" y="4171950"/>
            <a:ext cx="8953500" cy="1104900"/>
          </a:xfrm>
          <a:prstGeom prst="roundRect">
            <a:avLst>
              <a:gd name="adj" fmla="val 10345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7F524624-0E5A-4058-8B17-84051A5C368A}"/>
              </a:ext>
            </a:extLst>
          </p:cNvPr>
          <p:cNvSpPr>
            <a:spLocks noGrp="1"/>
          </p:cNvSpPr>
          <p:nvPr/>
        </p:nvSpPr>
        <p:spPr>
          <a:xfrm>
            <a:off x="1905000" y="4381500"/>
            <a:ext cx="838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TypeScript + Fastify + SQLite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8B1FDD10-7F60-47B9-9A6F-AF0CE0A657ED}"/>
              </a:ext>
            </a:extLst>
          </p:cNvPr>
          <p:cNvSpPr>
            <a:spLocks noGrp="1"/>
          </p:cNvSpPr>
          <p:nvPr/>
        </p:nvSpPr>
        <p:spPr>
          <a:xfrm>
            <a:off x="1905000" y="4800600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BDD0DC"/>
                </a:solidFill>
              </a:defRPr>
            </a:pPr>
            <a:r>
              <a:rPr sz="1350" b="0">
                <a:solidFill>
                  <a:srgbClr val="BDD0DC"/>
                </a:solidFill>
              </a:rPr>
              <a:t>Camera CRUD · 409 / 404 · 재시작 후 데이터 유지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65C98B38-6A13-49B0-9A3E-116E92FDEA16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3BB7A0"/>
                </a:solidFill>
              </a:defRPr>
            </a:pPr>
            <a:r>
              <a:rPr sz="1500" b="1">
                <a:solidFill>
                  <a:srgbClr val="3BB7A0"/>
                </a:solidFill>
              </a:rPr>
              <a:t>자연어가 아니라 검토된 문서 묶음이 구현 컨텍스트가 됐다.</a:t>
            </a:r>
          </a:p>
        </p:txBody>
      </p:sp>
    </p:spTree>
    <p:extLst>
      <p:ext uri="{BB962C8B-B14F-4D97-AF65-F5344CB8AC3E}">
        <p14:creationId xmlns:p14="http://schemas.microsoft.com/office/powerpoint/2010/main" val="1755209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3C48C115-C1D7-4FE0-AA69-2FF77EEB244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878B5"/>
                </a:solidFill>
              </a:defRPr>
            </a:pPr>
            <a:r>
              <a:rPr sz="1050" b="1">
                <a:solidFill>
                  <a:srgbClr val="2878B5"/>
                </a:solidFill>
              </a:rPr>
              <a:t>STEP 3 · 구현 결과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D7CCD6C2-9ED2-45F9-9098-64A20D22C44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MVP 범위 T001–T021을 실제 코드로 구현했다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7A871CF-2BB8-4600-850A-4CA826E40554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31458BD3-A3B6-44DA-854C-A548F66496E8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93A0AA"/>
                </a:solidFill>
              </a:defRPr>
            </a:pPr>
            <a:r>
              <a:rPr sz="975" b="1">
                <a:solidFill>
                  <a:srgbClr val="93A0AA"/>
                </a:solidFill>
              </a:rPr>
              <a:t>12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87045" y="1619250"/>
            <a:ext cx="3255361" cy="4191000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xmlns="" id="{1831A4A6-2036-49B5-8FCF-0D0C17E8E94D}"/>
              </a:ext>
            </a:extLst>
          </p:cNvPr>
          <p:cNvSpPr>
            <a:spLocks noGrp="1"/>
          </p:cNvSpPr>
          <p:nvPr/>
        </p:nvSpPr>
        <p:spPr>
          <a:xfrm>
            <a:off x="6858000" y="1695450"/>
            <a:ext cx="4429125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C3240D1F-BAC3-410F-862B-AEB18ECD9954}"/>
              </a:ext>
            </a:extLst>
          </p:cNvPr>
          <p:cNvSpPr>
            <a:spLocks noGrp="1"/>
          </p:cNvSpPr>
          <p:nvPr/>
        </p:nvSpPr>
        <p:spPr>
          <a:xfrm>
            <a:off x="7067550" y="18478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878B5"/>
                </a:solidFill>
              </a:defRPr>
            </a:pPr>
            <a:r>
              <a:rPr sz="1200" b="1">
                <a:solidFill>
                  <a:srgbClr val="2878B5"/>
                </a:solidFill>
              </a:rPr>
              <a:t>Runtime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A579A47D-68A7-4197-BE09-DA1A3517A368}"/>
              </a:ext>
            </a:extLst>
          </p:cNvPr>
          <p:cNvSpPr>
            <a:spLocks noGrp="1"/>
          </p:cNvSpPr>
          <p:nvPr/>
        </p:nvSpPr>
        <p:spPr>
          <a:xfrm>
            <a:off x="8229600" y="182880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TypeScript + Fastify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64DB77AE-FAB6-4D4B-846D-492E8B50A725}"/>
              </a:ext>
            </a:extLst>
          </p:cNvPr>
          <p:cNvSpPr>
            <a:spLocks noGrp="1"/>
          </p:cNvSpPr>
          <p:nvPr/>
        </p:nvSpPr>
        <p:spPr>
          <a:xfrm>
            <a:off x="6858000" y="2590800"/>
            <a:ext cx="4429125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5878498D-AF19-4F61-85DF-2343FA40EE3E}"/>
              </a:ext>
            </a:extLst>
          </p:cNvPr>
          <p:cNvSpPr>
            <a:spLocks noGrp="1"/>
          </p:cNvSpPr>
          <p:nvPr/>
        </p:nvSpPr>
        <p:spPr>
          <a:xfrm>
            <a:off x="7067550" y="2743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878B5"/>
                </a:solidFill>
              </a:defRPr>
            </a:pPr>
            <a:r>
              <a:rPr sz="1200" b="1">
                <a:solidFill>
                  <a:srgbClr val="2878B5"/>
                </a:solidFill>
              </a:rPr>
              <a:t>Storage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1DA4B415-7067-478A-8AF3-CF5719562484}"/>
              </a:ext>
            </a:extLst>
          </p:cNvPr>
          <p:cNvSpPr>
            <a:spLocks noGrp="1"/>
          </p:cNvSpPr>
          <p:nvPr/>
        </p:nvSpPr>
        <p:spPr>
          <a:xfrm>
            <a:off x="8229600" y="272415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SQLite · WAL · Transaction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xmlns="" id="{13032478-1960-445F-A2CB-D77DD0A5284F}"/>
              </a:ext>
            </a:extLst>
          </p:cNvPr>
          <p:cNvSpPr>
            <a:spLocks noGrp="1"/>
          </p:cNvSpPr>
          <p:nvPr/>
        </p:nvSpPr>
        <p:spPr>
          <a:xfrm>
            <a:off x="6858000" y="3486150"/>
            <a:ext cx="4429125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2623923D-0631-4352-BD66-6AD23BB5CCA8}"/>
              </a:ext>
            </a:extLst>
          </p:cNvPr>
          <p:cNvSpPr>
            <a:spLocks noGrp="1"/>
          </p:cNvSpPr>
          <p:nvPr/>
        </p:nvSpPr>
        <p:spPr>
          <a:xfrm>
            <a:off x="7067550" y="36385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878B5"/>
                </a:solidFill>
              </a:defRPr>
            </a:pPr>
            <a:r>
              <a:rPr sz="1200" b="1">
                <a:solidFill>
                  <a:srgbClr val="2878B5"/>
                </a:solidFill>
              </a:rPr>
              <a:t>API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9D1F95C6-C979-4088-9CFF-60E7BBFD8382}"/>
              </a:ext>
            </a:extLst>
          </p:cNvPr>
          <p:cNvSpPr>
            <a:spLocks noGrp="1"/>
          </p:cNvSpPr>
          <p:nvPr/>
        </p:nvSpPr>
        <p:spPr>
          <a:xfrm>
            <a:off x="8229600" y="361950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Create · List · Read · Update · Delete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xmlns="" id="{ACEFA817-BCCC-4B54-B6F8-43F84203997B}"/>
              </a:ext>
            </a:extLst>
          </p:cNvPr>
          <p:cNvSpPr>
            <a:spLocks noGrp="1"/>
          </p:cNvSpPr>
          <p:nvPr/>
        </p:nvSpPr>
        <p:spPr>
          <a:xfrm>
            <a:off x="6858000" y="4381500"/>
            <a:ext cx="4429125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DDB7FD15-D265-4947-ACD7-AE66CC40696C}"/>
              </a:ext>
            </a:extLst>
          </p:cNvPr>
          <p:cNvSpPr>
            <a:spLocks noGrp="1"/>
          </p:cNvSpPr>
          <p:nvPr/>
        </p:nvSpPr>
        <p:spPr>
          <a:xfrm>
            <a:off x="7067550" y="45339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59B23"/>
                </a:solidFill>
              </a:defRPr>
            </a:pPr>
            <a:r>
              <a:rPr sz="1200" b="1">
                <a:solidFill>
                  <a:srgbClr val="F59B23"/>
                </a:solidFill>
              </a:rPr>
              <a:t>Errors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231BCE40-DF29-43A3-8E4F-8E167C7C77E9}"/>
              </a:ext>
            </a:extLst>
          </p:cNvPr>
          <p:cNvSpPr>
            <a:spLocks noGrp="1"/>
          </p:cNvSpPr>
          <p:nvPr/>
        </p:nvSpPr>
        <p:spPr>
          <a:xfrm>
            <a:off x="8229600" y="451485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Duplicate 409 · Missing 404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xmlns="" id="{598D6020-92E5-432B-ADAE-25795373A826}"/>
              </a:ext>
            </a:extLst>
          </p:cNvPr>
          <p:cNvSpPr>
            <a:spLocks noGrp="1"/>
          </p:cNvSpPr>
          <p:nvPr/>
        </p:nvSpPr>
        <p:spPr>
          <a:xfrm>
            <a:off x="6858000" y="5391150"/>
            <a:ext cx="4429125" cy="514350"/>
          </a:xfrm>
          <a:prstGeom prst="roundRect">
            <a:avLst>
              <a:gd name="adj" fmla="val 22222"/>
            </a:avLst>
          </a:prstGeom>
          <a:solidFill>
            <a:srgbClr val="E9F8F4"/>
          </a:solidFill>
          <a:ln w="9525">
            <a:solidFill>
              <a:srgbClr val="E9F8F4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6886FACD-F385-4B60-850B-2492224C1C6D}"/>
              </a:ext>
            </a:extLst>
          </p:cNvPr>
          <p:cNvSpPr>
            <a:spLocks noGrp="1"/>
          </p:cNvSpPr>
          <p:nvPr/>
        </p:nvSpPr>
        <p:spPr>
          <a:xfrm>
            <a:off x="7067550" y="54864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BB7A0"/>
                </a:solidFill>
              </a:defRPr>
            </a:pPr>
            <a:r>
              <a:rPr sz="1350" b="1">
                <a:solidFill>
                  <a:srgbClr val="3BB7A0"/>
                </a:solidFill>
              </a:rPr>
              <a:t>Setup · Foundational · US1 완료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2624CE2A-BA94-4396-9517-3D6CF67FF40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7939E"/>
                </a:solidFill>
              </a:defRPr>
            </a:pPr>
            <a:r>
              <a:rPr sz="825" b="0">
                <a:solidFill>
                  <a:srgbClr val="87939E"/>
                </a:solidFill>
              </a:rPr>
              <a:t>AI 엔지니어링 세미나 · 요구사항 → 설계 → 구현 → 검증</a:t>
            </a:r>
          </a:p>
        </p:txBody>
      </p:sp>
    </p:spTree>
    <p:extLst>
      <p:ext uri="{BB962C8B-B14F-4D97-AF65-F5344CB8AC3E}">
        <p14:creationId xmlns:p14="http://schemas.microsoft.com/office/powerpoint/2010/main" val="719865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90EADB5A-BA68-44EF-840E-FDB2816158C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878B5"/>
                </a:solidFill>
              </a:defRPr>
            </a:pPr>
            <a:r>
              <a:rPr sz="1050" b="1">
                <a:solidFill>
                  <a:srgbClr val="2878B5"/>
                </a:solidFill>
              </a:rPr>
              <a:t>IMPLEMENTATION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E694983B-8363-4ACE-8AB0-7E0187D2590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설계 산출물과 코드·테스트가 한 프로젝트에 연결됐다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32B10E90-73B4-40ED-A7D0-ACDD8B23BC7A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20DEA0CC-5318-4BB2-8572-67BF00CB6359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93A0AA"/>
                </a:solidFill>
              </a:defRPr>
            </a:pPr>
            <a:r>
              <a:rPr sz="975" b="1">
                <a:solidFill>
                  <a:srgbClr val="93A0AA"/>
                </a:solidFill>
              </a:rPr>
              <a:t>13</a:t>
            </a: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5905" y="1581150"/>
            <a:ext cx="1658265" cy="4476750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xmlns="" id="{B132AF72-A4F8-480C-B741-64DA76A3DB42}"/>
              </a:ext>
            </a:extLst>
          </p:cNvPr>
          <p:cNvSpPr>
            <a:spLocks noGrp="1"/>
          </p:cNvSpPr>
          <p:nvPr/>
        </p:nvSpPr>
        <p:spPr>
          <a:xfrm>
            <a:off x="4286250" y="1952625"/>
            <a:ext cx="2047875" cy="257175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8BBD8CEC-4FBD-463E-9097-BD6798DC1782}"/>
              </a:ext>
            </a:extLst>
          </p:cNvPr>
          <p:cNvSpPr>
            <a:spLocks noGrp="1"/>
          </p:cNvSpPr>
          <p:nvPr/>
        </p:nvSpPr>
        <p:spPr>
          <a:xfrm>
            <a:off x="4457700" y="2171700"/>
            <a:ext cx="1704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878B5"/>
                </a:solidFill>
              </a:defRPr>
            </a:pPr>
            <a:r>
              <a:rPr sz="1650" b="1">
                <a:solidFill>
                  <a:srgbClr val="2878B5"/>
                </a:solidFill>
              </a:rPr>
              <a:t>specs/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1F2A340A-5E0A-44AB-A949-170B5E3CF3C7}"/>
              </a:ext>
            </a:extLst>
          </p:cNvPr>
          <p:cNvSpPr>
            <a:spLocks noGrp="1"/>
          </p:cNvSpPr>
          <p:nvPr/>
        </p:nvSpPr>
        <p:spPr>
          <a:xfrm>
            <a:off x="4457700" y="2628900"/>
            <a:ext cx="1704975" cy="9525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61513E2-0652-4957-82D0-9C7BB8E473C8}"/>
              </a:ext>
            </a:extLst>
          </p:cNvPr>
          <p:cNvSpPr>
            <a:spLocks noGrp="1"/>
          </p:cNvSpPr>
          <p:nvPr/>
        </p:nvSpPr>
        <p:spPr>
          <a:xfrm>
            <a:off x="4457700" y="2857500"/>
            <a:ext cx="17049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spec.md · plan.md</a:t>
            </a:r>
          </a:p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data-model.md · openapi.yaml</a:t>
            </a:r>
          </a:p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tasks.md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xmlns="" id="{2830568A-829D-4C43-8D45-619F175CA1BD}"/>
              </a:ext>
            </a:extLst>
          </p:cNvPr>
          <p:cNvSpPr>
            <a:spLocks noGrp="1"/>
          </p:cNvSpPr>
          <p:nvPr/>
        </p:nvSpPr>
        <p:spPr>
          <a:xfrm>
            <a:off x="6619875" y="1952625"/>
            <a:ext cx="2047875" cy="257175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537E9DDF-3C40-458C-B224-619ED59E4731}"/>
              </a:ext>
            </a:extLst>
          </p:cNvPr>
          <p:cNvSpPr>
            <a:spLocks noGrp="1"/>
          </p:cNvSpPr>
          <p:nvPr/>
        </p:nvSpPr>
        <p:spPr>
          <a:xfrm>
            <a:off x="6791325" y="2171700"/>
            <a:ext cx="1704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3BB7A0"/>
                </a:solidFill>
              </a:defRPr>
            </a:pPr>
            <a:r>
              <a:rPr sz="1650" b="1">
                <a:solidFill>
                  <a:srgbClr val="3BB7A0"/>
                </a:solidFill>
              </a:rPr>
              <a:t>src/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C9F7625C-3A9F-4849-82E6-80580D069013}"/>
              </a:ext>
            </a:extLst>
          </p:cNvPr>
          <p:cNvSpPr>
            <a:spLocks noGrp="1"/>
          </p:cNvSpPr>
          <p:nvPr/>
        </p:nvSpPr>
        <p:spPr>
          <a:xfrm>
            <a:off x="6791325" y="2628900"/>
            <a:ext cx="1704975" cy="9525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B6904C1A-7487-44E8-9ED0-5D75DD7B7367}"/>
              </a:ext>
            </a:extLst>
          </p:cNvPr>
          <p:cNvSpPr>
            <a:spLocks noGrp="1"/>
          </p:cNvSpPr>
          <p:nvPr/>
        </p:nvSpPr>
        <p:spPr>
          <a:xfrm>
            <a:off x="6791325" y="2857500"/>
            <a:ext cx="17049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api · domain · storage</a:t>
            </a:r>
          </a:p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app.ts · server.ts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xmlns="" id="{24FBC2C6-1355-44F6-A7AE-97EDB1CF06AC}"/>
              </a:ext>
            </a:extLst>
          </p:cNvPr>
          <p:cNvSpPr>
            <a:spLocks noGrp="1"/>
          </p:cNvSpPr>
          <p:nvPr/>
        </p:nvSpPr>
        <p:spPr>
          <a:xfrm>
            <a:off x="8953500" y="1952625"/>
            <a:ext cx="2047875" cy="257175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A702E241-9826-4080-83A9-F97071B16E99}"/>
              </a:ext>
            </a:extLst>
          </p:cNvPr>
          <p:cNvSpPr>
            <a:spLocks noGrp="1"/>
          </p:cNvSpPr>
          <p:nvPr/>
        </p:nvSpPr>
        <p:spPr>
          <a:xfrm>
            <a:off x="9124950" y="2171700"/>
            <a:ext cx="1704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59B23"/>
                </a:solidFill>
              </a:defRPr>
            </a:pPr>
            <a:r>
              <a:rPr sz="1650" b="1">
                <a:solidFill>
                  <a:srgbClr val="F59B23"/>
                </a:solidFill>
              </a:rPr>
              <a:t>tests/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2E2F33EF-42DB-40ED-BF8A-E3F0B4FA6C16}"/>
              </a:ext>
            </a:extLst>
          </p:cNvPr>
          <p:cNvSpPr>
            <a:spLocks noGrp="1"/>
          </p:cNvSpPr>
          <p:nvPr/>
        </p:nvSpPr>
        <p:spPr>
          <a:xfrm>
            <a:off x="9124950" y="2628900"/>
            <a:ext cx="1704975" cy="9525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4081F29E-08A1-461B-9184-46C29CAFC009}"/>
              </a:ext>
            </a:extLst>
          </p:cNvPr>
          <p:cNvSpPr>
            <a:spLocks noGrp="1"/>
          </p:cNvSpPr>
          <p:nvPr/>
        </p:nvSpPr>
        <p:spPr>
          <a:xfrm>
            <a:off x="9124950" y="2857500"/>
            <a:ext cx="17049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contract · integration</a:t>
            </a:r>
          </a:p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setup · helpers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D6AC73C0-A610-4E62-A610-31715BB16A78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3000375" cy="19050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B60D6BE4-EC32-4DA9-9CB3-10A62F82ABE9}"/>
              </a:ext>
            </a:extLst>
          </p:cNvPr>
          <p:cNvSpPr>
            <a:spLocks noGrp="1"/>
          </p:cNvSpPr>
          <p:nvPr/>
        </p:nvSpPr>
        <p:spPr>
          <a:xfrm>
            <a:off x="4762500" y="49530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878B5"/>
                </a:solidFill>
              </a:defRPr>
            </a:pPr>
            <a:r>
              <a:rPr sz="1275" b="1">
                <a:solidFill>
                  <a:srgbClr val="2878B5"/>
                </a:solidFill>
              </a:rPr>
              <a:t>문서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37F45200-517D-4371-9E82-A583592FD7AA}"/>
              </a:ext>
            </a:extLst>
          </p:cNvPr>
          <p:cNvSpPr>
            <a:spLocks noGrp="1"/>
          </p:cNvSpPr>
          <p:nvPr/>
        </p:nvSpPr>
        <p:spPr>
          <a:xfrm>
            <a:off x="6477000" y="4953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E6B78"/>
                </a:solidFill>
              </a:defRPr>
            </a:pPr>
            <a:r>
              <a:rPr sz="1275" b="1">
                <a:solidFill>
                  <a:srgbClr val="5E6B78"/>
                </a:solidFill>
              </a:rPr>
              <a:t>→ 구현 →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8DBB2127-D9AB-43E8-89BE-53B4533311C5}"/>
              </a:ext>
            </a:extLst>
          </p:cNvPr>
          <p:cNvSpPr>
            <a:spLocks noGrp="1"/>
          </p:cNvSpPr>
          <p:nvPr/>
        </p:nvSpPr>
        <p:spPr>
          <a:xfrm>
            <a:off x="9048750" y="49530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59B23"/>
                </a:solidFill>
              </a:defRPr>
            </a:pPr>
            <a:r>
              <a:rPr sz="1275" b="1">
                <a:solidFill>
                  <a:srgbClr val="F59B23"/>
                </a:solidFill>
              </a:rPr>
              <a:t>검증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xmlns="" id="{64D85EBF-42F7-4622-8D92-AE06FCED8600}"/>
              </a:ext>
            </a:extLst>
          </p:cNvPr>
          <p:cNvSpPr>
            <a:spLocks noGrp="1"/>
          </p:cNvSpPr>
          <p:nvPr/>
        </p:nvSpPr>
        <p:spPr>
          <a:xfrm>
            <a:off x="4286250" y="5429250"/>
            <a:ext cx="6715125" cy="495300"/>
          </a:xfrm>
          <a:prstGeom prst="roundRect">
            <a:avLst>
              <a:gd name="adj" fmla="val 23077"/>
            </a:avLst>
          </a:prstGeom>
          <a:solidFill>
            <a:srgbClr val="EAF4FB"/>
          </a:solidFill>
          <a:ln w="9525">
            <a:solidFill>
              <a:srgbClr val="EAF4FB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FCB8D9AD-3BCE-44CA-A27B-A114E8848DE3}"/>
              </a:ext>
            </a:extLst>
          </p:cNvPr>
          <p:cNvSpPr>
            <a:spLocks noGrp="1"/>
          </p:cNvSpPr>
          <p:nvPr/>
        </p:nvSpPr>
        <p:spPr>
          <a:xfrm>
            <a:off x="4476750" y="5524500"/>
            <a:ext cx="633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878B5"/>
                </a:solidFill>
              </a:defRPr>
            </a:pPr>
            <a:r>
              <a:rPr sz="1350" b="1">
                <a:solidFill>
                  <a:srgbClr val="2878B5"/>
                </a:solidFill>
              </a:rPr>
              <a:t>프로젝트 구조 자체가 Toolchain 연결의 증거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F8AA0CA6-1C65-400D-A78C-73BAE601D53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7939E"/>
                </a:solidFill>
              </a:defRPr>
            </a:pPr>
            <a:r>
              <a:rPr sz="825" b="0">
                <a:solidFill>
                  <a:srgbClr val="87939E"/>
                </a:solidFill>
              </a:rPr>
              <a:t>AI 엔지니어링 세미나 · 요구사항 → 설계 → 구현 → 검증</a:t>
            </a:r>
          </a:p>
        </p:txBody>
      </p:sp>
    </p:spTree>
    <p:extLst>
      <p:ext uri="{BB962C8B-B14F-4D97-AF65-F5344CB8AC3E}">
        <p14:creationId xmlns:p14="http://schemas.microsoft.com/office/powerpoint/2010/main" val="1253181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B5E639E6-683D-4DB4-B233-0FD3EB84746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BB7A0"/>
                </a:solidFill>
              </a:defRPr>
            </a:pPr>
            <a:r>
              <a:rPr sz="1050" b="1">
                <a:solidFill>
                  <a:srgbClr val="3BB7A0"/>
                </a:solidFill>
              </a:rPr>
              <a:t>VERIFICATION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5711BA4E-9AF1-4BA8-B8D4-0DB3246327D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3개 테스트 파일 · 7개 테스트가 모두 통과했다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F1838A89-523E-40BF-BEE5-DDBC25555FAA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355064"/>
          </a:solidFill>
          <a:ln w="0">
            <a:solidFill>
              <a:srgbClr val="355064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9B84CC0-A4DD-4E71-BB01-B25E3200FC7E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7891A4"/>
                </a:solidFill>
              </a:defRPr>
            </a:pPr>
            <a:r>
              <a:rPr sz="975" b="1">
                <a:solidFill>
                  <a:srgbClr val="7891A4"/>
                </a:solidFill>
              </a:rPr>
              <a:t>14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20194" y="1714500"/>
            <a:ext cx="7951611" cy="3733800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xmlns="" id="{3D8CC99B-3645-49AE-86DC-EF507E95036E}"/>
              </a:ext>
            </a:extLst>
          </p:cNvPr>
          <p:cNvSpPr>
            <a:spLocks noGrp="1"/>
          </p:cNvSpPr>
          <p:nvPr/>
        </p:nvSpPr>
        <p:spPr>
          <a:xfrm>
            <a:off x="1428750" y="5657850"/>
            <a:ext cx="1714500" cy="361950"/>
          </a:xfrm>
          <a:prstGeom prst="roundRect">
            <a:avLst>
              <a:gd name="adj" fmla="val 31579"/>
            </a:avLst>
          </a:prstGeom>
          <a:solidFill>
            <a:srgbClr val="17293A"/>
          </a:solidFill>
          <a:ln w="9525">
            <a:solidFill>
              <a:srgbClr val="17293A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F338392D-8595-4DC0-80A1-4D0AA94361D4}"/>
              </a:ext>
            </a:extLst>
          </p:cNvPr>
          <p:cNvSpPr>
            <a:spLocks noGrp="1"/>
          </p:cNvSpPr>
          <p:nvPr/>
        </p:nvSpPr>
        <p:spPr>
          <a:xfrm>
            <a:off x="1504950" y="5686425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3BB7A0"/>
                </a:solidFill>
              </a:defRPr>
            </a:pPr>
            <a:r>
              <a:rPr sz="1125" b="1">
                <a:solidFill>
                  <a:srgbClr val="3BB7A0"/>
                </a:solidFill>
              </a:rPr>
              <a:t>Contract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xmlns="" id="{10A2D868-4165-47F9-B36E-B8E30D62DA07}"/>
              </a:ext>
            </a:extLst>
          </p:cNvPr>
          <p:cNvSpPr>
            <a:spLocks noGrp="1"/>
          </p:cNvSpPr>
          <p:nvPr/>
        </p:nvSpPr>
        <p:spPr>
          <a:xfrm>
            <a:off x="3333750" y="5657850"/>
            <a:ext cx="1714500" cy="361950"/>
          </a:xfrm>
          <a:prstGeom prst="roundRect">
            <a:avLst>
              <a:gd name="adj" fmla="val 31579"/>
            </a:avLst>
          </a:prstGeom>
          <a:solidFill>
            <a:srgbClr val="17293A"/>
          </a:solidFill>
          <a:ln w="9525">
            <a:solidFill>
              <a:srgbClr val="17293A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F32681F1-EB6C-48B7-91E2-B7C391C866F3}"/>
              </a:ext>
            </a:extLst>
          </p:cNvPr>
          <p:cNvSpPr>
            <a:spLocks noGrp="1"/>
          </p:cNvSpPr>
          <p:nvPr/>
        </p:nvSpPr>
        <p:spPr>
          <a:xfrm>
            <a:off x="3409950" y="5686425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3BB7A0"/>
                </a:solidFill>
              </a:defRPr>
            </a:pPr>
            <a:r>
              <a:rPr sz="1125" b="1">
                <a:solidFill>
                  <a:srgbClr val="3BB7A0"/>
                </a:solidFill>
              </a:rPr>
              <a:t>Lifecycle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xmlns="" id="{DB127D20-8C60-4008-9443-4E84614EF410}"/>
              </a:ext>
            </a:extLst>
          </p:cNvPr>
          <p:cNvSpPr>
            <a:spLocks noGrp="1"/>
          </p:cNvSpPr>
          <p:nvPr/>
        </p:nvSpPr>
        <p:spPr>
          <a:xfrm>
            <a:off x="5238750" y="5657850"/>
            <a:ext cx="2190750" cy="361950"/>
          </a:xfrm>
          <a:prstGeom prst="roundRect">
            <a:avLst>
              <a:gd name="adj" fmla="val 31579"/>
            </a:avLst>
          </a:prstGeom>
          <a:solidFill>
            <a:srgbClr val="17293A"/>
          </a:solidFill>
          <a:ln w="9525">
            <a:solidFill>
              <a:srgbClr val="17293A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9788E45D-7F6F-4AC3-A1CE-BC7738F9A435}"/>
              </a:ext>
            </a:extLst>
          </p:cNvPr>
          <p:cNvSpPr>
            <a:spLocks noGrp="1"/>
          </p:cNvSpPr>
          <p:nvPr/>
        </p:nvSpPr>
        <p:spPr>
          <a:xfrm>
            <a:off x="5314950" y="568642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8FD12D"/>
                </a:solidFill>
              </a:defRPr>
            </a:pPr>
            <a:r>
              <a:rPr sz="1125" b="1">
                <a:solidFill>
                  <a:srgbClr val="8FD12D"/>
                </a:solidFill>
              </a:rPr>
              <a:t>Restart persistence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xmlns="" id="{493546A3-8911-4472-8F1C-D747E25ECAB7}"/>
              </a:ext>
            </a:extLst>
          </p:cNvPr>
          <p:cNvSpPr>
            <a:spLocks noGrp="1"/>
          </p:cNvSpPr>
          <p:nvPr/>
        </p:nvSpPr>
        <p:spPr>
          <a:xfrm>
            <a:off x="8572500" y="5657850"/>
            <a:ext cx="2095500" cy="361950"/>
          </a:xfrm>
          <a:prstGeom prst="roundRect">
            <a:avLst>
              <a:gd name="adj" fmla="val 31579"/>
            </a:avLst>
          </a:prstGeom>
          <a:solidFill>
            <a:srgbClr val="19394A"/>
          </a:solidFill>
          <a:ln w="9525">
            <a:solidFill>
              <a:srgbClr val="19394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BF15E63-7447-45B9-B6DF-086ACBDC144A}"/>
              </a:ext>
            </a:extLst>
          </p:cNvPr>
          <p:cNvSpPr>
            <a:spLocks noGrp="1"/>
          </p:cNvSpPr>
          <p:nvPr/>
        </p:nvSpPr>
        <p:spPr>
          <a:xfrm>
            <a:off x="8648700" y="568642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8FD12D"/>
                </a:solidFill>
              </a:defRPr>
            </a:pPr>
            <a:r>
              <a:rPr sz="1125" b="1">
                <a:solidFill>
                  <a:srgbClr val="8FD12D"/>
                </a:solidFill>
              </a:rPr>
              <a:t>7 / 7 PASS</a:t>
            </a:r>
          </a:p>
        </p:txBody>
      </p:sp>
    </p:spTree>
    <p:extLst>
      <p:ext uri="{BB962C8B-B14F-4D97-AF65-F5344CB8AC3E}">
        <p14:creationId xmlns:p14="http://schemas.microsoft.com/office/powerpoint/2010/main" val="1804295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6D25D2B8-37AE-4A71-A94E-1815F0A7E8B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878B5"/>
                </a:solidFill>
              </a:defRPr>
            </a:pPr>
            <a:r>
              <a:rPr sz="1050" b="1">
                <a:solidFill>
                  <a:srgbClr val="2878B5"/>
                </a:solidFill>
              </a:rPr>
              <a:t>SCOPE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57C8C16E-38E2-49C9-A048-63B3E27491C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완료한 MVP와 후속 작업의 경계를 명확히 남겼다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A7B27A5E-4C78-44FE-8B4D-9B1A8426CAC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19050"/>
          </a:xfrm>
          <a:prstGeom prst="rect">
            <a:avLst/>
          </a:prstGeom>
          <a:solidFill>
            <a:srgbClr val="D8E1E8"/>
          </a:solidFill>
          <a:ln w="0">
            <a:solidFill>
              <a:srgbClr val="D8E1E8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2984471E-A5D6-4761-A736-E0898B7E38CA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93A0AA"/>
                </a:solidFill>
              </a:defRPr>
            </a:pPr>
            <a:r>
              <a:rPr sz="975" b="1">
                <a:solidFill>
                  <a:srgbClr val="93A0AA"/>
                </a:solidFill>
              </a:rPr>
              <a:t>15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xmlns="" id="{D4F7D8D9-F88E-4F68-A21E-05F2AA11C81F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095875" cy="3429000"/>
          </a:xfrm>
          <a:prstGeom prst="roundRect">
            <a:avLst>
              <a:gd name="adj" fmla="val 3333"/>
            </a:avLst>
          </a:prstGeom>
          <a:solidFill>
            <a:srgbClr val="EAF7F3"/>
          </a:solidFill>
          <a:ln w="9525">
            <a:solidFill>
              <a:srgbClr val="B7E3D7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CBAC6F85-A7A7-4D90-8F4D-8EEC3AF651DF}"/>
              </a:ext>
            </a:extLst>
          </p:cNvPr>
          <p:cNvSpPr>
            <a:spLocks noGrp="1"/>
          </p:cNvSpPr>
          <p:nvPr/>
        </p:nvSpPr>
        <p:spPr>
          <a:xfrm>
            <a:off x="895350" y="19812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BB7A0"/>
                </a:solidFill>
              </a:defRPr>
            </a:pPr>
            <a:r>
              <a:rPr sz="1875" b="1">
                <a:solidFill>
                  <a:srgbClr val="3BB7A0"/>
                </a:solidFill>
              </a:rPr>
              <a:t>완료 · T001–T021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F4C41555-151E-44FB-9DB4-ACF598C7225B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4476750" cy="9525"/>
          </a:xfrm>
          <a:prstGeom prst="rect">
            <a:avLst/>
          </a:prstGeom>
          <a:solidFill>
            <a:srgbClr val="B7E3D7"/>
          </a:solidFill>
          <a:ln w="0">
            <a:solidFill>
              <a:srgbClr val="B7E3D7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57FBFD40-D6C9-4A68-AF31-1DFF13C57772}"/>
              </a:ext>
            </a:extLst>
          </p:cNvPr>
          <p:cNvSpPr>
            <a:spLocks noGrp="1"/>
          </p:cNvSpPr>
          <p:nvPr/>
        </p:nvSpPr>
        <p:spPr>
          <a:xfrm>
            <a:off x="895350" y="2724150"/>
            <a:ext cx="4333875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Setup · Foundational</a:t>
            </a:r>
          </a:p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US1 Camera CRUD</a:t>
            </a:r>
          </a:p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SQLite persistence</a:t>
            </a:r>
          </a:p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409 / 404 오류 처리</a:t>
            </a:r>
          </a:p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Contract · Lifecycle · Integration tests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113372CF-AEC7-4AE2-95E1-DD47A8EF954B}"/>
              </a:ext>
            </a:extLst>
          </p:cNvPr>
          <p:cNvSpPr>
            <a:spLocks noGrp="1"/>
          </p:cNvSpPr>
          <p:nvPr/>
        </p:nvSpPr>
        <p:spPr>
          <a:xfrm>
            <a:off x="6048375" y="1733550"/>
            <a:ext cx="5286375" cy="3429000"/>
          </a:xfrm>
          <a:prstGeom prst="roundRect">
            <a:avLst>
              <a:gd name="adj" fmla="val 3333"/>
            </a:avLst>
          </a:prstGeom>
          <a:solidFill>
            <a:srgbClr val="FFF5E8"/>
          </a:solidFill>
          <a:ln w="9525">
            <a:solidFill>
              <a:srgbClr val="F0D0A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C52D3E52-554A-42E2-BE7E-7C2E714F2654}"/>
              </a:ext>
            </a:extLst>
          </p:cNvPr>
          <p:cNvSpPr>
            <a:spLocks noGrp="1"/>
          </p:cNvSpPr>
          <p:nvPr/>
        </p:nvSpPr>
        <p:spPr>
          <a:xfrm>
            <a:off x="6334125" y="198120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59B23"/>
                </a:solidFill>
              </a:defRPr>
            </a:pPr>
            <a:r>
              <a:rPr sz="1875" b="1">
                <a:solidFill>
                  <a:srgbClr val="F59B23"/>
                </a:solidFill>
              </a:rPr>
              <a:t>후속 · T022–T043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FB362333-9C7C-4939-B51F-D7617CBEAB0A}"/>
              </a:ext>
            </a:extLst>
          </p:cNvPr>
          <p:cNvSpPr>
            <a:spLocks noGrp="1"/>
          </p:cNvSpPr>
          <p:nvPr/>
        </p:nvSpPr>
        <p:spPr>
          <a:xfrm>
            <a:off x="6334125" y="2457450"/>
            <a:ext cx="4667250" cy="9525"/>
          </a:xfrm>
          <a:prstGeom prst="rect">
            <a:avLst/>
          </a:prstGeom>
          <a:solidFill>
            <a:srgbClr val="F0D0A1"/>
          </a:solidFill>
          <a:ln w="0">
            <a:solidFill>
              <a:srgbClr val="F0D0A1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86DFDF4C-9FA9-43EF-82D4-7501A56AFA5E}"/>
              </a:ext>
            </a:extLst>
          </p:cNvPr>
          <p:cNvSpPr>
            <a:spLocks noGrp="1"/>
          </p:cNvSpPr>
          <p:nvPr/>
        </p:nvSpPr>
        <p:spPr>
          <a:xfrm>
            <a:off x="6334125" y="2724150"/>
            <a:ext cx="4524375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US2 Ping / TCP 진단</a:t>
            </a:r>
          </a:p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US3 입력·예외 검증 강화</a:t>
            </a:r>
          </a:p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Quickstart 전체 실행</a:t>
            </a:r>
          </a:p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OpenAPI conformance</a:t>
            </a:r>
          </a:p>
          <a:p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Polish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xmlns="" id="{5D9A957E-640E-48E3-8D81-D1F669E6D17A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725150" cy="590550"/>
          </a:xfrm>
          <a:prstGeom prst="roundRect">
            <a:avLst>
              <a:gd name="adj" fmla="val 19355"/>
            </a:avLst>
          </a:prstGeom>
          <a:solidFill>
            <a:srgbClr val="111D29"/>
          </a:solidFill>
          <a:ln w="9525">
            <a:solidFill>
              <a:srgbClr val="111D29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E4BC0995-3E8B-4D8E-A3EB-C42D18EFF25D}"/>
              </a:ext>
            </a:extLst>
          </p:cNvPr>
          <p:cNvSpPr>
            <a:spLocks noGrp="1"/>
          </p:cNvSpPr>
          <p:nvPr/>
        </p:nvSpPr>
        <p:spPr>
          <a:xfrm>
            <a:off x="819150" y="5591175"/>
            <a:ext cx="10306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이번 실습의 목적은 전체 기능 완성이 아니라 Toolchain의 실제 연결과 검증이었다.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B5C0FFF5-E894-497F-8A51-B2C1A678349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7939E"/>
                </a:solidFill>
              </a:defRPr>
            </a:pPr>
            <a:r>
              <a:rPr sz="825" b="0">
                <a:solidFill>
                  <a:srgbClr val="87939E"/>
                </a:solidFill>
              </a:rPr>
              <a:t>AI 엔지니어링 세미나 · 요구사항 → 설계 → 구현 → 검증</a:t>
            </a:r>
          </a:p>
        </p:txBody>
      </p:sp>
    </p:spTree>
    <p:extLst>
      <p:ext uri="{BB962C8B-B14F-4D97-AF65-F5344CB8AC3E}">
        <p14:creationId xmlns:p14="http://schemas.microsoft.com/office/powerpoint/2010/main" val="933409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89D0FCCC-E720-42F2-B0FC-30768266FAF3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8FD12D"/>
                </a:solidFill>
              </a:defRPr>
            </a:pPr>
            <a:r>
              <a:rPr sz="1050" b="1">
                <a:solidFill>
                  <a:srgbClr val="8FD12D"/>
                </a:solidFill>
              </a:rPr>
              <a:t>CONCLUSION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4D258933-28F8-4A75-B0DB-C80BC9C46CBB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6762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도구를 연결하면</a:t>
            </a:r>
          </a:p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대화가 증거가 된다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xmlns="" id="{7243CD3C-2A0A-4AC1-946A-86D2FC2C6A08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BA7BC74C-C688-4C7D-9EA2-865B1DB66041}"/>
              </a:ext>
            </a:extLst>
          </p:cNvPr>
          <p:cNvSpPr>
            <a:spLocks noGrp="1"/>
          </p:cNvSpPr>
          <p:nvPr/>
        </p:nvSpPr>
        <p:spPr>
          <a:xfrm>
            <a:off x="828675" y="32956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3BB7A0"/>
                </a:solidFill>
              </a:defRPr>
            </a:pPr>
            <a:r>
              <a:rPr sz="1575" b="1">
                <a:solidFill>
                  <a:srgbClr val="3BB7A0"/>
                </a:solidFill>
              </a:rPr>
              <a:t>ChatPRD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1DC7FA5F-8CA9-4742-B22B-74F89A485BD3}"/>
              </a:ext>
            </a:extLst>
          </p:cNvPr>
          <p:cNvSpPr>
            <a:spLocks noGrp="1"/>
          </p:cNvSpPr>
          <p:nvPr/>
        </p:nvSpPr>
        <p:spPr>
          <a:xfrm>
            <a:off x="828675" y="3714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요구사항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9F561CD-B0A3-4E80-82A2-BD0A4AE7336A}"/>
              </a:ext>
            </a:extLst>
          </p:cNvPr>
          <p:cNvSpPr>
            <a:spLocks noGrp="1"/>
          </p:cNvSpPr>
          <p:nvPr/>
        </p:nvSpPr>
        <p:spPr>
          <a:xfrm>
            <a:off x="3009900" y="347662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6D8798"/>
                </a:solidFill>
              </a:defRPr>
            </a:pPr>
            <a:r>
              <a:rPr sz="1800" b="1">
                <a:solidFill>
                  <a:srgbClr val="6D8798"/>
                </a:solidFill>
              </a:rPr>
              <a:t>→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xmlns="" id="{CDFE6183-FFE7-432D-A781-51DE30D6EBFD}"/>
              </a:ext>
            </a:extLst>
          </p:cNvPr>
          <p:cNvSpPr>
            <a:spLocks noGrp="1"/>
          </p:cNvSpPr>
          <p:nvPr/>
        </p:nvSpPr>
        <p:spPr>
          <a:xfrm>
            <a:off x="3429000" y="310515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33E38F1F-AA4A-4A76-967A-70CC6CCA87B0}"/>
              </a:ext>
            </a:extLst>
          </p:cNvPr>
          <p:cNvSpPr>
            <a:spLocks noGrp="1"/>
          </p:cNvSpPr>
          <p:nvPr/>
        </p:nvSpPr>
        <p:spPr>
          <a:xfrm>
            <a:off x="3571875" y="32956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3BB7A0"/>
                </a:solidFill>
              </a:defRPr>
            </a:pPr>
            <a:r>
              <a:rPr sz="1575" b="1">
                <a:solidFill>
                  <a:srgbClr val="3BB7A0"/>
                </a:solidFill>
              </a:rPr>
              <a:t>Spec Kit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60CD9EF-986D-4BB3-A82C-07DCAB71266C}"/>
              </a:ext>
            </a:extLst>
          </p:cNvPr>
          <p:cNvSpPr>
            <a:spLocks noGrp="1"/>
          </p:cNvSpPr>
          <p:nvPr/>
        </p:nvSpPr>
        <p:spPr>
          <a:xfrm>
            <a:off x="3571875" y="3714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설계·Task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84FC6484-EA24-4A26-B6C6-6219DF8F08F2}"/>
              </a:ext>
            </a:extLst>
          </p:cNvPr>
          <p:cNvSpPr>
            <a:spLocks noGrp="1"/>
          </p:cNvSpPr>
          <p:nvPr/>
        </p:nvSpPr>
        <p:spPr>
          <a:xfrm>
            <a:off x="5753100" y="347662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6D8798"/>
                </a:solidFill>
              </a:defRPr>
            </a:pPr>
            <a:r>
              <a:rPr sz="1800" b="1">
                <a:solidFill>
                  <a:srgbClr val="6D8798"/>
                </a:solidFill>
              </a:rPr>
              <a:t>→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xmlns="" id="{C7D2D49A-5CB2-49CE-AB93-CEC76DF87D3D}"/>
              </a:ext>
            </a:extLst>
          </p:cNvPr>
          <p:cNvSpPr>
            <a:spLocks noGrp="1"/>
          </p:cNvSpPr>
          <p:nvPr/>
        </p:nvSpPr>
        <p:spPr>
          <a:xfrm>
            <a:off x="6172200" y="310515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17293A"/>
          </a:solidFill>
          <a:ln w="9525">
            <a:solidFill>
              <a:srgbClr val="355064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3075F9D4-B6CD-4CD7-82CC-B8223C3E9DCF}"/>
              </a:ext>
            </a:extLst>
          </p:cNvPr>
          <p:cNvSpPr>
            <a:spLocks noGrp="1"/>
          </p:cNvSpPr>
          <p:nvPr/>
        </p:nvSpPr>
        <p:spPr>
          <a:xfrm>
            <a:off x="6315075" y="32956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3BB7A0"/>
                </a:solidFill>
              </a:defRPr>
            </a:pPr>
            <a:r>
              <a:rPr sz="1575" b="1">
                <a:solidFill>
                  <a:srgbClr val="3BB7A0"/>
                </a:solidFill>
              </a:rPr>
              <a:t>Codex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4E792EE7-9FEC-41DD-9158-4AEA87DF8749}"/>
              </a:ext>
            </a:extLst>
          </p:cNvPr>
          <p:cNvSpPr>
            <a:spLocks noGrp="1"/>
          </p:cNvSpPr>
          <p:nvPr/>
        </p:nvSpPr>
        <p:spPr>
          <a:xfrm>
            <a:off x="6315075" y="3714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구현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18C72F43-DBC4-432C-8D3B-8EDCACAD87F1}"/>
              </a:ext>
            </a:extLst>
          </p:cNvPr>
          <p:cNvSpPr>
            <a:spLocks noGrp="1"/>
          </p:cNvSpPr>
          <p:nvPr/>
        </p:nvSpPr>
        <p:spPr>
          <a:xfrm>
            <a:off x="8496300" y="347662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6D8798"/>
                </a:solidFill>
              </a:defRPr>
            </a:pPr>
            <a:r>
              <a:rPr sz="1800" b="1">
                <a:solidFill>
                  <a:srgbClr val="6D8798"/>
                </a:solidFill>
              </a:rPr>
              <a:t>→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xmlns="" id="{39D631D5-969C-4397-BFF7-CA8BD956643E}"/>
              </a:ext>
            </a:extLst>
          </p:cNvPr>
          <p:cNvSpPr>
            <a:spLocks noGrp="1"/>
          </p:cNvSpPr>
          <p:nvPr/>
        </p:nvSpPr>
        <p:spPr>
          <a:xfrm>
            <a:off x="8915400" y="310515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17293A"/>
          </a:solidFill>
          <a:ln w="9525">
            <a:solidFill>
              <a:srgbClr val="8FD12D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1102ED4B-FA47-433E-99BA-28FDB8161650}"/>
              </a:ext>
            </a:extLst>
          </p:cNvPr>
          <p:cNvSpPr>
            <a:spLocks noGrp="1"/>
          </p:cNvSpPr>
          <p:nvPr/>
        </p:nvSpPr>
        <p:spPr>
          <a:xfrm>
            <a:off x="9058275" y="32956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8FD12D"/>
                </a:solidFill>
              </a:defRPr>
            </a:pPr>
            <a:r>
              <a:rPr sz="1575" b="1">
                <a:solidFill>
                  <a:srgbClr val="8FD12D"/>
                </a:solidFill>
              </a:rPr>
              <a:t>Tests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644AFCC9-57A9-4F1E-826C-EA930A406AE2}"/>
              </a:ext>
            </a:extLst>
          </p:cNvPr>
          <p:cNvSpPr>
            <a:spLocks noGrp="1"/>
          </p:cNvSpPr>
          <p:nvPr/>
        </p:nvSpPr>
        <p:spPr>
          <a:xfrm>
            <a:off x="9058275" y="3714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검증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xmlns="" id="{B1FD9D6E-1966-4685-8720-08F69C39D7B2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10515600" cy="781050"/>
          </a:xfrm>
          <a:prstGeom prst="roundRect">
            <a:avLst>
              <a:gd name="adj" fmla="val 14634"/>
            </a:avLst>
          </a:prstGeom>
          <a:solidFill>
            <a:srgbClr val="19394A"/>
          </a:solidFill>
          <a:ln w="9525">
            <a:solidFill>
              <a:srgbClr val="3BB7A0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5E5D1321-140F-411B-A86E-C4B80DCF8C59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10058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요구사항 → 설계 산출물 → T001–T021 구현 → 7/7 PASS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2377E058-A833-4BE8-ABBD-B4EDE0721A80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51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BFD0DB"/>
                </a:solidFill>
              </a:defRPr>
            </a:pPr>
            <a:r>
              <a:rPr sz="1350" b="0">
                <a:solidFill>
                  <a:srgbClr val="BFD0DB"/>
                </a:solidFill>
              </a:rPr>
              <a:t>다음 단계: T022–T043으로 Ping/TCP 진단과 검증 범위를 확장</a:t>
            </a:r>
          </a:p>
        </p:txBody>
      </p:sp>
    </p:spTree>
    <p:extLst>
      <p:ext uri="{BB962C8B-B14F-4D97-AF65-F5344CB8AC3E}">
        <p14:creationId xmlns:p14="http://schemas.microsoft.com/office/powerpoint/2010/main" val="2941815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1244</Words>
  <Application>Microsoft Office PowerPoint</Application>
  <DocSecurity>0</DocSecurity>
  <PresentationFormat>와이드스크린</PresentationFormat>
  <Paragraphs>293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8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계정</cp:lastModifiedBy>
  <cp:revision>1</cp:revision>
  <dcterms:created xsi:type="dcterms:W3CDTF">2026-09-01T01:03:06Z</dcterms:created>
  <dcterms:modified xsi:type="dcterms:W3CDTF">2026-09-01T23:37:17Z</dcterms:modified>
</cp:coreProperties>
</file>