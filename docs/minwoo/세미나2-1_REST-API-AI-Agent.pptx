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svg"/><Relationship Id="rId20" Type="http://schemas.openxmlformats.org/officeDocument/2006/relationships/image" Target="../media/image-8-20.png"/><Relationship Id="rId21" Type="http://schemas.openxmlformats.org/officeDocument/2006/relationships/image" Target="../media/image-8-21.sv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7755"/>
            <a:ext cx="1081953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24409"/>
            <a:ext cx="14647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IT/ICT 세미나</a:t>
            </a:r>
            <a:endParaRPr lang="ko-KR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3049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 기반 웹 프레임워크 개발과</a:t>
            </a:r>
            <a:endParaRPr lang="ko-KR" sz="37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 기반 창업 자동화</a:t>
            </a:r>
            <a:endParaRPr lang="ko-KR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9526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웹 서비스는 어떻게 만들고, AI Agent를 이용하면 어떤 업무까지 자동화할 수 있는가?</a:t>
            </a:r>
            <a:endParaRPr lang="ko-KR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10309"/>
            <a:ext cx="10868745" cy="29798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71672" y="4187079"/>
            <a:ext cx="1642425" cy="294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웹 프레임워크</a:t>
            </a:r>
            <a:endParaRPr lang="ko-KR" sz="1850" dirty="0"/>
          </a:p>
        </p:txBody>
      </p:sp>
      <p:sp>
        <p:nvSpPr>
          <p:cNvPr id="8" name="Text 5"/>
          <p:cNvSpPr/>
          <p:nvPr/>
        </p:nvSpPr>
        <p:spPr>
          <a:xfrm>
            <a:off x="1971672" y="4564815"/>
            <a:ext cx="164242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450" spc="-4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기반 서비스 토대 구축</a:t>
            </a:r>
            <a:endParaRPr lang="ko-KR" sz="1450" dirty="0"/>
          </a:p>
        </p:txBody>
      </p:sp>
      <p:sp>
        <p:nvSpPr>
          <p:cNvPr id="9" name="Text 6"/>
          <p:cNvSpPr/>
          <p:nvPr/>
        </p:nvSpPr>
        <p:spPr>
          <a:xfrm>
            <a:off x="4188366" y="4269423"/>
            <a:ext cx="1642425" cy="294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 설계</a:t>
            </a:r>
            <a:endParaRPr lang="ko-KR" sz="1850" dirty="0"/>
          </a:p>
        </p:txBody>
      </p:sp>
      <p:sp>
        <p:nvSpPr>
          <p:cNvPr id="10" name="Text 7"/>
          <p:cNvSpPr/>
          <p:nvPr/>
        </p:nvSpPr>
        <p:spPr>
          <a:xfrm>
            <a:off x="4188366" y="4647159"/>
            <a:ext cx="164242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450" spc="-4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자원 모델과 엔드포인트 정의</a:t>
            </a:r>
            <a:endParaRPr lang="ko-KR" sz="1450" dirty="0"/>
          </a:p>
        </p:txBody>
      </p:sp>
      <p:sp>
        <p:nvSpPr>
          <p:cNvPr id="11" name="Text 8"/>
          <p:cNvSpPr/>
          <p:nvPr/>
        </p:nvSpPr>
        <p:spPr>
          <a:xfrm>
            <a:off x="6446884" y="4187079"/>
            <a:ext cx="1642425" cy="294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카메라 관리 API</a:t>
            </a:r>
            <a:endParaRPr lang="ko-KR" sz="1850" dirty="0"/>
          </a:p>
        </p:txBody>
      </p:sp>
      <p:sp>
        <p:nvSpPr>
          <p:cNvPr id="12" name="Text 9"/>
          <p:cNvSpPr/>
          <p:nvPr/>
        </p:nvSpPr>
        <p:spPr>
          <a:xfrm>
            <a:off x="6446884" y="4564815"/>
            <a:ext cx="164242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450" spc="-4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장치 제어 및 스트림 처리 구현</a:t>
            </a:r>
            <a:endParaRPr lang="ko-KR" sz="1450" dirty="0"/>
          </a:p>
        </p:txBody>
      </p:sp>
      <p:sp>
        <p:nvSpPr>
          <p:cNvPr id="13" name="Text 10"/>
          <p:cNvSpPr/>
          <p:nvPr/>
        </p:nvSpPr>
        <p:spPr>
          <a:xfrm>
            <a:off x="8684489" y="3975338"/>
            <a:ext cx="1642425" cy="58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 창업 자동화</a:t>
            </a:r>
            <a:endParaRPr lang="ko-KR" sz="1850" dirty="0"/>
          </a:p>
        </p:txBody>
      </p:sp>
      <p:sp>
        <p:nvSpPr>
          <p:cNvPr id="14" name="Text 11"/>
          <p:cNvSpPr/>
          <p:nvPr/>
        </p:nvSpPr>
        <p:spPr>
          <a:xfrm>
            <a:off x="8684489" y="4647159"/>
            <a:ext cx="164242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450" spc="-4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자동화와 서비스 운영</a:t>
            </a:r>
            <a:endParaRPr lang="ko-KR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7301"/>
            <a:ext cx="197321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843955"/>
            <a:ext cx="23559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150" spc="-30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 · 웹 프레임워크</a:t>
            </a:r>
            <a:endParaRPr lang="ko-KR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500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웹 프레임워크와 Flask / FastAPI</a:t>
            </a:r>
            <a:endParaRPr lang="ko-KR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9422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웹 프레임워크는 HTTP 요청·응답 처리, URL 라우팅, 데이터 처리 구조를 체계적으로 제공합니다. 언어별 대표 프레임워크는 다음과 같습니다.</a:t>
            </a:r>
            <a:endParaRPr lang="ko-KR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14105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3509466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993753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57875" y="3314105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3232" y="3509466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553232" y="3993753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· FastAPI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680545"/>
            <a:ext cx="5203794" cy="1177429"/>
          </a:xfrm>
          <a:prstGeom prst="roundRect">
            <a:avLst>
              <a:gd name="adj" fmla="val 6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875907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5360194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</a:t>
            </a:r>
            <a:endParaRPr lang="en-US" sz="14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2776" y="2236788"/>
            <a:ext cx="2507394" cy="24252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48780" y="2451199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Flask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648780" y="2935486"/>
            <a:ext cx="197698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단순하고 유연한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경량 웹 프레임워크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빠른 프로토타이핑과 소규모 서비스에 적합.</a:t>
            </a:r>
            <a:endParaRPr lang="ko-KR" sz="14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236788"/>
            <a:ext cx="2507394" cy="24252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345180" y="2451199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endParaRPr lang="en-US" sz="1850" dirty="0"/>
          </a:p>
        </p:txBody>
      </p:sp>
      <p:sp>
        <p:nvSpPr>
          <p:cNvPr id="20" name="Text 16"/>
          <p:cNvSpPr/>
          <p:nvPr/>
        </p:nvSpPr>
        <p:spPr>
          <a:xfrm>
            <a:off x="9345180" y="2935486"/>
            <a:ext cx="197698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타입 힌트 + Pydantic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기반 자동 검증, OpenAPI/Swagger 문서 자동 생성. API 개발에 최적화.</a:t>
            </a:r>
            <a:endParaRPr lang="ko-KR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8990"/>
            <a:ext cx="1495090" cy="243979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814" y="697111"/>
            <a:ext cx="191199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 · REST API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4753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150" b="1" spc="-9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 개념과 설계 원칙</a:t>
            </a:r>
            <a:endParaRPr lang="ko-KR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54373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REST는 HTTP 프로토콜을 기반으로 시스템 간 데이터를 교환하는 인터페이스 설계 방식입니다. 서버와 클라이언트를 분리하고 JSON 형식으로 데이터를 주고받습니다.</a:t>
            </a:r>
            <a:endParaRPr lang="ko-KR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99283"/>
            <a:ext cx="803255" cy="9640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1251" y="2359918"/>
            <a:ext cx="429864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· 조회</a:t>
            </a:r>
            <a:endParaRPr lang="ko-KR" sz="1550" dirty="0"/>
          </a:p>
        </p:txBody>
      </p:sp>
      <p:sp>
        <p:nvSpPr>
          <p:cNvPr id="8" name="Text 5"/>
          <p:cNvSpPr/>
          <p:nvPr/>
        </p:nvSpPr>
        <p:spPr>
          <a:xfrm>
            <a:off x="1601251" y="2747466"/>
            <a:ext cx="42986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리소스를 읽어옵니다</a:t>
            </a:r>
            <a:endParaRPr lang="ko-KR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163292"/>
            <a:ext cx="803255" cy="9640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1251" y="3323927"/>
            <a:ext cx="429864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16A3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· 생성</a:t>
            </a:r>
            <a:endParaRPr lang="ko-KR" sz="1550" dirty="0"/>
          </a:p>
        </p:txBody>
      </p:sp>
      <p:sp>
        <p:nvSpPr>
          <p:cNvPr id="11" name="Text 7"/>
          <p:cNvSpPr/>
          <p:nvPr/>
        </p:nvSpPr>
        <p:spPr>
          <a:xfrm>
            <a:off x="1601251" y="3711476"/>
            <a:ext cx="42986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새 리소스를 만듭니다</a:t>
            </a:r>
            <a:endParaRPr lang="ko-KR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127302"/>
            <a:ext cx="803255" cy="9640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1251" y="4287937"/>
            <a:ext cx="429864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PUT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· 수정</a:t>
            </a:r>
            <a:endParaRPr lang="ko-KR" sz="1550" dirty="0"/>
          </a:p>
        </p:txBody>
      </p:sp>
      <p:sp>
        <p:nvSpPr>
          <p:cNvPr id="14" name="Text 9"/>
          <p:cNvSpPr/>
          <p:nvPr/>
        </p:nvSpPr>
        <p:spPr>
          <a:xfrm>
            <a:off x="1601251" y="4675485"/>
            <a:ext cx="42986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리소스를 업데이트합니다</a:t>
            </a:r>
            <a:endParaRPr lang="ko-KR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091311"/>
            <a:ext cx="803255" cy="9640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1251" y="5251946"/>
            <a:ext cx="429864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DC26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DELETE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· 삭제</a:t>
            </a:r>
            <a:endParaRPr lang="ko-KR" sz="1550" dirty="0"/>
          </a:p>
        </p:txBody>
      </p:sp>
      <p:sp>
        <p:nvSpPr>
          <p:cNvPr id="17" name="Text 11"/>
          <p:cNvSpPr/>
          <p:nvPr/>
        </p:nvSpPr>
        <p:spPr>
          <a:xfrm>
            <a:off x="1601251" y="5639495"/>
            <a:ext cx="42986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리소스를 제거합니다</a:t>
            </a:r>
            <a:endParaRPr lang="ko-KR" sz="1250" dirty="0"/>
          </a:p>
        </p:txBody>
      </p:sp>
      <p:sp>
        <p:nvSpPr>
          <p:cNvPr id="18" name="Text 12"/>
          <p:cNvSpPr/>
          <p:nvPr/>
        </p:nvSpPr>
        <p:spPr>
          <a:xfrm>
            <a:off x="6298149" y="2182217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카메라 Resource 예시</a:t>
            </a:r>
            <a:endParaRPr lang="ko-KR" sz="1550" dirty="0"/>
          </a:p>
        </p:txBody>
      </p:sp>
      <p:sp>
        <p:nvSpPr>
          <p:cNvPr id="19" name="Shape 13"/>
          <p:cNvSpPr/>
          <p:nvPr/>
        </p:nvSpPr>
        <p:spPr>
          <a:xfrm>
            <a:off x="6298149" y="2586831"/>
            <a:ext cx="5238421" cy="2767013"/>
          </a:xfrm>
          <a:prstGeom prst="roundRect">
            <a:avLst>
              <a:gd name="adj" fmla="val 243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98149" y="3010495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6298149" y="3668713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6298149" y="4089202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298149" y="4509691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6298149" y="4930180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6465924" y="2681387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메서드</a:t>
            </a:r>
            <a:endParaRPr lang="ko-KR" sz="1250" dirty="0"/>
          </a:p>
        </p:txBody>
      </p:sp>
      <p:sp>
        <p:nvSpPr>
          <p:cNvPr id="26" name="Text 20"/>
          <p:cNvSpPr/>
          <p:nvPr/>
        </p:nvSpPr>
        <p:spPr>
          <a:xfrm>
            <a:off x="8207368" y="2681387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엔드포인트</a:t>
            </a:r>
            <a:endParaRPr lang="ko-KR" sz="1250" dirty="0"/>
          </a:p>
        </p:txBody>
      </p:sp>
      <p:sp>
        <p:nvSpPr>
          <p:cNvPr id="27" name="Text 21"/>
          <p:cNvSpPr/>
          <p:nvPr/>
        </p:nvSpPr>
        <p:spPr>
          <a:xfrm>
            <a:off x="9948812" y="2681387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동작</a:t>
            </a:r>
            <a:endParaRPr lang="ko-KR" sz="1250" dirty="0"/>
          </a:p>
        </p:txBody>
      </p:sp>
      <p:sp>
        <p:nvSpPr>
          <p:cNvPr id="28" name="Text 22"/>
          <p:cNvSpPr/>
          <p:nvPr/>
        </p:nvSpPr>
        <p:spPr>
          <a:xfrm>
            <a:off x="6465924" y="3101876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8207368" y="3101876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/cameras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948812" y="3101876"/>
            <a:ext cx="142018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카메라 목록 조회</a:t>
            </a:r>
            <a:endParaRPr lang="ko-KR" sz="1250" dirty="0"/>
          </a:p>
        </p:txBody>
      </p:sp>
      <p:sp>
        <p:nvSpPr>
          <p:cNvPr id="31" name="Text 25"/>
          <p:cNvSpPr/>
          <p:nvPr/>
        </p:nvSpPr>
        <p:spPr>
          <a:xfrm>
            <a:off x="6465924" y="3760093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8207368" y="3760093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/cameras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9948812" y="3760093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카메라 등록</a:t>
            </a:r>
            <a:endParaRPr lang="ko-KR" sz="1250" dirty="0"/>
          </a:p>
        </p:txBody>
      </p:sp>
      <p:sp>
        <p:nvSpPr>
          <p:cNvPr id="34" name="Text 28"/>
          <p:cNvSpPr/>
          <p:nvPr/>
        </p:nvSpPr>
        <p:spPr>
          <a:xfrm>
            <a:off x="6465924" y="4180582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8207368" y="4180582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/cameras/{id}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9948812" y="4180582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카메라 조회</a:t>
            </a:r>
            <a:endParaRPr lang="ko-KR" sz="1250" dirty="0"/>
          </a:p>
        </p:txBody>
      </p:sp>
      <p:sp>
        <p:nvSpPr>
          <p:cNvPr id="37" name="Text 31"/>
          <p:cNvSpPr/>
          <p:nvPr/>
        </p:nvSpPr>
        <p:spPr>
          <a:xfrm>
            <a:off x="6465924" y="4601071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8207368" y="4601071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/cameras/{id}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9948812" y="4601071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카메라 정보 수정</a:t>
            </a:r>
            <a:endParaRPr lang="ko-KR" sz="1250" dirty="0"/>
          </a:p>
        </p:txBody>
      </p:sp>
      <p:sp>
        <p:nvSpPr>
          <p:cNvPr id="40" name="Text 34"/>
          <p:cNvSpPr/>
          <p:nvPr/>
        </p:nvSpPr>
        <p:spPr>
          <a:xfrm>
            <a:off x="6465924" y="5021560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8207368" y="5021560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/cameras/{id}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9948812" y="5021560"/>
            <a:ext cx="202976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카메라 삭제</a:t>
            </a:r>
            <a:endParaRPr lang="ko-KR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7508"/>
            <a:ext cx="1126601" cy="18663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5093" y="734318"/>
            <a:ext cx="1588949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750" spc="-19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 · 실습 구현</a:t>
            </a:r>
            <a:endParaRPr lang="ko-KR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1598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카메라 관리 API 아키텍처</a:t>
            </a:r>
            <a:endParaRPr lang="ko-KR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550" y="1419721"/>
            <a:ext cx="7064595" cy="33176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81813" y="3917131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ko-KR" alt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클라이언트</a:t>
            </a:r>
            <a:endParaRPr lang="ko-KR" sz="1200" dirty="0"/>
          </a:p>
        </p:txBody>
      </p:sp>
      <p:sp>
        <p:nvSpPr>
          <p:cNvPr id="7" name="Text 4"/>
          <p:cNvSpPr/>
          <p:nvPr/>
        </p:nvSpPr>
        <p:spPr>
          <a:xfrm>
            <a:off x="2730459" y="4166012"/>
            <a:ext cx="1901442" cy="1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6000"/>
              </a:lnSpc>
              <a:buNone/>
            </a:pPr>
            <a:r>
              <a:rPr lang="ko-KR" altLang="en-US" sz="9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UI로 API 요청</a:t>
            </a:r>
            <a:endParaRPr lang="ko-KR" sz="950" dirty="0"/>
          </a:p>
        </p:txBody>
      </p:sp>
      <p:sp>
        <p:nvSpPr>
          <p:cNvPr id="8" name="Text 5"/>
          <p:cNvSpPr/>
          <p:nvPr/>
        </p:nvSpPr>
        <p:spPr>
          <a:xfrm>
            <a:off x="7607964" y="3376308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07964" y="3625190"/>
            <a:ext cx="1853217" cy="1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ko-KR" altLang="en-US" sz="9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main.py 라우팅 및 schemas.py</a:t>
            </a:r>
            <a:endParaRPr lang="ko-KR" sz="950" dirty="0"/>
          </a:p>
        </p:txBody>
      </p:sp>
      <p:sp>
        <p:nvSpPr>
          <p:cNvPr id="10" name="Text 7"/>
          <p:cNvSpPr/>
          <p:nvPr/>
        </p:nvSpPr>
        <p:spPr>
          <a:xfrm>
            <a:off x="3081705" y="2819769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ko-KR" alt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ORM 계층</a:t>
            </a:r>
            <a:endParaRPr lang="ko-KR" sz="1200" dirty="0"/>
          </a:p>
        </p:txBody>
      </p:sp>
      <p:sp>
        <p:nvSpPr>
          <p:cNvPr id="11" name="Text 8"/>
          <p:cNvSpPr/>
          <p:nvPr/>
        </p:nvSpPr>
        <p:spPr>
          <a:xfrm>
            <a:off x="2730352" y="3068651"/>
            <a:ext cx="1901442" cy="255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6000"/>
              </a:lnSpc>
              <a:buNone/>
            </a:pPr>
            <a:r>
              <a:rPr lang="en-US" sz="9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SQLAlchemy models.py / database.py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07964" y="2301553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데이터베이스</a:t>
            </a:r>
            <a:endParaRPr lang="ko-KR" sz="1200" dirty="0"/>
          </a:p>
        </p:txBody>
      </p:sp>
      <p:sp>
        <p:nvSpPr>
          <p:cNvPr id="13" name="Text 10"/>
          <p:cNvSpPr/>
          <p:nvPr/>
        </p:nvSpPr>
        <p:spPr>
          <a:xfrm>
            <a:off x="7607964" y="2550435"/>
            <a:ext cx="1853217" cy="1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ko-KR" altLang="en-US" sz="9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cameras.db 저장</a:t>
            </a:r>
            <a:endParaRPr lang="ko-KR" sz="950" dirty="0"/>
          </a:p>
        </p:txBody>
      </p:sp>
      <p:sp>
        <p:nvSpPr>
          <p:cNvPr id="14" name="Text 11"/>
          <p:cNvSpPr/>
          <p:nvPr/>
        </p:nvSpPr>
        <p:spPr>
          <a:xfrm>
            <a:off x="3081813" y="1850294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ko-KR" alt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네트워크 레이어</a:t>
            </a:r>
            <a:endParaRPr lang="ko-KR" sz="1200" dirty="0"/>
          </a:p>
        </p:txBody>
      </p:sp>
      <p:sp>
        <p:nvSpPr>
          <p:cNvPr id="15" name="Text 12"/>
          <p:cNvSpPr/>
          <p:nvPr/>
        </p:nvSpPr>
        <p:spPr>
          <a:xfrm>
            <a:off x="2730459" y="2099175"/>
            <a:ext cx="1901442" cy="1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6000"/>
              </a:lnSpc>
              <a:buNone/>
            </a:pPr>
            <a:r>
              <a:rPr lang="ko-KR" altLang="en-US" sz="9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Ping 및 TCP 포트 체크</a:t>
            </a:r>
            <a:endParaRPr lang="ko-KR" sz="950" dirty="0"/>
          </a:p>
        </p:txBody>
      </p:sp>
      <p:sp>
        <p:nvSpPr>
          <p:cNvPr id="16" name="Text 13"/>
          <p:cNvSpPr/>
          <p:nvPr/>
        </p:nvSpPr>
        <p:spPr>
          <a:xfrm>
            <a:off x="661475" y="4906963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spc="-3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파일 구성</a:t>
            </a:r>
            <a:endParaRPr lang="ko-KR" sz="1200" dirty="0"/>
          </a:p>
        </p:txBody>
      </p:sp>
      <p:sp>
        <p:nvSpPr>
          <p:cNvPr id="17" name="Text 14"/>
          <p:cNvSpPr/>
          <p:nvPr/>
        </p:nvSpPr>
        <p:spPr>
          <a:xfrm>
            <a:off x="661475" y="5178723"/>
            <a:ext cx="5284556" cy="953889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라우터 및 엔드포인트 정의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DB 연결 및 세션 관리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SQLAlchemy ORM 모델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Pydantic 입출력 스키마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cameras.db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SQLite 데이터베이스 파일</a:t>
            </a:r>
            <a:endParaRPr lang="ko-KR" sz="950" dirty="0"/>
          </a:p>
        </p:txBody>
      </p:sp>
      <p:sp>
        <p:nvSpPr>
          <p:cNvPr id="18" name="Text 15"/>
          <p:cNvSpPr/>
          <p:nvPr/>
        </p:nvSpPr>
        <p:spPr>
          <a:xfrm>
            <a:off x="6252014" y="4906963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spc="-3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네트워크 진단 레이어</a:t>
            </a:r>
            <a:endParaRPr lang="ko-KR" sz="1200" dirty="0"/>
          </a:p>
        </p:txBody>
      </p:sp>
      <p:sp>
        <p:nvSpPr>
          <p:cNvPr id="19" name="Text 16"/>
          <p:cNvSpPr/>
          <p:nvPr/>
        </p:nvSpPr>
        <p:spPr>
          <a:xfrm>
            <a:off x="6252014" y="5178723"/>
            <a:ext cx="5284556" cy="548481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Ping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ICMP 기반 장비 접근 가능 여부 확인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TCP Port Check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소켓 연결로 포트 개방 여부 확인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socket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표준 라이브러리 활용</a:t>
            </a:r>
            <a:endParaRPr lang="ko-KR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460"/>
            <a:ext cx="934022" cy="142776"/>
          </a:xfrm>
          <a:prstGeom prst="roundRect">
            <a:avLst>
              <a:gd name="adj" fmla="val 22137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7830" y="566638"/>
            <a:ext cx="1430897" cy="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550" spc="-15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 · CRUD 구현</a:t>
            </a:r>
            <a:endParaRPr lang="ko-KR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99889"/>
            <a:ext cx="10868745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API 구현 흐름</a:t>
            </a:r>
            <a:endParaRPr lang="ko-KR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620" y="1063923"/>
            <a:ext cx="7006454" cy="30214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64093" y="3512360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spc="-3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 저장</a:t>
            </a:r>
            <a:endParaRPr lang="ko-KR" sz="1250" dirty="0"/>
          </a:p>
        </p:txBody>
      </p:sp>
      <p:sp>
        <p:nvSpPr>
          <p:cNvPr id="7" name="Text 4"/>
          <p:cNvSpPr/>
          <p:nvPr/>
        </p:nvSpPr>
        <p:spPr>
          <a:xfrm>
            <a:off x="3064093" y="2812952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SQLAlchemy ORM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64093" y="2120610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spc="-3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 처리</a:t>
            </a:r>
            <a:endParaRPr lang="ko-KR" sz="1250" dirty="0"/>
          </a:p>
        </p:txBody>
      </p:sp>
      <p:sp>
        <p:nvSpPr>
          <p:cNvPr id="9" name="Text 6"/>
          <p:cNvSpPr/>
          <p:nvPr/>
        </p:nvSpPr>
        <p:spPr>
          <a:xfrm>
            <a:off x="3064093" y="1421202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spc="-3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 요청</a:t>
            </a:r>
            <a:endParaRPr lang="ko-KR" sz="1250" dirty="0"/>
          </a:p>
        </p:txBody>
      </p:sp>
      <p:sp>
        <p:nvSpPr>
          <p:cNvPr id="10" name="Text 7"/>
          <p:cNvSpPr/>
          <p:nvPr/>
        </p:nvSpPr>
        <p:spPr>
          <a:xfrm>
            <a:off x="661475" y="4184650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구현된 엔드포인트</a:t>
            </a:r>
            <a:endParaRPr lang="ko-KR" sz="900" dirty="0"/>
          </a:p>
        </p:txBody>
      </p:sp>
      <p:sp>
        <p:nvSpPr>
          <p:cNvPr id="11" name="Text 8"/>
          <p:cNvSpPr/>
          <p:nvPr/>
        </p:nvSpPr>
        <p:spPr>
          <a:xfrm>
            <a:off x="661475" y="4384179"/>
            <a:ext cx="188114" cy="117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2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61475" y="4531320"/>
            <a:ext cx="5319679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661475" y="4603750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 /cameras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1475" y="4797425"/>
            <a:ext cx="5319679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카메라 목록 반환</a:t>
            </a:r>
            <a:endParaRPr lang="ko-KR" sz="700" dirty="0"/>
          </a:p>
        </p:txBody>
      </p:sp>
      <p:sp>
        <p:nvSpPr>
          <p:cNvPr id="15" name="Text 12"/>
          <p:cNvSpPr/>
          <p:nvPr/>
        </p:nvSpPr>
        <p:spPr>
          <a:xfrm>
            <a:off x="661475" y="5027315"/>
            <a:ext cx="188114" cy="117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2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661475" y="5174456"/>
            <a:ext cx="5319679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5246886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 /cameras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1475" y="5440561"/>
            <a:ext cx="5319679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신규 카메라 등록</a:t>
            </a:r>
            <a:endParaRPr lang="ko-KR" sz="700" dirty="0"/>
          </a:p>
        </p:txBody>
      </p:sp>
      <p:sp>
        <p:nvSpPr>
          <p:cNvPr id="19" name="Text 16"/>
          <p:cNvSpPr/>
          <p:nvPr/>
        </p:nvSpPr>
        <p:spPr>
          <a:xfrm>
            <a:off x="661475" y="5670451"/>
            <a:ext cx="188114" cy="117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2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61475" y="5817592"/>
            <a:ext cx="5319679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8"/>
          <p:cNvSpPr/>
          <p:nvPr/>
        </p:nvSpPr>
        <p:spPr>
          <a:xfrm>
            <a:off x="661475" y="5890022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PUT / DELETE /cameras/{id}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1475" y="6083697"/>
            <a:ext cx="5319679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수정 및 삭제 처리</a:t>
            </a:r>
            <a:endParaRPr lang="ko-KR" sz="700" dirty="0"/>
          </a:p>
        </p:txBody>
      </p:sp>
      <p:sp>
        <p:nvSpPr>
          <p:cNvPr id="23" name="Text 20"/>
          <p:cNvSpPr/>
          <p:nvPr/>
        </p:nvSpPr>
        <p:spPr>
          <a:xfrm>
            <a:off x="6216891" y="4184650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응답 JSON 예시</a:t>
            </a:r>
            <a:endParaRPr lang="ko-KR" sz="900" dirty="0"/>
          </a:p>
        </p:txBody>
      </p:sp>
      <p:sp>
        <p:nvSpPr>
          <p:cNvPr id="24" name="Shape 21"/>
          <p:cNvSpPr/>
          <p:nvPr/>
        </p:nvSpPr>
        <p:spPr>
          <a:xfrm>
            <a:off x="6216891" y="4384179"/>
            <a:ext cx="5319679" cy="1241028"/>
          </a:xfrm>
          <a:prstGeom prst="roundRect">
            <a:avLst>
              <a:gd name="adj" fmla="val 3183"/>
            </a:avLst>
          </a:prstGeom>
          <a:solidFill>
            <a:srgbClr val="F2F2F2"/>
          </a:solidFill>
          <a:ln/>
        </p:spPr>
      </p:sp>
      <p:sp>
        <p:nvSpPr>
          <p:cNvPr id="25" name="Text 22"/>
          <p:cNvSpPr/>
          <p:nvPr/>
        </p:nvSpPr>
        <p:spPr>
          <a:xfrm>
            <a:off x="6329700" y="4478238"/>
            <a:ext cx="5094061" cy="105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"CAM001",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"ip": "192.168.1.2",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"location": "로비",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"is_active": true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sz="700" dirty="0"/>
          </a:p>
        </p:txBody>
      </p:sp>
      <p:sp>
        <p:nvSpPr>
          <p:cNvPr id="26" name="Text 23"/>
          <p:cNvSpPr/>
          <p:nvPr/>
        </p:nvSpPr>
        <p:spPr>
          <a:xfrm>
            <a:off x="6216891" y="5677793"/>
            <a:ext cx="5929263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FastAPI는 Pydantic 스키마를 통해 입출력 데이터를 자동으로 검증하고 JSON으로 직렬화합니다.</a:t>
            </a:r>
            <a:endParaRPr lang="ko-KR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0045"/>
            <a:ext cx="2003871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36699"/>
            <a:ext cx="238664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150" spc="-30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 · 네트워크 진단</a:t>
            </a:r>
            <a:endParaRPr lang="ko-KR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427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네트워크 진단 기능 확장</a:t>
            </a:r>
            <a:endParaRPr lang="ko-KR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29532"/>
            <a:ext cx="2507394" cy="330735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3392" y="2293441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5881" y="2910979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Ping 진단</a:t>
            </a:r>
            <a:endParaRPr lang="ko-KR" sz="1850" dirty="0"/>
          </a:p>
        </p:txBody>
      </p:sp>
      <p:sp>
        <p:nvSpPr>
          <p:cNvPr id="8" name="Text 4"/>
          <p:cNvSpPr/>
          <p:nvPr/>
        </p:nvSpPr>
        <p:spPr>
          <a:xfrm>
            <a:off x="875881" y="3395266"/>
            <a:ext cx="2078581" cy="1827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/cameras/{id}/ping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ICMP 패킷으로 장비의 네트워크 접근 가능 여부를 확인합니다.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통해 OS ping 명령을 실행합니다.</a:t>
            </a:r>
            <a:endParaRPr lang="ko-KR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7875" y="2129532"/>
            <a:ext cx="2507394" cy="330735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9792" y="229344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72282" y="2910979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TCP Port Check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3572282" y="3395266"/>
            <a:ext cx="2078581" cy="1827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/cameras/{id}/port-check?port=554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소켓으로 TCP 연결을 시도하여 특정 포트 개방 여부를 확인합니다. RTSP 표준 포트는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554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입니다.</a:t>
            </a:r>
            <a:endParaRPr lang="ko-KR" sz="1450" dirty="0"/>
          </a:p>
        </p:txBody>
      </p:sp>
      <p:sp>
        <p:nvSpPr>
          <p:cNvPr id="13" name="Text 7"/>
          <p:cNvSpPr/>
          <p:nvPr/>
        </p:nvSpPr>
        <p:spPr>
          <a:xfrm>
            <a:off x="6332776" y="210591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진단 결과 해석 시 주의사항</a:t>
            </a:r>
            <a:endParaRPr lang="ko-KR" sz="1850" dirty="0"/>
          </a:p>
        </p:txBody>
      </p:sp>
      <p:sp>
        <p:nvSpPr>
          <p:cNvPr id="14" name="Text 8"/>
          <p:cNvSpPr/>
          <p:nvPr/>
        </p:nvSpPr>
        <p:spPr>
          <a:xfrm>
            <a:off x="6332776" y="2590205"/>
            <a:ext cx="5203794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진단 결과가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라고 해서 반드시 장비 고장을 의미하지는 않습니다. 다음 요소들이 결과에 영향을 미칩니다.</a:t>
            </a:r>
            <a:endParaRPr lang="ko-KR" sz="1450" dirty="0"/>
          </a:p>
        </p:txBody>
      </p:sp>
      <p:sp>
        <p:nvSpPr>
          <p:cNvPr id="15" name="Text 9"/>
          <p:cNvSpPr/>
          <p:nvPr/>
        </p:nvSpPr>
        <p:spPr>
          <a:xfrm>
            <a:off x="6332776" y="3371453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네트워크 경로 및 라우팅 설정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VLAN 분리 및 서브넷 정책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 및 방화벽 ACL 규칙</a:t>
            </a:r>
            <a:endParaRPr lang="ko-KR" sz="1450" dirty="0"/>
          </a:p>
        </p:txBody>
      </p:sp>
      <p:sp>
        <p:nvSpPr>
          <p:cNvPr id="16" name="Shape 10"/>
          <p:cNvSpPr/>
          <p:nvPr/>
        </p:nvSpPr>
        <p:spPr>
          <a:xfrm>
            <a:off x="6332776" y="4623495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FCF2B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1783" y="4910237"/>
            <a:ext cx="236234" cy="1890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7024" y="4840784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접근 실패는 장비 문제가 아닌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네트워크 경로 문제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 수 있습니다. 실제 카메라 네트워크가 분리된 환경에서는 특히 주의하세요.</a:t>
            </a:r>
            <a:endParaRPr lang="ko-KR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1380"/>
            <a:ext cx="809803" cy="163413"/>
          </a:xfrm>
          <a:prstGeom prst="roundRect">
            <a:avLst>
              <a:gd name="adj" fmla="val 22104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5965" y="593626"/>
            <a:ext cx="1290407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650" spc="-17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 · 데모</a:t>
            </a:r>
            <a:endParaRPr lang="ko-KR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49201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100" b="1" spc="-6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Swagger UI와 실제 데모</a:t>
            </a:r>
            <a:endParaRPr lang="ko-KR" sz="2100" dirty="0"/>
          </a:p>
        </p:txBody>
      </p:sp>
      <p:sp>
        <p:nvSpPr>
          <p:cNvPr id="5" name="Text 3"/>
          <p:cNvSpPr/>
          <p:nvPr/>
        </p:nvSpPr>
        <p:spPr>
          <a:xfrm>
            <a:off x="661475" y="1237952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Swagger UI 접속</a:t>
            </a:r>
            <a:endParaRPr lang="ko-KR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1466949"/>
            <a:ext cx="5303308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00" spc="-1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http://127.0.0.1:8000/docs</a:t>
            </a:r>
            <a:endParaRPr lang="en-US" sz="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FastAPI는 OpenAPI 표준 기반의 대화형 API 문서를 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자동으로 생성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합니다. 별도 도구 없이 브라우저에서 바로 API를 호출하고 결과를 확인할 수 있습니다.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33262" y="1237952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Execute → Response 흐름</a:t>
            </a:r>
            <a:endParaRPr lang="ko-KR" sz="1050" dirty="0"/>
          </a:p>
        </p:txBody>
      </p:sp>
      <p:sp>
        <p:nvSpPr>
          <p:cNvPr id="8" name="Shape 6"/>
          <p:cNvSpPr/>
          <p:nvPr/>
        </p:nvSpPr>
        <p:spPr>
          <a:xfrm>
            <a:off x="6233262" y="1474589"/>
            <a:ext cx="2621095" cy="591542"/>
          </a:xfrm>
          <a:prstGeom prst="roundRect">
            <a:avLst>
              <a:gd name="adj" fmla="val 763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7063" y="1588393"/>
            <a:ext cx="239349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Execute 클릭</a:t>
            </a:r>
            <a:endParaRPr lang="ko-KR" sz="1050" dirty="0"/>
          </a:p>
        </p:txBody>
      </p:sp>
      <p:sp>
        <p:nvSpPr>
          <p:cNvPr id="10" name="Text 8"/>
          <p:cNvSpPr/>
          <p:nvPr/>
        </p:nvSpPr>
        <p:spPr>
          <a:xfrm>
            <a:off x="6347063" y="1817390"/>
            <a:ext cx="2393493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Swagger에서 요청 전송</a:t>
            </a:r>
            <a:endParaRPr lang="ko-KR" sz="800" dirty="0"/>
          </a:p>
        </p:txBody>
      </p:sp>
      <p:sp>
        <p:nvSpPr>
          <p:cNvPr id="11" name="Shape 9"/>
          <p:cNvSpPr/>
          <p:nvPr/>
        </p:nvSpPr>
        <p:spPr>
          <a:xfrm>
            <a:off x="8915475" y="1474589"/>
            <a:ext cx="2621095" cy="591542"/>
          </a:xfrm>
          <a:prstGeom prst="roundRect">
            <a:avLst>
              <a:gd name="adj" fmla="val 763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29276" y="1588393"/>
            <a:ext cx="239349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 200 OK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029276" y="1817390"/>
            <a:ext cx="2393493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처리 완료</a:t>
            </a:r>
            <a:endParaRPr lang="ko-KR" sz="800" dirty="0"/>
          </a:p>
        </p:txBody>
      </p:sp>
      <p:sp>
        <p:nvSpPr>
          <p:cNvPr id="14" name="Shape 12"/>
          <p:cNvSpPr/>
          <p:nvPr/>
        </p:nvSpPr>
        <p:spPr>
          <a:xfrm>
            <a:off x="6233262" y="2127250"/>
            <a:ext cx="5303308" cy="591542"/>
          </a:xfrm>
          <a:prstGeom prst="roundRect">
            <a:avLst>
              <a:gd name="adj" fmla="val 763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7063" y="2241054"/>
            <a:ext cx="507570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Response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47063" y="2470051"/>
            <a:ext cx="5075706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 화면에 출력</a:t>
            </a:r>
            <a:endParaRPr lang="ko-KR" sz="800" dirty="0"/>
          </a:p>
        </p:txBody>
      </p:sp>
      <p:sp>
        <p:nvSpPr>
          <p:cNvPr id="17" name="Shape 15"/>
          <p:cNvSpPr/>
          <p:nvPr/>
        </p:nvSpPr>
        <p:spPr>
          <a:xfrm>
            <a:off x="6233262" y="2787551"/>
            <a:ext cx="5303308" cy="90308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6362243" y="2895005"/>
            <a:ext cx="5045346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"reachable": true,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"open": false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9498" y="3828157"/>
            <a:ext cx="12700" cy="246836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5893546" y="3942655"/>
            <a:ext cx="215002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6055566" y="3908723"/>
            <a:ext cx="80564" cy="80566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3865066"/>
            <a:ext cx="500436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ko-KR" alt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서버 기동</a:t>
            </a:r>
            <a:endParaRPr lang="ko-KR" sz="1050" dirty="0"/>
          </a:p>
        </p:txBody>
      </p:sp>
      <p:sp>
        <p:nvSpPr>
          <p:cNvPr id="23" name="Text 21"/>
          <p:cNvSpPr/>
          <p:nvPr/>
        </p:nvSpPr>
        <p:spPr>
          <a:xfrm>
            <a:off x="661475" y="4069556"/>
            <a:ext cx="5004369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Uvicorn으로 FastAPI 서버 시작</a:t>
            </a:r>
            <a:endParaRPr lang="ko-KR" sz="800" dirty="0"/>
          </a:p>
        </p:txBody>
      </p:sp>
      <p:sp>
        <p:nvSpPr>
          <p:cNvPr id="24" name="Shape 22"/>
          <p:cNvSpPr/>
          <p:nvPr/>
        </p:nvSpPr>
        <p:spPr>
          <a:xfrm>
            <a:off x="6083148" y="4494907"/>
            <a:ext cx="215002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5" name="Shape 23"/>
          <p:cNvSpPr/>
          <p:nvPr/>
        </p:nvSpPr>
        <p:spPr>
          <a:xfrm>
            <a:off x="6055566" y="4460974"/>
            <a:ext cx="80564" cy="80566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6525851" y="4417318"/>
            <a:ext cx="500436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조회</a:t>
            </a:r>
            <a:endParaRPr lang="ko-KR" sz="1050" dirty="0"/>
          </a:p>
        </p:txBody>
      </p:sp>
      <p:sp>
        <p:nvSpPr>
          <p:cNvPr id="27" name="Text 25"/>
          <p:cNvSpPr/>
          <p:nvPr/>
        </p:nvSpPr>
        <p:spPr>
          <a:xfrm>
            <a:off x="6525851" y="4621808"/>
            <a:ext cx="5004369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카메라 등록·조회·수정·삭제 확인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>
            <a:off x="5893546" y="5004495"/>
            <a:ext cx="215002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9" name="Shape 27"/>
          <p:cNvSpPr/>
          <p:nvPr/>
        </p:nvSpPr>
        <p:spPr>
          <a:xfrm>
            <a:off x="6055566" y="4970562"/>
            <a:ext cx="80564" cy="80566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926905"/>
            <a:ext cx="500436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Ping / Port Check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1475" y="5131395"/>
            <a:ext cx="5004369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reachable: true/false · open: true/false 결과 확인</a:t>
            </a:r>
            <a:endParaRPr lang="ko-KR" sz="800" dirty="0"/>
          </a:p>
        </p:txBody>
      </p:sp>
      <p:sp>
        <p:nvSpPr>
          <p:cNvPr id="32" name="Shape 30"/>
          <p:cNvSpPr/>
          <p:nvPr/>
        </p:nvSpPr>
        <p:spPr>
          <a:xfrm>
            <a:off x="6083148" y="5514082"/>
            <a:ext cx="215002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33" name="Shape 31"/>
          <p:cNvSpPr/>
          <p:nvPr/>
        </p:nvSpPr>
        <p:spPr>
          <a:xfrm>
            <a:off x="6055566" y="5480149"/>
            <a:ext cx="80564" cy="80566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34" name="Text 32"/>
          <p:cNvSpPr/>
          <p:nvPr/>
        </p:nvSpPr>
        <p:spPr>
          <a:xfrm>
            <a:off x="6525851" y="5436493"/>
            <a:ext cx="500436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소스 구조 검토</a:t>
            </a:r>
            <a:endParaRPr lang="ko-KR" sz="1050" dirty="0"/>
          </a:p>
        </p:txBody>
      </p:sp>
      <p:sp>
        <p:nvSpPr>
          <p:cNvPr id="35" name="Text 33"/>
          <p:cNvSpPr/>
          <p:nvPr/>
        </p:nvSpPr>
        <p:spPr>
          <a:xfrm>
            <a:off x="6525851" y="5640983"/>
            <a:ext cx="5004369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파일별 역할 및 코드 흐름 확인</a:t>
            </a:r>
            <a:endParaRPr lang="ko-KR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3520"/>
            <a:ext cx="946027" cy="14872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0211" y="572889"/>
            <a:ext cx="1438140" cy="89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spc="-15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 · AI AGENT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712490"/>
            <a:ext cx="10868745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900" b="1" spc="-5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Agent란 무엇인가?</a:t>
            </a:r>
            <a:endParaRPr lang="ko-KR" sz="1900" dirty="0"/>
          </a:p>
        </p:txBody>
      </p:sp>
      <p:sp>
        <p:nvSpPr>
          <p:cNvPr id="5" name="Text 3"/>
          <p:cNvSpPr/>
          <p:nvPr/>
        </p:nvSpPr>
        <p:spPr>
          <a:xfrm>
            <a:off x="661475" y="1094383"/>
            <a:ext cx="11478330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Agent는 단순히 답변을 생성하는 LLM을 넘어, 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5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목표·도구·실행 능력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결합하여 스스로 계획하고 행동하는 시스템입니다.</a:t>
            </a:r>
            <a:endParaRPr lang="ko-KR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64941"/>
            <a:ext cx="3454710" cy="34547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21555" y="1320998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50" b="1" spc="-2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Loop 핵심 구조</a:t>
            </a:r>
            <a:endParaRPr lang="ko-KR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178" y="1530945"/>
            <a:ext cx="2763768" cy="276383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9535" y="2048073"/>
            <a:ext cx="146443" cy="14644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21555" y="4441627"/>
            <a:ext cx="195754" cy="195759"/>
          </a:xfrm>
          <a:prstGeom prst="roundRect">
            <a:avLst>
              <a:gd name="adj" fmla="val 2100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8215" y="4478288"/>
            <a:ext cx="122334" cy="1223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68008" y="4462959"/>
            <a:ext cx="50685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 수신</a:t>
            </a:r>
            <a:endParaRPr lang="ko-KR" sz="950" dirty="0"/>
          </a:p>
        </p:txBody>
      </p:sp>
      <p:sp>
        <p:nvSpPr>
          <p:cNvPr id="13" name="Text 7"/>
          <p:cNvSpPr/>
          <p:nvPr/>
        </p:nvSpPr>
        <p:spPr>
          <a:xfrm>
            <a:off x="6468008" y="4666555"/>
            <a:ext cx="50685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사용자로부터 달성할 목표를 입력받습니다</a:t>
            </a:r>
            <a:endParaRPr lang="ko-KR" sz="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7178" y="1530945"/>
            <a:ext cx="2763768" cy="276383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7190" y="2283222"/>
            <a:ext cx="146443" cy="146447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221555" y="4932263"/>
            <a:ext cx="195754" cy="195759"/>
          </a:xfrm>
          <a:prstGeom prst="roundRect">
            <a:avLst>
              <a:gd name="adj" fmla="val 2100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8215" y="4968925"/>
            <a:ext cx="122334" cy="12233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468008" y="4953595"/>
            <a:ext cx="50685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계획 수립</a:t>
            </a:r>
            <a:endParaRPr lang="ko-KR" sz="950" dirty="0"/>
          </a:p>
        </p:txBody>
      </p:sp>
      <p:sp>
        <p:nvSpPr>
          <p:cNvPr id="19" name="Text 10"/>
          <p:cNvSpPr/>
          <p:nvPr/>
        </p:nvSpPr>
        <p:spPr>
          <a:xfrm>
            <a:off x="6468008" y="5157192"/>
            <a:ext cx="50685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LLM이 단계별 실행 계획을 생성합니다</a:t>
            </a:r>
            <a:endParaRPr lang="ko-KR" sz="7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7178" y="1530945"/>
            <a:ext cx="2763768" cy="2763838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62047" y="3630910"/>
            <a:ext cx="146443" cy="146447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6221555" y="5422900"/>
            <a:ext cx="195754" cy="195759"/>
          </a:xfrm>
          <a:prstGeom prst="roundRect">
            <a:avLst>
              <a:gd name="adj" fmla="val 2100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58215" y="5459561"/>
            <a:ext cx="122334" cy="122337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468008" y="5444232"/>
            <a:ext cx="50685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 실행</a:t>
            </a:r>
            <a:endParaRPr lang="ko-KR" sz="950" dirty="0"/>
          </a:p>
        </p:txBody>
      </p:sp>
      <p:sp>
        <p:nvSpPr>
          <p:cNvPr id="25" name="Text 13"/>
          <p:cNvSpPr/>
          <p:nvPr/>
        </p:nvSpPr>
        <p:spPr>
          <a:xfrm>
            <a:off x="6468008" y="5647829"/>
            <a:ext cx="50685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검색·API·문서 등 도구를 선택하여 호출합니다</a:t>
            </a:r>
            <a:endParaRPr lang="ko-KR" sz="7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7178" y="1530945"/>
            <a:ext cx="2763768" cy="2763838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14392" y="3395762"/>
            <a:ext cx="146443" cy="146447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6221555" y="5913537"/>
            <a:ext cx="195754" cy="195759"/>
          </a:xfrm>
          <a:prstGeom prst="roundRect">
            <a:avLst>
              <a:gd name="adj" fmla="val 2100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58215" y="5950198"/>
            <a:ext cx="122334" cy="122337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468008" y="5934869"/>
            <a:ext cx="50685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 확인</a:t>
            </a:r>
            <a:endParaRPr lang="ko-KR" sz="950" dirty="0"/>
          </a:p>
        </p:txBody>
      </p:sp>
      <p:sp>
        <p:nvSpPr>
          <p:cNvPr id="31" name="Text 16"/>
          <p:cNvSpPr/>
          <p:nvPr/>
        </p:nvSpPr>
        <p:spPr>
          <a:xfrm>
            <a:off x="6468008" y="6138466"/>
            <a:ext cx="50685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 달성 여부를 판단하고 필요 시 재실행합니다</a:t>
            </a:r>
            <a:endParaRPr lang="ko-KR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50999"/>
            <a:ext cx="1683006" cy="25846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3469" y="901998"/>
            <a:ext cx="2088602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050" spc="-27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 · 창업 자동화</a:t>
            </a:r>
            <a:endParaRPr lang="ko-KR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17068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300" b="1" spc="-10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 기반 창업 자동화</a:t>
            </a:r>
            <a:endParaRPr lang="ko-KR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31888"/>
            <a:ext cx="425241" cy="425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548434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시장조사 Agent</a:t>
            </a:r>
            <a:endParaRPr lang="ko-KR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2905919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조사 → 경쟁사 분석 → 가격 조사 → 고객 요구사항 정리까지 반복 수집·분석을 자동화합니다.</a:t>
            </a:r>
            <a:endParaRPr lang="ko-KR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8153" y="1931888"/>
            <a:ext cx="425241" cy="425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8153" y="2548434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사업계획 Agent</a:t>
            </a:r>
            <a:endParaRPr lang="ko-KR" sz="1650" dirty="0"/>
          </a:p>
        </p:txBody>
      </p:sp>
      <p:sp>
        <p:nvSpPr>
          <p:cNvPr id="10" name="Text 6"/>
          <p:cNvSpPr/>
          <p:nvPr/>
        </p:nvSpPr>
        <p:spPr>
          <a:xfrm>
            <a:off x="4348153" y="2905919"/>
            <a:ext cx="349538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아이디어에서 출발해 시장 분석 → 비즈니스 모델 → 수익 모델 → 완성된 사업계획서를 자동 생성합니다.</a:t>
            </a:r>
            <a:endParaRPr lang="ko-KR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4831" y="1931888"/>
            <a:ext cx="425241" cy="4252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34831" y="2548434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마케팅 Agent</a:t>
            </a:r>
            <a:endParaRPr lang="ko-KR" sz="1650" dirty="0"/>
          </a:p>
        </p:txBody>
      </p:sp>
      <p:sp>
        <p:nvSpPr>
          <p:cNvPr id="13" name="Text 8"/>
          <p:cNvSpPr/>
          <p:nvPr/>
        </p:nvSpPr>
        <p:spPr>
          <a:xfrm>
            <a:off x="8034831" y="2905919"/>
            <a:ext cx="349538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타깃 고객 분석 → 콘텐츠 생성 → 홍보 문구 작성 → 성과 분석까지 마케팅 사이클을 자동 운영합니다.</a:t>
            </a:r>
            <a:endParaRPr lang="ko-KR" sz="1300" dirty="0"/>
          </a:p>
        </p:txBody>
      </p:sp>
      <p:sp>
        <p:nvSpPr>
          <p:cNvPr id="14" name="Text 9"/>
          <p:cNvSpPr/>
          <p:nvPr/>
        </p:nvSpPr>
        <p:spPr>
          <a:xfrm>
            <a:off x="661475" y="4006949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기존 자동화 vs AI Agent</a:t>
            </a:r>
            <a:endParaRPr lang="ko-KR" sz="1650" dirty="0"/>
          </a:p>
        </p:txBody>
      </p:sp>
      <p:sp>
        <p:nvSpPr>
          <p:cNvPr id="15" name="Shape 10"/>
          <p:cNvSpPr/>
          <p:nvPr/>
        </p:nvSpPr>
        <p:spPr>
          <a:xfrm>
            <a:off x="661475" y="4444901"/>
            <a:ext cx="5226911" cy="1389856"/>
          </a:xfrm>
          <a:prstGeom prst="roundRect">
            <a:avLst>
              <a:gd name="adj" fmla="val 51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61475" y="4909245"/>
            <a:ext cx="5226911" cy="1063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61475" y="5370413"/>
            <a:ext cx="5226911" cy="1063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838477" y="4549378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구분</a:t>
            </a:r>
            <a:endParaRPr lang="ko-KR" sz="1300" dirty="0"/>
          </a:p>
        </p:txBody>
      </p:sp>
      <p:sp>
        <p:nvSpPr>
          <p:cNvPr id="19" name="Text 14"/>
          <p:cNvSpPr/>
          <p:nvPr/>
        </p:nvSpPr>
        <p:spPr>
          <a:xfrm>
            <a:off x="2576150" y="4549378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기존 자동화</a:t>
            </a:r>
            <a:endParaRPr lang="ko-KR" sz="1300" dirty="0"/>
          </a:p>
        </p:txBody>
      </p:sp>
      <p:sp>
        <p:nvSpPr>
          <p:cNvPr id="20" name="Text 15"/>
          <p:cNvSpPr/>
          <p:nvPr/>
        </p:nvSpPr>
        <p:spPr>
          <a:xfrm>
            <a:off x="4313824" y="4549378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8477" y="5010547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실행 방식</a:t>
            </a:r>
            <a:endParaRPr lang="ko-KR" sz="1300" dirty="0"/>
          </a:p>
        </p:txBody>
      </p:sp>
      <p:sp>
        <p:nvSpPr>
          <p:cNvPr id="22" name="Text 17"/>
          <p:cNvSpPr/>
          <p:nvPr/>
        </p:nvSpPr>
        <p:spPr>
          <a:xfrm>
            <a:off x="2576150" y="5010547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고정 규칙·순서</a:t>
            </a:r>
            <a:endParaRPr lang="ko-KR" sz="1300" dirty="0"/>
          </a:p>
        </p:txBody>
      </p:sp>
      <p:sp>
        <p:nvSpPr>
          <p:cNvPr id="23" name="Text 18"/>
          <p:cNvSpPr/>
          <p:nvPr/>
        </p:nvSpPr>
        <p:spPr>
          <a:xfrm>
            <a:off x="4313824" y="5010547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 기반·동적 계획</a:t>
            </a:r>
            <a:endParaRPr lang="ko-KR" sz="1300" dirty="0"/>
          </a:p>
        </p:txBody>
      </p:sp>
      <p:sp>
        <p:nvSpPr>
          <p:cNvPr id="24" name="Text 19"/>
          <p:cNvSpPr/>
          <p:nvPr/>
        </p:nvSpPr>
        <p:spPr>
          <a:xfrm>
            <a:off x="838477" y="5471716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변화 대응</a:t>
            </a:r>
            <a:endParaRPr lang="ko-KR" sz="1300" dirty="0"/>
          </a:p>
        </p:txBody>
      </p:sp>
      <p:sp>
        <p:nvSpPr>
          <p:cNvPr id="25" name="Text 20"/>
          <p:cNvSpPr/>
          <p:nvPr/>
        </p:nvSpPr>
        <p:spPr>
          <a:xfrm>
            <a:off x="2576150" y="5471716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재프로그래밍 필요</a:t>
            </a:r>
            <a:endParaRPr lang="ko-KR" sz="1300" dirty="0"/>
          </a:p>
        </p:txBody>
      </p:sp>
      <p:sp>
        <p:nvSpPr>
          <p:cNvPr id="26" name="Text 21"/>
          <p:cNvSpPr/>
          <p:nvPr/>
        </p:nvSpPr>
        <p:spPr>
          <a:xfrm>
            <a:off x="4313824" y="5471716"/>
            <a:ext cx="200714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스스로 재계획</a:t>
            </a:r>
            <a:endParaRPr lang="ko-KR" sz="1300" dirty="0"/>
          </a:p>
        </p:txBody>
      </p:sp>
      <p:sp>
        <p:nvSpPr>
          <p:cNvPr id="27" name="Shape 22"/>
          <p:cNvSpPr/>
          <p:nvPr/>
        </p:nvSpPr>
        <p:spPr>
          <a:xfrm>
            <a:off x="6309659" y="4026098"/>
            <a:ext cx="5226911" cy="877491"/>
          </a:xfrm>
          <a:prstGeom prst="roundRect">
            <a:avLst>
              <a:gd name="adj" fmla="val 8142"/>
            </a:avLst>
          </a:prstGeom>
          <a:solidFill>
            <a:srgbClr val="DADBF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715" y="4263330"/>
            <a:ext cx="212620" cy="1700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62392" y="4206280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사람은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300" b="1" spc="-2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 설정과 의사결정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 집중하고, Agent는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300" b="1" spc="-2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반복적인 실행과 데이터 수집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300" spc="-2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담당합니다.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003969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50024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550" spc="-15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4 · 통합 아키텍처</a:t>
            </a:r>
            <a:endParaRPr lang="ko-KR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 + AI Agent 통합 방향</a:t>
            </a:r>
            <a:endParaRPr lang="ko-KR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48246"/>
            <a:ext cx="8737381" cy="487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02535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API의 역할</a:t>
            </a:r>
            <a:endParaRPr lang="ko-KR" sz="900" dirty="0"/>
          </a:p>
        </p:txBody>
      </p:sp>
      <p:sp>
        <p:nvSpPr>
          <p:cNvPr id="7" name="Text 4"/>
          <p:cNvSpPr/>
          <p:nvPr/>
        </p:nvSpPr>
        <p:spPr>
          <a:xfrm>
            <a:off x="661475" y="6220222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API는 이기종 시스템을 하나의 표준 인터페이스로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연결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합니다. AI Agent가 호출할 수 있는 도구(Tool)로 등록되면 조회·분석·제어가 모두 자동화됩니다.</a:t>
            </a:r>
            <a:endParaRPr lang="ko-KR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602535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Agent의 역할</a:t>
            </a:r>
            <a:endParaRPr lang="ko-KR" sz="900" dirty="0"/>
          </a:p>
        </p:txBody>
      </p:sp>
      <p:sp>
        <p:nvSpPr>
          <p:cNvPr id="9" name="Text 6"/>
          <p:cNvSpPr/>
          <p:nvPr/>
        </p:nvSpPr>
        <p:spPr>
          <a:xfrm>
            <a:off x="6217487" y="6220222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Agent는 연결된 도구들을 활용해 목표를 달성하는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실행 계층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입니다. 향후 REST API를 직접 호출하여 카메라 상태 분석, 이상 탐지, 보고서 자동 생성까지 수행합니다.</a:t>
            </a:r>
            <a:endParaRPr lang="ko-KR" sz="700" dirty="0"/>
          </a:p>
        </p:txBody>
      </p:sp>
      <p:sp>
        <p:nvSpPr>
          <p:cNvPr id="10" name="Text 7"/>
          <p:cNvSpPr/>
          <p:nvPr/>
        </p:nvSpPr>
        <p:spPr>
          <a:xfrm>
            <a:off x="803156" y="6595666"/>
            <a:ext cx="1133664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메시지: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웹 프레임워크와 REST API로 시스템을 연결하고, AI Agent로 연결된 시스템을 자동화한다.</a:t>
            </a:r>
            <a:endParaRPr lang="ko-KR" sz="700" dirty="0"/>
          </a:p>
        </p:txBody>
      </p:sp>
      <p:sp>
        <p:nvSpPr>
          <p:cNvPr id="11" name="Shape 8"/>
          <p:cNvSpPr/>
          <p:nvPr/>
        </p:nvSpPr>
        <p:spPr>
          <a:xfrm>
            <a:off x="661475" y="6542584"/>
            <a:ext cx="12700" cy="219571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2026-08-19T00:42:47Z</dcterms:created>
  <dcterms:modified xsi:type="dcterms:W3CDTF">2026-08-19T00:42:47Z</dcterms:modified>
</cp:coreProperties>
</file>