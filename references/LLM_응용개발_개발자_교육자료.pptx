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notesMasterIdLst>
    <p:notesMasterId r:id="rId2"/>
  </p:notesMasterIdLst>
  <p:sldIdLst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354" y="132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presProps" Target="presProps.xml"  /><Relationship Id="rId22" Type="http://schemas.openxmlformats.org/officeDocument/2006/relationships/viewProps" Target="viewProps.xml"  /><Relationship Id="rId23" Type="http://schemas.openxmlformats.org/officeDocument/2006/relationships/theme" Target="theme/theme1.xml"  /><Relationship Id="rId24" Type="http://schemas.openxmlformats.org/officeDocument/2006/relationships/tableStyles" Target="tableStyles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slide" Target="../slides/slide10.xml"  /><Relationship Id="rId2" Type="http://schemas.openxmlformats.org/officeDocument/2006/relationships/notesMaster" Target="../notesMasters/notesMaster1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1.xml"  /><Relationship Id="rId2" Type="http://schemas.openxmlformats.org/officeDocument/2006/relationships/notesMaster" Target="../notesMasters/notesMaster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slide" Target="../slides/slide12.xml"  /><Relationship Id="rId2" Type="http://schemas.openxmlformats.org/officeDocument/2006/relationships/notesMaster" Target="../notesMasters/notesMaster1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slide" Target="../slides/slide13.xml"  /><Relationship Id="rId2" Type="http://schemas.openxmlformats.org/officeDocument/2006/relationships/notesMaster" Target="../notesMasters/notesMaster1.xml"  /></Relationships>
</file>

<file path=ppt/notesSlides/_rels/notesSlide14.xml.rels><?xml version="1.0" encoding="UTF-8" standalone="yes" ?><Relationships xmlns="http://schemas.openxmlformats.org/package/2006/relationships"><Relationship Id="rId1" Type="http://schemas.openxmlformats.org/officeDocument/2006/relationships/slide" Target="../slides/slide14.xml"  /><Relationship Id="rId2" Type="http://schemas.openxmlformats.org/officeDocument/2006/relationships/notesMaster" Target="../notesMasters/notesMaster1.xml"  /></Relationships>
</file>

<file path=ppt/notesSlides/_rels/notesSlide15.xml.rels><?xml version="1.0" encoding="UTF-8" standalone="yes" ?><Relationships xmlns="http://schemas.openxmlformats.org/package/2006/relationships"><Relationship Id="rId1" Type="http://schemas.openxmlformats.org/officeDocument/2006/relationships/slide" Target="../slides/slide15.xml"  /><Relationship Id="rId2" Type="http://schemas.openxmlformats.org/officeDocument/2006/relationships/notesMaster" Target="../notesMasters/notesMaster1.xml"  /></Relationships>
</file>

<file path=ppt/notesSlides/_rels/notesSlide16.xml.rels><?xml version="1.0" encoding="UTF-8" standalone="yes" ?><Relationships xmlns="http://schemas.openxmlformats.org/package/2006/relationships"><Relationship Id="rId1" Type="http://schemas.openxmlformats.org/officeDocument/2006/relationships/slide" Target="../slides/slide16.xml"  /><Relationship Id="rId2" Type="http://schemas.openxmlformats.org/officeDocument/2006/relationships/notesMaster" Target="../notesMasters/notesMaster1.xml"  /></Relationships>
</file>

<file path=ppt/notesSlides/_rels/notesSlide17.xml.rels><?xml version="1.0" encoding="UTF-8" standalone="yes" ?><Relationships xmlns="http://schemas.openxmlformats.org/package/2006/relationships"><Relationship Id="rId1" Type="http://schemas.openxmlformats.org/officeDocument/2006/relationships/slide" Target="../slides/slide17.xml"  /><Relationship Id="rId2" Type="http://schemas.openxmlformats.org/officeDocument/2006/relationships/notesMaster" Target="../notesMasters/notesMaster1.xml"  /></Relationships>
</file>

<file path=ppt/notesSlides/_rels/notesSlide18.xml.rels><?xml version="1.0" encoding="UTF-8" standalone="yes" ?><Relationships xmlns="http://schemas.openxmlformats.org/package/2006/relationships"><Relationship Id="rId1" Type="http://schemas.openxmlformats.org/officeDocument/2006/relationships/slide" Target="../slides/slide18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1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1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1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1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6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7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8.xml"  /><Relationship Id="rId2" Type="http://schemas.openxmlformats.org/officeDocument/2006/relationships/slideLayout" Target="../slideLayouts/slideLayout1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9.xml"  /><Relationship Id="rId2" Type="http://schemas.openxmlformats.org/officeDocument/2006/relationships/slideLayout" Target="../slideLayouts/slideLayout1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0.xml"  /><Relationship Id="rId2" Type="http://schemas.openxmlformats.org/officeDocument/2006/relationships/slideLayout" Target="../slideLayouts/slideLayout1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1.xml"  /><Relationship Id="rId2" Type="http://schemas.openxmlformats.org/officeDocument/2006/relationships/slideLayout" Target="../slideLayouts/slideLayout1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2.xml"  /><Relationship Id="rId2" Type="http://schemas.openxmlformats.org/officeDocument/2006/relationships/slideLayout" Target="../slideLayouts/slideLayout1.xml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3.xml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4.xml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5.xml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6.xml"  /><Relationship Id="rId2" Type="http://schemas.openxmlformats.org/officeDocument/2006/relationships/slideLayout" Target="../slideLayouts/slideLayout1.xml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7.xml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8.xml"  /><Relationship Id="rId2" Type="http://schemas.openxmlformats.org/officeDocument/2006/relationships/slideLayout" Target="../slideLayouts/slideLayout1.xml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1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14F"/>
          </a:solidFill>
          <a:ln w="12700">
            <a:solidFill>
              <a:srgbClr val="1231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572768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LLM 응용 개발 입문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13232" y="2496312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DDEAFE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Ollama · Python · Flask · LangChain · RAG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13232" y="589788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dirty="0" smtClean="0">
                <a:solidFill>
                  <a:srgbClr val="B8C8DC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김완석 </a:t>
            </a:r>
            <a:r>
              <a:rPr lang="en-US" sz="1600" dirty="0" smtClean="0">
                <a:solidFill>
                  <a:srgbClr val="B8C8DC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 </a:t>
            </a:r>
            <a:r>
              <a:rPr lang="en-US" sz="1600" dirty="0">
                <a:solidFill>
                  <a:srgbClr val="B8C8DC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|  </a:t>
            </a:r>
            <a:r>
              <a:rPr lang="ko-KR" altLang="en-US" sz="1600" dirty="0" smtClean="0">
                <a:solidFill>
                  <a:srgbClr val="B8C8DC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㈜</a:t>
            </a:r>
            <a:r>
              <a:rPr lang="ko-KR" altLang="en-US" sz="1600" dirty="0" err="1" smtClean="0">
                <a:solidFill>
                  <a:srgbClr val="B8C8DC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넷비젼텔레콤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3232" y="3419856"/>
            <a:ext cx="9601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LLM을 “쓸 수 있는 서비스”로 연결하는 첫 단계</a:t>
            </a:r>
            <a:endParaRPr lang="en-US" sz="2500" dirty="0"/>
          </a:p>
        </p:txBody>
      </p:sp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>
                <a:solidFill>
                  <a:srgbClr val="64748b"/>
                </a:solidFill>
                <a:latin typeface="NanumBarunGothic"/>
                <a:ea typeface="NanumBarunGothic"/>
                <a:cs typeface="NanumBarunGothic"/>
              </a:rPr>
              <a:t>초보자용 LLM 응용 개발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3100" b="1">
                <a:solidFill>
                  <a:srgbClr val="12314f"/>
                </a:solidFill>
                <a:latin typeface="NanumSquare"/>
                <a:ea typeface="NanumSquare"/>
                <a:cs typeface="NanumSquare"/>
              </a:rPr>
              <a:t>LLM 응용 개발이란?</a:t>
            </a:r>
            <a:endParaRPr lang="en-US" sz="310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064240" cy="0"/>
          </a:xfrm>
          <a:prstGeom prst="line">
            <a:avLst/>
          </a:prstGeom>
          <a:noFill/>
          <a:ln w="15240">
            <a:solidFill>
              <a:srgbClr val="dcebff"/>
            </a:solidFill>
            <a:prstDash val="solid"/>
          </a:ln>
        </p:spPr>
        <p:txBody>
          <a:bodyPr wrap="square"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r">
              <a:buNone/>
              <a:defRPr/>
            </a:pPr>
            <a:r>
              <a:rPr lang="en-US" sz="900">
                <a:solidFill>
                  <a:srgbClr val="9aa5b1"/>
                </a:solidFill>
                <a:latin typeface="NanumBarunGothic"/>
                <a:ea typeface="NanumBarunGothic"/>
                <a:cs typeface="NanumBarunGothic"/>
              </a:rPr>
              <a:t>3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502920"/>
          </a:xfrm>
          <a:prstGeom prst="rect">
            <a:avLst/>
          </a:prstGeom>
          <a:noFill/>
          <a:ln/>
        </p:spPr>
        <p:txBody>
          <a:bodyPr wrap="square" lIns="762" tIns="762" rIns="762" bIns="762" anchor="ctr">
            <a:normAutofit fontScale="85000" lnSpcReduction="10000"/>
          </a:bodyPr>
          <a:lstStyle/>
          <a:p>
            <a:pPr marL="0" lvl="0" indent="0" algn="l">
              <a:buNone/>
              <a:defRPr/>
            </a:pPr>
            <a:r>
              <a:rPr lang="en-US" sz="2400" b="1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모델을 새로 만드는 일이 아</a:t>
            </a:r>
            <a:r>
              <a:rPr lang="ko-KR" altLang="en-US" sz="2400" b="1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니고</a:t>
            </a:r>
            <a:r>
              <a:rPr lang="en-US" altLang="ko-KR" sz="2400" b="1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, </a:t>
            </a:r>
            <a:r>
              <a:rPr lang="en-US" sz="2400" b="1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이미 있는 LLM을 코드·데이터·웹 API와 연결하는 작업입니다.</a:t>
            </a:r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731520" y="2331720"/>
            <a:ext cx="438912" cy="438912"/>
          </a:xfrm>
          <a:prstGeom prst="rect">
            <a:avLst/>
          </a:prstGeom>
          <a:solidFill>
            <a:srgbClr val="246bfe"/>
          </a:solidFill>
          <a:ln>
            <a:solidFill>
              <a:srgbClr val="246bfe"/>
            </a:solidFill>
          </a:ln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1</a:t>
            </a:r>
            <a:endParaRPr lang="en-US" sz="1800"/>
          </a:p>
        </p:txBody>
      </p:sp>
      <p:sp>
        <p:nvSpPr>
          <p:cNvPr id="9" name="Text 7"/>
          <p:cNvSpPr/>
          <p:nvPr/>
        </p:nvSpPr>
        <p:spPr>
          <a:xfrm>
            <a:off x="1298448" y="232257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lnSpcReduction="10000"/>
          </a:bodyPr>
          <a:lstStyle/>
          <a:p>
            <a:pPr marL="0" lvl="0" indent="0">
              <a:buNone/>
              <a:defRPr/>
            </a:pPr>
            <a:r>
              <a:rPr lang="en-US" sz="2100" b="1">
                <a:solidFill>
                  <a:srgbClr val="12314f"/>
                </a:solidFill>
                <a:latin typeface="NanumSquare"/>
                <a:ea typeface="NanumSquare"/>
                <a:cs typeface="NanumSquare"/>
              </a:rPr>
              <a:t>입력 제어</a:t>
            </a:r>
            <a:endParaRPr lang="en-US" sz="2100"/>
          </a:p>
        </p:txBody>
      </p:sp>
      <p:sp>
        <p:nvSpPr>
          <p:cNvPr id="10" name="Text 8"/>
          <p:cNvSpPr/>
          <p:nvPr/>
        </p:nvSpPr>
        <p:spPr>
          <a:xfrm>
            <a:off x="1298448" y="3062665"/>
            <a:ext cx="2176272" cy="79552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 fontScale="77500" lnSpcReduction="20000"/>
          </a:bodyPr>
          <a:lstStyle/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사용자 질문을 정리하고</a:t>
            </a:r>
            <a:endParaRPr lang="en-US" sz="20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위험한 입력을 걸러낸다.</a:t>
            </a:r>
            <a:endParaRPr lang="en-US" sz="2000"/>
          </a:p>
        </p:txBody>
      </p:sp>
      <p:sp>
        <p:nvSpPr>
          <p:cNvPr id="11" name="Text 9"/>
          <p:cNvSpPr/>
          <p:nvPr/>
        </p:nvSpPr>
        <p:spPr>
          <a:xfrm>
            <a:off x="3611880" y="2331720"/>
            <a:ext cx="438912" cy="43891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2</a:t>
            </a:r>
            <a:endParaRPr lang="en-US" sz="1800"/>
          </a:p>
        </p:txBody>
      </p:sp>
      <p:sp>
        <p:nvSpPr>
          <p:cNvPr id="12" name="Text 10"/>
          <p:cNvSpPr/>
          <p:nvPr/>
        </p:nvSpPr>
        <p:spPr>
          <a:xfrm>
            <a:off x="4178808" y="232257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lnSpcReduction="10000"/>
          </a:bodyPr>
          <a:lstStyle/>
          <a:p>
            <a:pPr marL="0" lvl="0" indent="0">
              <a:buNone/>
              <a:defRPr/>
            </a:pPr>
            <a:r>
              <a:rPr lang="en-US" sz="2100" b="1">
                <a:solidFill>
                  <a:srgbClr val="12314f"/>
                </a:solidFill>
                <a:latin typeface="NanumSquare"/>
                <a:ea typeface="NanumSquare"/>
                <a:cs typeface="NanumSquare"/>
              </a:rPr>
              <a:t>모델 호출</a:t>
            </a:r>
            <a:endParaRPr lang="en-US" sz="2100"/>
          </a:p>
        </p:txBody>
      </p:sp>
      <p:sp>
        <p:nvSpPr>
          <p:cNvPr id="13" name="Text 11"/>
          <p:cNvSpPr/>
          <p:nvPr/>
        </p:nvSpPr>
        <p:spPr>
          <a:xfrm>
            <a:off x="4178808" y="3062665"/>
            <a:ext cx="2176272" cy="79552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/>
          </a:bodyPr>
          <a:lstStyle/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Ollama 또는 API로</a:t>
            </a:r>
            <a:endParaRPr lang="en-US" sz="20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LLM에게 지시한다.</a:t>
            </a:r>
            <a:endParaRPr lang="en-US" sz="2000"/>
          </a:p>
        </p:txBody>
      </p:sp>
      <p:sp>
        <p:nvSpPr>
          <p:cNvPr id="14" name="Text 12"/>
          <p:cNvSpPr/>
          <p:nvPr/>
        </p:nvSpPr>
        <p:spPr>
          <a:xfrm>
            <a:off x="6492240" y="2331720"/>
            <a:ext cx="438912" cy="438912"/>
          </a:xfrm>
          <a:prstGeom prst="rect">
            <a:avLst/>
          </a:prstGeom>
          <a:solidFill>
            <a:srgbClr val="00a7a5"/>
          </a:solidFill>
          <a:ln>
            <a:solidFill>
              <a:srgbClr val="00a7a5"/>
            </a:solidFill>
          </a:ln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3</a:t>
            </a:r>
            <a:endParaRPr lang="en-US" sz="1800"/>
          </a:p>
        </p:txBody>
      </p:sp>
      <p:sp>
        <p:nvSpPr>
          <p:cNvPr id="15" name="Text 13"/>
          <p:cNvSpPr/>
          <p:nvPr/>
        </p:nvSpPr>
        <p:spPr>
          <a:xfrm>
            <a:off x="7059168" y="232257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lnSpcReduction="10000"/>
          </a:bodyPr>
          <a:lstStyle/>
          <a:p>
            <a:pPr marL="0" lvl="0" indent="0">
              <a:buNone/>
              <a:defRPr/>
            </a:pPr>
            <a:r>
              <a:rPr lang="en-US" sz="2100" b="1">
                <a:solidFill>
                  <a:srgbClr val="12314f"/>
                </a:solidFill>
                <a:latin typeface="NanumSquare"/>
                <a:ea typeface="NanumSquare"/>
                <a:cs typeface="NanumSquare"/>
              </a:rPr>
              <a:t>문서 보강</a:t>
            </a:r>
            <a:endParaRPr lang="en-US" sz="2100"/>
          </a:p>
        </p:txBody>
      </p:sp>
      <p:sp>
        <p:nvSpPr>
          <p:cNvPr id="16" name="Text 14"/>
          <p:cNvSpPr/>
          <p:nvPr/>
        </p:nvSpPr>
        <p:spPr>
          <a:xfrm>
            <a:off x="7059168" y="3062665"/>
            <a:ext cx="2176272" cy="79552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/>
          </a:bodyPr>
          <a:lstStyle/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내 자료를 검색해</a:t>
            </a:r>
            <a:endParaRPr lang="en-US" sz="20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근거로 제공한다.</a:t>
            </a:r>
            <a:endParaRPr lang="en-US" sz="2000"/>
          </a:p>
        </p:txBody>
      </p:sp>
      <p:sp>
        <p:nvSpPr>
          <p:cNvPr id="17" name="Text 15"/>
          <p:cNvSpPr/>
          <p:nvPr/>
        </p:nvSpPr>
        <p:spPr>
          <a:xfrm>
            <a:off x="9372600" y="2331720"/>
            <a:ext cx="438912" cy="43891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4</a:t>
            </a:r>
            <a:endParaRPr lang="en-US" sz="1800"/>
          </a:p>
        </p:txBody>
      </p:sp>
      <p:sp>
        <p:nvSpPr>
          <p:cNvPr id="18" name="Text 16"/>
          <p:cNvSpPr/>
          <p:nvPr/>
        </p:nvSpPr>
        <p:spPr>
          <a:xfrm>
            <a:off x="9939528" y="2322576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lnSpcReduction="10000"/>
          </a:bodyPr>
          <a:lstStyle/>
          <a:p>
            <a:pPr marL="0" lvl="0" indent="0">
              <a:buNone/>
              <a:defRPr/>
            </a:pPr>
            <a:r>
              <a:rPr lang="en-US" sz="2100" b="1">
                <a:solidFill>
                  <a:srgbClr val="12314f"/>
                </a:solidFill>
                <a:latin typeface="NanumSquare"/>
                <a:ea typeface="NanumSquare"/>
                <a:cs typeface="NanumSquare"/>
              </a:rPr>
              <a:t>응답 검증</a:t>
            </a:r>
            <a:endParaRPr lang="en-US" sz="2100"/>
          </a:p>
        </p:txBody>
      </p:sp>
      <p:sp>
        <p:nvSpPr>
          <p:cNvPr id="19" name="Text 17"/>
          <p:cNvSpPr/>
          <p:nvPr/>
        </p:nvSpPr>
        <p:spPr>
          <a:xfrm>
            <a:off x="9939528" y="3062665"/>
            <a:ext cx="1993392" cy="79552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 fontScale="92500" lnSpcReduction="10000"/>
          </a:bodyPr>
          <a:lstStyle/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형식·길이·오류를</a:t>
            </a:r>
            <a:endParaRPr lang="en-US" sz="20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서비스에 맞게 고친다.</a:t>
            </a:r>
            <a:endParaRPr lang="en-US" sz="2000"/>
          </a:p>
        </p:txBody>
      </p:sp>
      <p:sp>
        <p:nvSpPr>
          <p:cNvPr id="20" name="Text 18"/>
          <p:cNvSpPr/>
          <p:nvPr/>
        </p:nvSpPr>
        <p:spPr>
          <a:xfrm>
            <a:off x="822960" y="4645152"/>
            <a:ext cx="2377440" cy="384048"/>
          </a:xfrm>
          <a:prstGeom prst="rect">
            <a:avLst/>
          </a:prstGeom>
          <a:noFill/>
          <a:ln/>
        </p:spPr>
        <p:txBody>
          <a:bodyPr wrap="square" lIns="762" tIns="762" rIns="762" bIns="762" anchor="ctr">
            <a:normAutofit lnSpcReduction="10000"/>
          </a:bodyPr>
          <a:lstStyle/>
          <a:p>
            <a:pPr marL="0" lvl="0" indent="0" algn="l">
              <a:buNone/>
              <a:defRPr/>
            </a:pPr>
            <a:r>
              <a:rPr lang="en-US" sz="2200" b="1">
                <a:solidFill>
                  <a:srgbClr val="246bfe"/>
                </a:solidFill>
                <a:latin typeface="NanumBarunGothic"/>
                <a:ea typeface="NanumBarunGothic"/>
                <a:cs typeface="NanumBarunGothic"/>
              </a:rPr>
              <a:t>개발자의 핵심 역할</a:t>
            </a:r>
            <a:endParaRPr lang="en-US" sz="2200"/>
          </a:p>
        </p:txBody>
      </p:sp>
      <p:sp>
        <p:nvSpPr>
          <p:cNvPr id="21" name="Text 19"/>
          <p:cNvSpPr/>
          <p:nvPr/>
        </p:nvSpPr>
        <p:spPr>
          <a:xfrm>
            <a:off x="3291840" y="4517136"/>
            <a:ext cx="7955280" cy="1051560"/>
          </a:xfrm>
          <a:prstGeom prst="rect">
            <a:avLst/>
          </a:prstGeom>
          <a:noFill/>
          <a:ln/>
        </p:spPr>
        <p:txBody>
          <a:bodyPr wrap="square" lIns="1016" tIns="1016" rIns="1016" bIns="1016" anchor="t">
            <a:normAutofit lnSpcReduction="10000"/>
          </a:bodyPr>
          <a:lstStyle/>
          <a:p>
            <a:pPr marL="0" lvl="0" indent="0">
              <a:buNone/>
              <a:defRPr/>
            </a:pPr>
            <a:r>
              <a:rPr lang="en-US" sz="23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• 모델을 믿고 방치하지 않는다</a:t>
            </a:r>
            <a:endParaRPr lang="en-US" sz="23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3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• 입력·프롬프트·출력 형식을 제어한다</a:t>
            </a:r>
            <a:endParaRPr lang="en-US" sz="23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3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• 필요한 지식을 문서로 보강한다</a:t>
            </a:r>
            <a:endParaRPr lang="en-US" sz="23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4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>
                <a:solidFill>
                  <a:srgbClr val="64748b"/>
                </a:solidFill>
                <a:latin typeface="NanumBarunGothic"/>
                <a:ea typeface="NanumBarunGothic"/>
                <a:cs typeface="NanumBarunGothic"/>
              </a:rPr>
              <a:t>초보자용 LLM 응용 개발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ko-KR" altLang="en-US" sz="3100" b="1">
                <a:solidFill>
                  <a:srgbClr val="12314f"/>
                </a:solidFill>
                <a:latin typeface="NanumSquare"/>
                <a:ea typeface="NanumSquare"/>
                <a:cs typeface="NanumSquare"/>
              </a:rPr>
              <a:t>개발</a:t>
            </a:r>
            <a:r>
              <a:rPr lang="en-US" sz="3100" b="1">
                <a:solidFill>
                  <a:srgbClr val="12314f"/>
                </a:solidFill>
                <a:latin typeface="NanumSquare"/>
                <a:ea typeface="NanumSquare"/>
                <a:cs typeface="NanumSquare"/>
              </a:rPr>
              <a:t>자 학습 순서</a:t>
            </a:r>
            <a:endParaRPr lang="en-US" sz="3100" b="1">
              <a:solidFill>
                <a:srgbClr val="12314f"/>
              </a:solidFill>
              <a:latin typeface="NanumSquare"/>
              <a:ea typeface="NanumSquare"/>
              <a:cs typeface="NanumSquare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064240" cy="0"/>
          </a:xfrm>
          <a:prstGeom prst="line">
            <a:avLst/>
          </a:prstGeom>
          <a:noFill/>
          <a:ln w="15240">
            <a:solidFill>
              <a:srgbClr val="dcebff"/>
            </a:solidFill>
            <a:prstDash val="solid"/>
          </a:ln>
        </p:spPr>
        <p:txBody>
          <a:bodyPr wrap="square"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r">
              <a:buNone/>
              <a:defRPr/>
            </a:pPr>
            <a:r>
              <a:rPr lang="en-US" sz="900">
                <a:solidFill>
                  <a:srgbClr val="9aa5b1"/>
                </a:solidFill>
                <a:latin typeface="NanumBarunGothic"/>
                <a:ea typeface="NanumBarunGothic"/>
                <a:cs typeface="NanumBarunGothic"/>
              </a:rPr>
              <a:t>4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685800" y="1389888"/>
            <a:ext cx="10789920" cy="411480"/>
          </a:xfrm>
          <a:prstGeom prst="rect">
            <a:avLst/>
          </a:prstGeom>
          <a:noFill/>
          <a:ln/>
        </p:spPr>
        <p:txBody>
          <a:bodyPr wrap="square" lIns="762" tIns="762" rIns="762" bIns="762" anchor="ctr">
            <a:normAutofit/>
          </a:bodyPr>
          <a:lstStyle/>
          <a:p>
            <a:pPr marL="0" lvl="0" indent="0" algn="l">
              <a:buNone/>
              <a:defRPr/>
            </a:pPr>
            <a:r>
              <a:rPr lang="en-US" sz="2400" b="1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한 번에 큰 챗봇을 만들지 말고, 성공 지점을 하나씩 쌓아갑니다.</a:t>
            </a:r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685800" y="2148840"/>
            <a:ext cx="438912" cy="438912"/>
          </a:xfrm>
          <a:prstGeom prst="rect">
            <a:avLst/>
          </a:prstGeom>
          <a:solidFill>
            <a:srgbClr val="246bfe"/>
          </a:solidFill>
          <a:ln>
            <a:solidFill>
              <a:srgbClr val="246bfe"/>
            </a:solidFill>
          </a:ln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1</a:t>
            </a:r>
            <a:endParaRPr lang="en-US" sz="1800"/>
          </a:p>
        </p:txBody>
      </p:sp>
      <p:sp>
        <p:nvSpPr>
          <p:cNvPr id="9" name="Text 7"/>
          <p:cNvSpPr/>
          <p:nvPr/>
        </p:nvSpPr>
        <p:spPr>
          <a:xfrm>
            <a:off x="1252728" y="213969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lnSpcReduction="10000"/>
          </a:bodyPr>
          <a:lstStyle/>
          <a:p>
            <a:pPr marL="0" lvl="0" indent="0">
              <a:buNone/>
              <a:defRPr/>
            </a:pPr>
            <a:r>
              <a:rPr lang="en-US" sz="2100" b="1">
                <a:solidFill>
                  <a:srgbClr val="12314f"/>
                </a:solidFill>
                <a:latin typeface="NanumSquare"/>
                <a:ea typeface="NanumSquare"/>
                <a:cs typeface="NanumSquare"/>
              </a:rPr>
              <a:t>Python 단독 호출</a:t>
            </a:r>
            <a:endParaRPr lang="en-US" sz="2100"/>
          </a:p>
        </p:txBody>
      </p:sp>
      <p:sp>
        <p:nvSpPr>
          <p:cNvPr id="10" name="Text 8"/>
          <p:cNvSpPr/>
          <p:nvPr/>
        </p:nvSpPr>
        <p:spPr>
          <a:xfrm>
            <a:off x="1252728" y="2805648"/>
            <a:ext cx="2176272" cy="74980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/>
          </a:bodyPr>
          <a:lstStyle/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가장 작은 함수로</a:t>
            </a:r>
            <a:endParaRPr lang="en-US" sz="20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LLM 응답 받기</a:t>
            </a:r>
            <a:endParaRPr lang="en-US" sz="2000"/>
          </a:p>
        </p:txBody>
      </p:sp>
      <p:sp>
        <p:nvSpPr>
          <p:cNvPr id="11" name="Text 9"/>
          <p:cNvSpPr/>
          <p:nvPr/>
        </p:nvSpPr>
        <p:spPr>
          <a:xfrm>
            <a:off x="3611880" y="2148840"/>
            <a:ext cx="438912" cy="43891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2</a:t>
            </a:r>
            <a:endParaRPr lang="en-US" sz="1800"/>
          </a:p>
        </p:txBody>
      </p:sp>
      <p:sp>
        <p:nvSpPr>
          <p:cNvPr id="12" name="Text 10"/>
          <p:cNvSpPr/>
          <p:nvPr/>
        </p:nvSpPr>
        <p:spPr>
          <a:xfrm>
            <a:off x="4178808" y="213969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lnSpcReduction="10000"/>
          </a:bodyPr>
          <a:lstStyle/>
          <a:p>
            <a:pPr marL="0" lvl="0" indent="0">
              <a:buNone/>
              <a:defRPr/>
            </a:pPr>
            <a:r>
              <a:rPr lang="en-US" sz="2100" b="1">
                <a:solidFill>
                  <a:srgbClr val="12314f"/>
                </a:solidFill>
                <a:latin typeface="NanumSquare"/>
                <a:ea typeface="NanumSquare"/>
                <a:cs typeface="NanumSquare"/>
              </a:rPr>
              <a:t>Flask API</a:t>
            </a:r>
            <a:endParaRPr lang="en-US" sz="2100"/>
          </a:p>
        </p:txBody>
      </p:sp>
      <p:sp>
        <p:nvSpPr>
          <p:cNvPr id="13" name="Text 11"/>
          <p:cNvSpPr/>
          <p:nvPr/>
        </p:nvSpPr>
        <p:spPr>
          <a:xfrm>
            <a:off x="4178808" y="2805648"/>
            <a:ext cx="2176272" cy="74980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 lnSpcReduction="10000"/>
          </a:bodyPr>
          <a:lstStyle/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/chat 주소로</a:t>
            </a:r>
            <a:endParaRPr lang="en-US" sz="20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질문·답변 주고받기</a:t>
            </a:r>
            <a:endParaRPr lang="en-US" sz="2000"/>
          </a:p>
        </p:txBody>
      </p:sp>
      <p:sp>
        <p:nvSpPr>
          <p:cNvPr id="14" name="Text 12"/>
          <p:cNvSpPr/>
          <p:nvPr/>
        </p:nvSpPr>
        <p:spPr>
          <a:xfrm>
            <a:off x="6537960" y="2148840"/>
            <a:ext cx="438912" cy="438912"/>
          </a:xfrm>
          <a:prstGeom prst="rect">
            <a:avLst/>
          </a:prstGeom>
          <a:solidFill>
            <a:srgbClr val="00a7a5"/>
          </a:solidFill>
          <a:ln>
            <a:solidFill>
              <a:srgbClr val="00a7a5"/>
            </a:solidFill>
          </a:ln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3</a:t>
            </a:r>
            <a:endParaRPr lang="en-US" sz="1800"/>
          </a:p>
        </p:txBody>
      </p:sp>
      <p:sp>
        <p:nvSpPr>
          <p:cNvPr id="15" name="Text 13"/>
          <p:cNvSpPr/>
          <p:nvPr/>
        </p:nvSpPr>
        <p:spPr>
          <a:xfrm>
            <a:off x="7104888" y="213969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fontScale="92500"/>
          </a:bodyPr>
          <a:lstStyle/>
          <a:p>
            <a:pPr marL="0" lvl="0" indent="0">
              <a:buNone/>
              <a:defRPr/>
            </a:pPr>
            <a:r>
              <a:rPr lang="en-US" sz="2100" b="1">
                <a:solidFill>
                  <a:srgbClr val="12314f"/>
                </a:solidFill>
                <a:latin typeface="NanumSquare"/>
                <a:ea typeface="NanumSquare"/>
                <a:cs typeface="NanumSquare"/>
              </a:rPr>
              <a:t>LangChain Chain</a:t>
            </a:r>
            <a:endParaRPr lang="en-US" sz="2100"/>
          </a:p>
        </p:txBody>
      </p:sp>
      <p:sp>
        <p:nvSpPr>
          <p:cNvPr id="16" name="Text 14"/>
          <p:cNvSpPr/>
          <p:nvPr/>
        </p:nvSpPr>
        <p:spPr>
          <a:xfrm>
            <a:off x="7104888" y="2805648"/>
            <a:ext cx="2176272" cy="74980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/>
          </a:bodyPr>
          <a:lstStyle/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Prompt와 LLM을</a:t>
            </a:r>
            <a:endParaRPr lang="en-US" sz="20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표준 흐름으로 연결</a:t>
            </a:r>
            <a:endParaRPr lang="en-US" sz="2000"/>
          </a:p>
        </p:txBody>
      </p:sp>
      <p:sp>
        <p:nvSpPr>
          <p:cNvPr id="17" name="Text 15"/>
          <p:cNvSpPr/>
          <p:nvPr/>
        </p:nvSpPr>
        <p:spPr>
          <a:xfrm>
            <a:off x="9464040" y="2148840"/>
            <a:ext cx="438912" cy="43891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4</a:t>
            </a:r>
            <a:endParaRPr lang="en-US" sz="1800"/>
          </a:p>
        </p:txBody>
      </p:sp>
      <p:sp>
        <p:nvSpPr>
          <p:cNvPr id="18" name="Text 16"/>
          <p:cNvSpPr/>
          <p:nvPr/>
        </p:nvSpPr>
        <p:spPr>
          <a:xfrm>
            <a:off x="10030968" y="2139696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lnSpcReduction="10000"/>
          </a:bodyPr>
          <a:lstStyle/>
          <a:p>
            <a:pPr marL="0" lvl="0" indent="0">
              <a:buNone/>
              <a:defRPr/>
            </a:pPr>
            <a:r>
              <a:rPr lang="en-US" sz="2100" b="1">
                <a:solidFill>
                  <a:srgbClr val="12314f"/>
                </a:solidFill>
                <a:latin typeface="NanumSquare"/>
                <a:ea typeface="NanumSquare"/>
                <a:cs typeface="NanumSquare"/>
              </a:rPr>
              <a:t>RAG</a:t>
            </a:r>
            <a:endParaRPr lang="en-US" sz="2100"/>
          </a:p>
        </p:txBody>
      </p:sp>
      <p:sp>
        <p:nvSpPr>
          <p:cNvPr id="19" name="Text 17"/>
          <p:cNvSpPr/>
          <p:nvPr/>
        </p:nvSpPr>
        <p:spPr>
          <a:xfrm>
            <a:off x="10030967" y="2805648"/>
            <a:ext cx="1905659" cy="74980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 lnSpcReduction="10000"/>
          </a:bodyPr>
          <a:lstStyle/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내 문서를 검색해</a:t>
            </a:r>
            <a:endParaRPr lang="en-US" sz="20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근거 기반 답변</a:t>
            </a:r>
            <a:endParaRPr lang="en-US" sz="2000"/>
          </a:p>
        </p:txBody>
      </p:sp>
      <p:sp>
        <p:nvSpPr>
          <p:cNvPr id="20" name="Text 18"/>
          <p:cNvSpPr/>
          <p:nvPr/>
        </p:nvSpPr>
        <p:spPr>
          <a:xfrm>
            <a:off x="822960" y="4709160"/>
            <a:ext cx="10424160" cy="658368"/>
          </a:xfrm>
          <a:prstGeom prst="rect">
            <a:avLst/>
          </a:prstGeom>
          <a:solidFill>
            <a:srgbClr val="eaf2ff"/>
          </a:solidFill>
          <a:ln w="10160">
            <a:solidFill>
              <a:srgbClr val="eaf2ff"/>
            </a:solidFill>
          </a:ln>
        </p:spPr>
        <p:txBody>
          <a:bodyPr wrap="square" lIns="762" tIns="762" rIns="762" bIns="762" anchor="ctr">
            <a:normAutofit/>
          </a:bodyPr>
          <a:lstStyle/>
          <a:p>
            <a:pPr marL="0" lvl="0" indent="0" algn="ctr">
              <a:buNone/>
              <a:defRPr/>
            </a:pPr>
            <a:r>
              <a:rPr lang="en-US" sz="2800" b="1">
                <a:solidFill>
                  <a:srgbClr val="12314f"/>
                </a:solidFill>
                <a:latin typeface="NanumBarunGothic"/>
                <a:ea typeface="NanumBarunGothic"/>
                <a:cs typeface="NanumBarunGothic"/>
              </a:rPr>
              <a:t>권장 실습 결과물</a:t>
            </a:r>
            <a:endParaRPr lang="en-US" sz="2800"/>
          </a:p>
        </p:txBody>
      </p:sp>
      <p:sp>
        <p:nvSpPr>
          <p:cNvPr id="21" name="Text 19"/>
          <p:cNvSpPr/>
          <p:nvPr/>
        </p:nvSpPr>
        <p:spPr>
          <a:xfrm>
            <a:off x="1143000" y="5468112"/>
            <a:ext cx="9784080" cy="438912"/>
          </a:xfrm>
          <a:prstGeom prst="rect">
            <a:avLst/>
          </a:prstGeom>
          <a:noFill/>
          <a:ln/>
        </p:spPr>
        <p:txBody>
          <a:bodyPr wrap="square" lIns="762" tIns="762" rIns="762" bIns="762" anchor="ctr">
            <a:normAutofit/>
          </a:bodyPr>
          <a:lstStyle/>
          <a:p>
            <a:pPr marL="0" lvl="0" indent="0" algn="ctr">
              <a:buNone/>
              <a:defRPr/>
            </a:pPr>
            <a:r>
              <a:rPr lang="en-US" sz="2500" b="1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“내가 넣은 txt 문서만 근거로 답하는 간단한 웹 API”</a:t>
            </a:r>
            <a:endParaRPr lang="en-US" sz="25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5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>
                <a:solidFill>
                  <a:srgbClr val="64748b"/>
                </a:solidFill>
                <a:latin typeface="NanumBarunGothic"/>
                <a:ea typeface="NanumBarunGothic"/>
                <a:cs typeface="NanumBarunGothic"/>
              </a:rPr>
              <a:t>초보자용 LLM 응용 개발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3100" b="1">
                <a:solidFill>
                  <a:srgbClr val="12314f"/>
                </a:solidFill>
                <a:latin typeface="NanumSquare"/>
                <a:ea typeface="NanumSquare"/>
                <a:cs typeface="NanumSquare"/>
              </a:rPr>
              <a:t>개발 환경 준비</a:t>
            </a:r>
            <a:endParaRPr lang="en-US" sz="310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064240" cy="0"/>
          </a:xfrm>
          <a:prstGeom prst="line">
            <a:avLst/>
          </a:prstGeom>
          <a:noFill/>
          <a:ln w="15240">
            <a:solidFill>
              <a:srgbClr val="dcebff"/>
            </a:solidFill>
            <a:prstDash val="solid"/>
          </a:ln>
        </p:spPr>
        <p:txBody>
          <a:bodyPr wrap="square"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r">
              <a:buNone/>
              <a:defRPr/>
            </a:pPr>
            <a:r>
              <a:rPr lang="en-US" sz="900">
                <a:solidFill>
                  <a:srgbClr val="9aa5b1"/>
                </a:solidFill>
                <a:latin typeface="NanumBarunGothic"/>
                <a:ea typeface="NanumBarunGothic"/>
                <a:cs typeface="NanumBarunGothic"/>
              </a:rPr>
              <a:t>5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411480"/>
          </a:xfrm>
          <a:prstGeom prst="rect">
            <a:avLst/>
          </a:prstGeom>
          <a:noFill/>
          <a:ln/>
        </p:spPr>
        <p:txBody>
          <a:bodyPr wrap="square" lIns="762" tIns="762" rIns="762" bIns="762" anchor="ctr">
            <a:normAutofit/>
          </a:bodyPr>
          <a:lstStyle/>
          <a:p>
            <a:pPr marL="0" lvl="0" indent="0" algn="l">
              <a:buNone/>
              <a:defRPr/>
            </a:pPr>
            <a:r>
              <a:rPr lang="ko-KR" altLang="en-US" sz="2400" b="1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개발</a:t>
            </a:r>
            <a:r>
              <a:rPr lang="en-US" sz="2400" b="1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자는 먼저 로컬에서 실행되는 최소 환경을 맞춥니다.</a:t>
            </a:r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822960" y="2310765"/>
            <a:ext cx="438912" cy="438912"/>
          </a:xfrm>
          <a:prstGeom prst="rect">
            <a:avLst/>
          </a:prstGeom>
          <a:solidFill>
            <a:srgbClr val="246bfe"/>
          </a:solidFill>
          <a:ln>
            <a:solidFill>
              <a:srgbClr val="246bfe"/>
            </a:solidFill>
          </a:ln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1</a:t>
            </a:r>
            <a:endParaRPr lang="en-US" sz="1800"/>
          </a:p>
        </p:txBody>
      </p:sp>
      <p:sp>
        <p:nvSpPr>
          <p:cNvPr id="9" name="Text 7"/>
          <p:cNvSpPr/>
          <p:nvPr/>
        </p:nvSpPr>
        <p:spPr>
          <a:xfrm>
            <a:off x="1389888" y="2301621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lnSpcReduction="10000"/>
          </a:bodyPr>
          <a:lstStyle/>
          <a:p>
            <a:pPr marL="0" lvl="0" indent="0">
              <a:buNone/>
              <a:defRPr/>
            </a:pPr>
            <a:r>
              <a:rPr lang="en-US" sz="2100" b="1">
                <a:solidFill>
                  <a:srgbClr val="12314f"/>
                </a:solidFill>
                <a:latin typeface="NanumSquare"/>
                <a:ea typeface="NanumSquare"/>
                <a:cs typeface="NanumSquare"/>
              </a:rPr>
              <a:t>Python</a:t>
            </a:r>
            <a:endParaRPr lang="en-US" sz="2100"/>
          </a:p>
        </p:txBody>
      </p:sp>
      <p:sp>
        <p:nvSpPr>
          <p:cNvPr id="10" name="Text 8"/>
          <p:cNvSpPr/>
          <p:nvPr/>
        </p:nvSpPr>
        <p:spPr>
          <a:xfrm>
            <a:off x="1389888" y="2909906"/>
            <a:ext cx="1993392" cy="61264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/>
          </a:bodyPr>
          <a:lstStyle/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가상환경</a:t>
            </a:r>
            <a:endParaRPr lang="en-US" sz="20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pip 설치</a:t>
            </a:r>
            <a:endParaRPr lang="en-US" sz="2000"/>
          </a:p>
        </p:txBody>
      </p:sp>
      <p:sp>
        <p:nvSpPr>
          <p:cNvPr id="11" name="Text 9"/>
          <p:cNvSpPr/>
          <p:nvPr/>
        </p:nvSpPr>
        <p:spPr>
          <a:xfrm>
            <a:off x="3611880" y="2310765"/>
            <a:ext cx="438912" cy="43891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2</a:t>
            </a:r>
            <a:endParaRPr lang="en-US" sz="1800"/>
          </a:p>
        </p:txBody>
      </p:sp>
      <p:sp>
        <p:nvSpPr>
          <p:cNvPr id="12" name="Text 10"/>
          <p:cNvSpPr/>
          <p:nvPr/>
        </p:nvSpPr>
        <p:spPr>
          <a:xfrm>
            <a:off x="4178808" y="2301621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lnSpcReduction="10000"/>
          </a:bodyPr>
          <a:lstStyle/>
          <a:p>
            <a:pPr marL="0" lvl="0" indent="0">
              <a:buNone/>
              <a:defRPr/>
            </a:pPr>
            <a:r>
              <a:rPr lang="en-US" sz="2100" b="1">
                <a:solidFill>
                  <a:srgbClr val="12314f"/>
                </a:solidFill>
                <a:latin typeface="NanumSquare"/>
                <a:ea typeface="NanumSquare"/>
                <a:cs typeface="NanumSquare"/>
              </a:rPr>
              <a:t>Ollama</a:t>
            </a:r>
            <a:endParaRPr lang="en-US" sz="2100"/>
          </a:p>
        </p:txBody>
      </p:sp>
      <p:sp>
        <p:nvSpPr>
          <p:cNvPr id="13" name="Text 11"/>
          <p:cNvSpPr/>
          <p:nvPr/>
        </p:nvSpPr>
        <p:spPr>
          <a:xfrm>
            <a:off x="4178808" y="2909906"/>
            <a:ext cx="1993392" cy="61264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/>
          </a:bodyPr>
          <a:lstStyle/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로컬 LLM 서버</a:t>
            </a:r>
            <a:endParaRPr lang="en-US" sz="20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11434 포트</a:t>
            </a:r>
            <a:endParaRPr lang="en-US" sz="2000"/>
          </a:p>
        </p:txBody>
      </p:sp>
      <p:sp>
        <p:nvSpPr>
          <p:cNvPr id="14" name="Text 12"/>
          <p:cNvSpPr/>
          <p:nvPr/>
        </p:nvSpPr>
        <p:spPr>
          <a:xfrm>
            <a:off x="6400800" y="2310765"/>
            <a:ext cx="438912" cy="438912"/>
          </a:xfrm>
          <a:prstGeom prst="rect">
            <a:avLst/>
          </a:prstGeom>
          <a:solidFill>
            <a:srgbClr val="00a7a5"/>
          </a:solidFill>
          <a:ln>
            <a:solidFill>
              <a:srgbClr val="00a7a5"/>
            </a:solidFill>
          </a:ln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3</a:t>
            </a:r>
            <a:endParaRPr lang="en-US" sz="1800"/>
          </a:p>
        </p:txBody>
      </p:sp>
      <p:sp>
        <p:nvSpPr>
          <p:cNvPr id="15" name="Text 13"/>
          <p:cNvSpPr/>
          <p:nvPr/>
        </p:nvSpPr>
        <p:spPr>
          <a:xfrm>
            <a:off x="6967728" y="2301621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lnSpcReduction="10000"/>
          </a:bodyPr>
          <a:lstStyle/>
          <a:p>
            <a:pPr marL="0" lvl="0" indent="0">
              <a:buNone/>
              <a:defRPr/>
            </a:pPr>
            <a:r>
              <a:rPr lang="en-US" sz="2100" b="1">
                <a:solidFill>
                  <a:srgbClr val="12314f"/>
                </a:solidFill>
                <a:latin typeface="NanumSquare"/>
                <a:ea typeface="NanumSquare"/>
                <a:cs typeface="NanumSquare"/>
              </a:rPr>
              <a:t>모델</a:t>
            </a:r>
            <a:endParaRPr lang="en-US" sz="2100"/>
          </a:p>
        </p:txBody>
      </p:sp>
      <p:sp>
        <p:nvSpPr>
          <p:cNvPr id="16" name="Text 14"/>
          <p:cNvSpPr/>
          <p:nvPr/>
        </p:nvSpPr>
        <p:spPr>
          <a:xfrm>
            <a:off x="6967728" y="2909906"/>
            <a:ext cx="1993392" cy="61264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 fontScale="92500"/>
          </a:bodyPr>
          <a:lstStyle/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qwen2.5:7b</a:t>
            </a:r>
            <a:endParaRPr lang="en-US" sz="20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nomic-embed-text</a:t>
            </a:r>
            <a:endParaRPr lang="en-US" sz="2000"/>
          </a:p>
        </p:txBody>
      </p:sp>
      <p:sp>
        <p:nvSpPr>
          <p:cNvPr id="17" name="Text 15"/>
          <p:cNvSpPr/>
          <p:nvPr/>
        </p:nvSpPr>
        <p:spPr>
          <a:xfrm>
            <a:off x="9189720" y="2310765"/>
            <a:ext cx="438912" cy="43891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4</a:t>
            </a:r>
            <a:endParaRPr lang="en-US" sz="1800"/>
          </a:p>
        </p:txBody>
      </p:sp>
      <p:sp>
        <p:nvSpPr>
          <p:cNvPr id="18" name="Text 16"/>
          <p:cNvSpPr/>
          <p:nvPr/>
        </p:nvSpPr>
        <p:spPr>
          <a:xfrm>
            <a:off x="9756648" y="2301621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lnSpcReduction="10000"/>
          </a:bodyPr>
          <a:lstStyle/>
          <a:p>
            <a:pPr marL="0" lvl="0" indent="0">
              <a:buNone/>
              <a:defRPr/>
            </a:pPr>
            <a:r>
              <a:rPr lang="en-US" sz="2100" b="1">
                <a:solidFill>
                  <a:srgbClr val="12314f"/>
                </a:solidFill>
                <a:latin typeface="NanumSquare"/>
                <a:ea typeface="NanumSquare"/>
                <a:cs typeface="NanumSquare"/>
              </a:rPr>
              <a:t>라이브러리</a:t>
            </a:r>
            <a:endParaRPr lang="en-US" sz="2100"/>
          </a:p>
        </p:txBody>
      </p:sp>
      <p:sp>
        <p:nvSpPr>
          <p:cNvPr id="19" name="Text 17"/>
          <p:cNvSpPr/>
          <p:nvPr/>
        </p:nvSpPr>
        <p:spPr>
          <a:xfrm>
            <a:off x="9756648" y="2909906"/>
            <a:ext cx="1993392" cy="61264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/>
          </a:bodyPr>
          <a:lstStyle/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requests · flask</a:t>
            </a:r>
            <a:endParaRPr lang="en-US" sz="20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langchain · faiss</a:t>
            </a:r>
            <a:endParaRPr lang="en-US" sz="2000"/>
          </a:p>
        </p:txBody>
      </p:sp>
      <p:sp>
        <p:nvSpPr>
          <p:cNvPr id="20" name="Text 18"/>
          <p:cNvSpPr/>
          <p:nvPr/>
        </p:nvSpPr>
        <p:spPr>
          <a:xfrm>
            <a:off x="822960" y="4596765"/>
            <a:ext cx="2743200" cy="347472"/>
          </a:xfrm>
          <a:prstGeom prst="rect">
            <a:avLst/>
          </a:prstGeom>
          <a:noFill/>
          <a:ln/>
        </p:spPr>
        <p:txBody>
          <a:bodyPr wrap="square" lIns="762" tIns="762" rIns="762" bIns="762" anchor="ctr">
            <a:normAutofit lnSpcReduction="10000"/>
          </a:bodyPr>
          <a:lstStyle/>
          <a:p>
            <a:pPr marL="0" lvl="0" indent="0" algn="l">
              <a:buNone/>
              <a:defRPr/>
            </a:pPr>
            <a:r>
              <a:rPr lang="en-US" sz="2300" b="1">
                <a:solidFill>
                  <a:srgbClr val="246bfe"/>
                </a:solidFill>
                <a:latin typeface="NanumBarunGothic"/>
                <a:ea typeface="NanumBarunGothic"/>
                <a:cs typeface="NanumBarunGothic"/>
              </a:rPr>
              <a:t>가장 먼저 확인할 것</a:t>
            </a:r>
            <a:endParaRPr lang="en-US" sz="2300"/>
          </a:p>
        </p:txBody>
      </p:sp>
      <p:sp>
        <p:nvSpPr>
          <p:cNvPr id="21" name="Text 19"/>
          <p:cNvSpPr/>
          <p:nvPr/>
        </p:nvSpPr>
        <p:spPr>
          <a:xfrm>
            <a:off x="3657600" y="4413885"/>
            <a:ext cx="7406640" cy="1417320"/>
          </a:xfrm>
          <a:prstGeom prst="rect">
            <a:avLst/>
          </a:prstGeom>
          <a:noFill/>
          <a:ln/>
        </p:spPr>
        <p:txBody>
          <a:bodyPr wrap="square" lIns="1016" tIns="1016" rIns="1016" bIns="1016" anchor="t">
            <a:normAutofit/>
          </a:bodyPr>
          <a:lstStyle/>
          <a:p>
            <a:pPr marL="0" lvl="0" indent="0">
              <a:buNone/>
              <a:defRPr/>
            </a:pPr>
            <a:r>
              <a:rPr lang="en-US" sz="22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• Ollama가 실행 중인가?</a:t>
            </a:r>
            <a:endParaRPr lang="en-US" sz="22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2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• 코드의 model 이름이 실제 모델명과 같은가?</a:t>
            </a:r>
            <a:endParaRPr lang="en-US" sz="22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2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• data 폴더에 .txt 문서가 있는가?</a:t>
            </a:r>
            <a:endParaRPr lang="en-US" sz="22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2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• 인덱싱을 먼저 실행했는가?</a:t>
            </a:r>
            <a:endParaRPr lang="en-US" sz="2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6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>
                <a:solidFill>
                  <a:srgbClr val="64748b"/>
                </a:solidFill>
                <a:latin typeface="NanumBarunGothic"/>
                <a:ea typeface="NanumBarunGothic"/>
                <a:cs typeface="NanumBarunGothic"/>
              </a:rPr>
              <a:t>초보자용 LLM 응용 개발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3100" b="1">
                <a:solidFill>
                  <a:srgbClr val="12314f"/>
                </a:solidFill>
                <a:latin typeface="NanumSquare"/>
                <a:ea typeface="NanumSquare"/>
                <a:cs typeface="NanumSquare"/>
              </a:rPr>
              <a:t>1단계: Ollama API 호출</a:t>
            </a:r>
            <a:endParaRPr lang="en-US" sz="310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064240" cy="0"/>
          </a:xfrm>
          <a:prstGeom prst="line">
            <a:avLst/>
          </a:prstGeom>
          <a:noFill/>
          <a:ln w="15240">
            <a:solidFill>
              <a:srgbClr val="dcebff"/>
            </a:solidFill>
            <a:prstDash val="solid"/>
          </a:ln>
        </p:spPr>
        <p:txBody>
          <a:bodyPr wrap="square"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r">
              <a:buNone/>
              <a:defRPr/>
            </a:pPr>
            <a:r>
              <a:rPr lang="en-US" sz="900">
                <a:solidFill>
                  <a:srgbClr val="9aa5b1"/>
                </a:solidFill>
                <a:latin typeface="NanumBarunGothic"/>
                <a:ea typeface="NanumBarunGothic"/>
                <a:cs typeface="NanumBarunGothic"/>
              </a:rPr>
              <a:t>6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411480"/>
          </a:xfrm>
          <a:prstGeom prst="rect">
            <a:avLst/>
          </a:prstGeom>
          <a:noFill/>
          <a:ln/>
        </p:spPr>
        <p:txBody>
          <a:bodyPr wrap="square" lIns="762" tIns="762" rIns="762" bIns="762" anchor="ctr">
            <a:normAutofit/>
          </a:bodyPr>
          <a:lstStyle/>
          <a:p>
            <a:pPr marL="0" lvl="0" indent="0" algn="l">
              <a:buNone/>
              <a:defRPr/>
            </a:pPr>
            <a:r>
              <a:rPr lang="en-US" sz="2500" b="1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LLM은 “함수처럼 호출하는 웹 API”로 생각하면 쉽습니다.</a:t>
            </a:r>
            <a:endParaRPr lang="en-US" sz="2500"/>
          </a:p>
        </p:txBody>
      </p:sp>
      <p:sp>
        <p:nvSpPr>
          <p:cNvPr id="8" name="Text 6"/>
          <p:cNvSpPr/>
          <p:nvPr/>
        </p:nvSpPr>
        <p:spPr>
          <a:xfrm>
            <a:off x="1005840" y="2331720"/>
            <a:ext cx="438912" cy="438912"/>
          </a:xfrm>
          <a:prstGeom prst="rect">
            <a:avLst/>
          </a:prstGeom>
          <a:solidFill>
            <a:srgbClr val="246bfe"/>
          </a:solidFill>
          <a:ln>
            <a:solidFill>
              <a:srgbClr val="246bfe"/>
            </a:solidFill>
          </a:ln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1</a:t>
            </a:r>
            <a:endParaRPr lang="en-US" sz="1800"/>
          </a:p>
        </p:txBody>
      </p:sp>
      <p:sp>
        <p:nvSpPr>
          <p:cNvPr id="9" name="Text 7"/>
          <p:cNvSpPr/>
          <p:nvPr/>
        </p:nvSpPr>
        <p:spPr>
          <a:xfrm>
            <a:off x="1572768" y="2322576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lnSpcReduction="10000"/>
          </a:bodyPr>
          <a:lstStyle/>
          <a:p>
            <a:pPr marL="0" lvl="0" indent="0">
              <a:buNone/>
              <a:defRPr/>
            </a:pPr>
            <a:r>
              <a:rPr lang="en-US" sz="2100" b="1">
                <a:solidFill>
                  <a:srgbClr val="12314f"/>
                </a:solidFill>
                <a:latin typeface="NanumSquare"/>
                <a:ea typeface="NanumSquare"/>
                <a:cs typeface="NanumSquare"/>
              </a:rPr>
              <a:t>입력</a:t>
            </a:r>
            <a:endParaRPr lang="en-US" sz="2100"/>
          </a:p>
        </p:txBody>
      </p:sp>
      <p:sp>
        <p:nvSpPr>
          <p:cNvPr id="10" name="Text 8"/>
          <p:cNvSpPr/>
          <p:nvPr/>
        </p:nvSpPr>
        <p:spPr>
          <a:xfrm>
            <a:off x="1572768" y="2996766"/>
            <a:ext cx="1810512" cy="52120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 fontScale="92500" lnSpcReduction="10000"/>
          </a:bodyPr>
          <a:lstStyle/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prompt</a:t>
            </a:r>
            <a:endParaRPr lang="en-US" sz="20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사용자 질문</a:t>
            </a:r>
            <a:endParaRPr lang="en-US" sz="2000"/>
          </a:p>
        </p:txBody>
      </p:sp>
      <p:sp>
        <p:nvSpPr>
          <p:cNvPr id="11" name="Text 9"/>
          <p:cNvSpPr/>
          <p:nvPr/>
        </p:nvSpPr>
        <p:spPr>
          <a:xfrm>
            <a:off x="3749040" y="2331720"/>
            <a:ext cx="438912" cy="43891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2</a:t>
            </a:r>
            <a:endParaRPr lang="en-US" sz="1800"/>
          </a:p>
        </p:txBody>
      </p:sp>
      <p:sp>
        <p:nvSpPr>
          <p:cNvPr id="12" name="Text 10"/>
          <p:cNvSpPr/>
          <p:nvPr/>
        </p:nvSpPr>
        <p:spPr>
          <a:xfrm>
            <a:off x="4315968" y="2322576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lnSpcReduction="10000"/>
          </a:bodyPr>
          <a:lstStyle/>
          <a:p>
            <a:pPr marL="0" lvl="0" indent="0">
              <a:buNone/>
              <a:defRPr/>
            </a:pPr>
            <a:r>
              <a:rPr lang="en-US" sz="2100" b="1">
                <a:solidFill>
                  <a:srgbClr val="12314f"/>
                </a:solidFill>
                <a:latin typeface="NanumSquare"/>
                <a:ea typeface="NanumSquare"/>
                <a:cs typeface="NanumSquare"/>
              </a:rPr>
              <a:t>요청</a:t>
            </a:r>
            <a:endParaRPr lang="en-US" sz="2100"/>
          </a:p>
        </p:txBody>
      </p:sp>
      <p:sp>
        <p:nvSpPr>
          <p:cNvPr id="13" name="Text 11"/>
          <p:cNvSpPr/>
          <p:nvPr/>
        </p:nvSpPr>
        <p:spPr>
          <a:xfrm>
            <a:off x="4315968" y="2996766"/>
            <a:ext cx="1810512" cy="52120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 fontScale="92500" lnSpcReduction="10000"/>
          </a:bodyPr>
          <a:lstStyle/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POST</a:t>
            </a:r>
            <a:endParaRPr lang="en-US" sz="20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/api/generate</a:t>
            </a:r>
            <a:endParaRPr lang="en-US" sz="2000"/>
          </a:p>
        </p:txBody>
      </p:sp>
      <p:sp>
        <p:nvSpPr>
          <p:cNvPr id="14" name="Text 12"/>
          <p:cNvSpPr/>
          <p:nvPr/>
        </p:nvSpPr>
        <p:spPr>
          <a:xfrm>
            <a:off x="6492240" y="2331720"/>
            <a:ext cx="438912" cy="438912"/>
          </a:xfrm>
          <a:prstGeom prst="rect">
            <a:avLst/>
          </a:prstGeom>
          <a:solidFill>
            <a:srgbClr val="00a7a5"/>
          </a:solidFill>
          <a:ln>
            <a:solidFill>
              <a:srgbClr val="00a7a5"/>
            </a:solidFill>
          </a:ln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3</a:t>
            </a:r>
            <a:endParaRPr lang="en-US" sz="1800"/>
          </a:p>
        </p:txBody>
      </p:sp>
      <p:sp>
        <p:nvSpPr>
          <p:cNvPr id="15" name="Text 13"/>
          <p:cNvSpPr/>
          <p:nvPr/>
        </p:nvSpPr>
        <p:spPr>
          <a:xfrm>
            <a:off x="7059168" y="2322576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lnSpcReduction="10000"/>
          </a:bodyPr>
          <a:lstStyle/>
          <a:p>
            <a:pPr marL="0" lvl="0" indent="0">
              <a:buNone/>
              <a:defRPr/>
            </a:pPr>
            <a:r>
              <a:rPr lang="en-US" sz="2100" b="1">
                <a:solidFill>
                  <a:srgbClr val="12314f"/>
                </a:solidFill>
                <a:latin typeface="NanumSquare"/>
                <a:ea typeface="NanumSquare"/>
                <a:cs typeface="NanumSquare"/>
              </a:rPr>
              <a:t>모델</a:t>
            </a:r>
            <a:endParaRPr lang="en-US" sz="2100"/>
          </a:p>
        </p:txBody>
      </p:sp>
      <p:sp>
        <p:nvSpPr>
          <p:cNvPr id="16" name="Text 14"/>
          <p:cNvSpPr/>
          <p:nvPr/>
        </p:nvSpPr>
        <p:spPr>
          <a:xfrm>
            <a:off x="7059168" y="2996766"/>
            <a:ext cx="1810512" cy="52120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 fontScale="92500" lnSpcReduction="10000"/>
          </a:bodyPr>
          <a:lstStyle/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qwen2.5:7b</a:t>
            </a:r>
            <a:endParaRPr lang="en-US" sz="20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로컬 추론</a:t>
            </a:r>
            <a:endParaRPr lang="en-US" sz="2000"/>
          </a:p>
        </p:txBody>
      </p:sp>
      <p:sp>
        <p:nvSpPr>
          <p:cNvPr id="17" name="Text 15"/>
          <p:cNvSpPr/>
          <p:nvPr/>
        </p:nvSpPr>
        <p:spPr>
          <a:xfrm>
            <a:off x="9235440" y="2331720"/>
            <a:ext cx="438912" cy="43891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4</a:t>
            </a:r>
            <a:endParaRPr lang="en-US" sz="1800"/>
          </a:p>
        </p:txBody>
      </p:sp>
      <p:sp>
        <p:nvSpPr>
          <p:cNvPr id="18" name="Text 16"/>
          <p:cNvSpPr/>
          <p:nvPr/>
        </p:nvSpPr>
        <p:spPr>
          <a:xfrm>
            <a:off x="9802368" y="2322576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lnSpcReduction="10000"/>
          </a:bodyPr>
          <a:lstStyle/>
          <a:p>
            <a:pPr marL="0" lvl="0" indent="0">
              <a:buNone/>
              <a:defRPr/>
            </a:pPr>
            <a:r>
              <a:rPr lang="en-US" sz="2100" b="1">
                <a:solidFill>
                  <a:srgbClr val="12314f"/>
                </a:solidFill>
                <a:latin typeface="NanumSquare"/>
                <a:ea typeface="NanumSquare"/>
                <a:cs typeface="NanumSquare"/>
              </a:rPr>
              <a:t>출력</a:t>
            </a:r>
            <a:endParaRPr lang="en-US" sz="2100"/>
          </a:p>
        </p:txBody>
      </p:sp>
      <p:sp>
        <p:nvSpPr>
          <p:cNvPr id="19" name="Text 17"/>
          <p:cNvSpPr/>
          <p:nvPr/>
        </p:nvSpPr>
        <p:spPr>
          <a:xfrm>
            <a:off x="9802368" y="2996766"/>
            <a:ext cx="1810512" cy="52120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 fontScale="92500" lnSpcReduction="10000"/>
          </a:bodyPr>
          <a:lstStyle/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response</a:t>
            </a:r>
            <a:endParaRPr lang="en-US" sz="20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답변 텍스트</a:t>
            </a:r>
            <a:endParaRPr lang="en-US" sz="2000"/>
          </a:p>
        </p:txBody>
      </p:sp>
      <p:sp>
        <p:nvSpPr>
          <p:cNvPr id="20" name="Text 18"/>
          <p:cNvSpPr/>
          <p:nvPr/>
        </p:nvSpPr>
        <p:spPr>
          <a:xfrm>
            <a:off x="822960" y="4572000"/>
            <a:ext cx="2286000" cy="365760"/>
          </a:xfrm>
          <a:prstGeom prst="rect">
            <a:avLst/>
          </a:prstGeom>
          <a:noFill/>
          <a:ln/>
        </p:spPr>
        <p:txBody>
          <a:bodyPr wrap="square" lIns="762" tIns="762" rIns="762" bIns="762" anchor="ctr">
            <a:normAutofit/>
          </a:bodyPr>
          <a:lstStyle/>
          <a:p>
            <a:pPr marL="0" lvl="0" indent="0" algn="l">
              <a:buNone/>
              <a:defRPr/>
            </a:pPr>
            <a:r>
              <a:rPr lang="ko-KR" altLang="en-US" sz="2300" b="1">
                <a:solidFill>
                  <a:srgbClr val="246bfe"/>
                </a:solidFill>
                <a:latin typeface="NanumBarunGothic"/>
                <a:ea typeface="NanumBarunGothic"/>
                <a:cs typeface="NanumBarunGothic"/>
              </a:rPr>
              <a:t>개발</a:t>
            </a:r>
            <a:r>
              <a:rPr lang="en-US" sz="2300" b="1">
                <a:solidFill>
                  <a:srgbClr val="246bfe"/>
                </a:solidFill>
                <a:latin typeface="NanumBarunGothic"/>
                <a:ea typeface="NanumBarunGothic"/>
                <a:cs typeface="NanumBarunGothic"/>
              </a:rPr>
              <a:t>자 핵심</a:t>
            </a:r>
            <a:endParaRPr lang="en-US" sz="2300" b="1">
              <a:solidFill>
                <a:srgbClr val="246bfe"/>
              </a:solidFill>
              <a:latin typeface="NanumBarunGothic"/>
              <a:ea typeface="NanumBarunGothic"/>
              <a:cs typeface="NanumBarunGothic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246120" y="4389120"/>
            <a:ext cx="7863840" cy="1325880"/>
          </a:xfrm>
          <a:prstGeom prst="rect">
            <a:avLst/>
          </a:prstGeom>
          <a:noFill/>
          <a:ln/>
        </p:spPr>
        <p:txBody>
          <a:bodyPr wrap="square" lIns="1016" tIns="1016" rIns="1016" bIns="1016" anchor="t">
            <a:normAutofit lnSpcReduction="10000"/>
          </a:bodyPr>
          <a:lstStyle/>
          <a:p>
            <a:pPr marL="0" lvl="0" indent="0">
              <a:buNone/>
              <a:defRPr/>
            </a:pPr>
            <a:r>
              <a:rPr lang="en-US" sz="22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• model은 사용할 LLM 이름이다</a:t>
            </a:r>
            <a:endParaRPr lang="en-US" sz="22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2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• prompt는 질문 또는 지시문이다</a:t>
            </a:r>
            <a:endParaRPr lang="en-US" sz="22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2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• stream=False는 답변을 한 번에 받는 설정이다</a:t>
            </a:r>
            <a:endParaRPr lang="en-US" sz="22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2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• timeout과 오류 처리는 반드시 둔다</a:t>
            </a:r>
            <a:endParaRPr lang="en-US" sz="2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초보자용 LLM 응용 개발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2314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Ollama 호출 코드의 핵심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064240" cy="0"/>
          </a:xfrm>
          <a:prstGeom prst="line">
            <a:avLst/>
          </a:prstGeom>
          <a:noFill/>
          <a:ln w="15240">
            <a:solidFill>
              <a:srgbClr val="DCE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508760"/>
            <a:ext cx="6400800" cy="4526280"/>
          </a:xfrm>
          <a:prstGeom prst="rect">
            <a:avLst/>
          </a:prstGeom>
          <a:solidFill>
            <a:srgbClr val="F4F6FA"/>
          </a:solidFill>
          <a:ln>
            <a:solidFill>
              <a:srgbClr val="D9E0EA"/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11827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OLLAMA_API = "http://localhost:11434/api/generate"</a:t>
            </a:r>
            <a:endParaRPr lang="en-US" sz="1550" dirty="0"/>
          </a:p>
          <a:p>
            <a:pPr marL="0" indent="0">
              <a:buNone/>
            </a:pP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11827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def call_ollama(prompt: str) -&gt; str: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11827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   payload = {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11827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       "model": "qwen2.5:7b-instruct-q4_K_M",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11827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       "prompt": prompt,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11827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       "stream": False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11827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   }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11827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   response = requests.post(OLLAMA_API, json=payload, timeout=60)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11827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   response.raise_for_status()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111827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   return response.json().get("response", "")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360920" y="1581912"/>
            <a:ext cx="137160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46BFE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읽는 법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7360920" y="2148840"/>
            <a:ext cx="4160520" cy="1965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• 입력은 prompt 문자열이다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• Ollama는 localhost:11434에서 대기한다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• 모델 이름이 맞아야 실행된다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• 반환값은 response 텍스트다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60919" y="4800600"/>
            <a:ext cx="4485091" cy="841248"/>
          </a:xfrm>
          <a:prstGeom prst="rect">
            <a:avLst/>
          </a:prstGeom>
          <a:solidFill>
            <a:srgbClr val="FFF4D6"/>
          </a:solidFill>
          <a:ln w="10160">
            <a:solidFill>
              <a:srgbClr val="FFF4D6"/>
            </a:solidFill>
          </a:ln>
        </p:spPr>
        <p:txBody>
          <a:bodyPr wrap="square" lIns="762" tIns="762" rIns="762" bIns="762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2314F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실습 질문 예시</a:t>
            </a:r>
            <a:endParaRPr lang="en-US" sz="2300" dirty="0"/>
          </a:p>
          <a:p>
            <a:pPr marL="0" indent="0" algn="ctr">
              <a:buNone/>
            </a:pPr>
            <a:r>
              <a:rPr lang="en-US" sz="2300" b="1" dirty="0">
                <a:solidFill>
                  <a:srgbClr val="12314F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“</a:t>
            </a:r>
            <a:r>
              <a:rPr lang="en-US" sz="2300" b="1" dirty="0" err="1">
                <a:solidFill>
                  <a:srgbClr val="12314F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RAG를</a:t>
            </a:r>
            <a:r>
              <a:rPr lang="en-US" sz="2300" b="1" dirty="0">
                <a:solidFill>
                  <a:srgbClr val="12314F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 </a:t>
            </a:r>
            <a:r>
              <a:rPr lang="ko-KR" altLang="en-US" sz="2300" b="1" dirty="0" smtClean="0">
                <a:solidFill>
                  <a:srgbClr val="12314F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개발</a:t>
            </a:r>
            <a:r>
              <a:rPr lang="en-US" sz="2300" b="1" dirty="0" err="1" smtClean="0">
                <a:solidFill>
                  <a:srgbClr val="12314F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자에게</a:t>
            </a:r>
            <a:r>
              <a:rPr lang="en-US" sz="2300" b="1" dirty="0" smtClean="0">
                <a:solidFill>
                  <a:srgbClr val="12314F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 </a:t>
            </a:r>
            <a:r>
              <a:rPr lang="en-US" sz="2300" b="1" dirty="0">
                <a:solidFill>
                  <a:srgbClr val="12314F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쉽게 설명해줘.”</a:t>
            </a:r>
            <a:endParaRPr lang="en-US" sz="2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초보자용 LLM 응용 개발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2314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2단계: Flask는 중간 제어 레이어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064240" cy="0"/>
          </a:xfrm>
          <a:prstGeom prst="line">
            <a:avLst/>
          </a:prstGeom>
          <a:noFill/>
          <a:ln w="15240">
            <a:solidFill>
              <a:srgbClr val="DCE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Flask는 사용자와 LLM 사이에서 입력과 출력을 통제합니다.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822960" y="2240280"/>
            <a:ext cx="438912" cy="438912"/>
          </a:xfrm>
          <a:prstGeom prst="rect">
            <a:avLst/>
          </a:prstGeom>
          <a:solidFill>
            <a:srgbClr val="246BFE"/>
          </a:solidFill>
          <a:ln>
            <a:solidFill>
              <a:srgbClr val="246BF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89888" y="2231136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2314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사용자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89888" y="2946514"/>
            <a:ext cx="20939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브라우저 또는 앱에서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질문을 보낸다.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611880" y="2240280"/>
            <a:ext cx="438912" cy="43891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178808" y="2231136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2314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Flask /chat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178808" y="2946514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JSON 입력 수신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LLM 요청 생성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00800" y="2240280"/>
            <a:ext cx="438912" cy="438912"/>
          </a:xfrm>
          <a:prstGeom prst="rect">
            <a:avLst/>
          </a:prstGeom>
          <a:solidFill>
            <a:srgbClr val="00A7A5"/>
          </a:solidFill>
          <a:ln>
            <a:solidFill>
              <a:srgbClr val="00A7A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967728" y="2231136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2314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Ollama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967728" y="2946514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모델 실행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답변 생성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189720" y="2240280"/>
            <a:ext cx="438912" cy="43891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756648" y="2231136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2314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응답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756648" y="2946514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answer 필드로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JSON 반환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22960" y="4590288"/>
            <a:ext cx="384048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46BFE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실무에서 Flask 레이어에 추가할 것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4709160" y="4389120"/>
            <a:ext cx="6766560" cy="12618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• 인증 · 접근권한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• 입력 길이 제한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• 로그 저장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• 금칙어와 응답 형식 검증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9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>
                <a:solidFill>
                  <a:srgbClr val="64748b"/>
                </a:solidFill>
                <a:latin typeface="NanumBarunGothic"/>
                <a:ea typeface="NanumBarunGothic"/>
                <a:cs typeface="NanumBarunGothic"/>
              </a:rPr>
              <a:t>초보자용 LLM 응용 개발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3100" b="1">
                <a:solidFill>
                  <a:srgbClr val="12314f"/>
                </a:solidFill>
                <a:latin typeface="NanumSquare"/>
                <a:ea typeface="NanumSquare"/>
                <a:cs typeface="NanumSquare"/>
              </a:rPr>
              <a:t>Flask /chat 엔드포인트</a:t>
            </a:r>
            <a:endParaRPr lang="en-US" sz="310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064240" cy="0"/>
          </a:xfrm>
          <a:prstGeom prst="line">
            <a:avLst/>
          </a:prstGeom>
          <a:noFill/>
          <a:ln w="15240">
            <a:solidFill>
              <a:srgbClr val="dcebff"/>
            </a:solidFill>
            <a:prstDash val="solid"/>
          </a:ln>
        </p:spPr>
        <p:txBody>
          <a:bodyPr wrap="square"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r">
              <a:buNone/>
              <a:defRPr/>
            </a:pPr>
            <a:r>
              <a:rPr lang="en-US" sz="900">
                <a:solidFill>
                  <a:srgbClr val="9aa5b1"/>
                </a:solidFill>
                <a:latin typeface="NanumBarunGothic"/>
                <a:ea typeface="NanumBarunGothic"/>
                <a:cs typeface="NanumBarunGothic"/>
              </a:rPr>
              <a:t>9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6492240" cy="4617720"/>
          </a:xfrm>
          <a:prstGeom prst="rect">
            <a:avLst/>
          </a:prstGeom>
          <a:solidFill>
            <a:srgbClr val="f4f6fa"/>
          </a:solidFill>
          <a:ln>
            <a:solidFill>
              <a:srgbClr val="d9e0ea"/>
            </a:solidFill>
          </a:ln>
        </p:spPr>
        <p:txBody>
          <a:bodyPr wrap="square" lIns="1524" tIns="1524" rIns="1524" bIns="1524" anchor="t">
            <a:normAutofit/>
          </a:bodyPr>
          <a:lstStyle/>
          <a:p>
            <a:pPr marL="0" lvl="0" indent="0">
              <a:buNone/>
              <a:defRPr/>
            </a:pPr>
            <a:r>
              <a:rPr lang="en-US" sz="1520">
                <a:solidFill>
                  <a:srgbClr val="111827"/>
                </a:solidFill>
                <a:latin typeface="NanumGothicCoding"/>
                <a:ea typeface="NanumGothicCoding"/>
                <a:cs typeface="NanumGothicCoding"/>
              </a:rPr>
              <a:t>@app.route("/chat", methods=["POST"])</a:t>
            </a:r>
            <a:endParaRPr lang="en-US" sz="1520">
              <a:solidFill>
                <a:srgbClr val="111827"/>
              </a:solidFill>
              <a:latin typeface="NanumGothicCoding"/>
              <a:ea typeface="NanumGothicCoding"/>
              <a:cs typeface="NanumGothicCoding"/>
            </a:endParaRPr>
          </a:p>
          <a:p>
            <a:pPr marL="0" lvl="0" indent="0">
              <a:buNone/>
              <a:defRPr/>
            </a:pPr>
            <a:r>
              <a:rPr lang="en-US" sz="1520">
                <a:solidFill>
                  <a:srgbClr val="111827"/>
                </a:solidFill>
                <a:latin typeface="NanumGothicCoding"/>
                <a:ea typeface="NanumGothicCoding"/>
                <a:cs typeface="NanumGothicCoding"/>
              </a:rPr>
              <a:t>def chat():</a:t>
            </a:r>
            <a:endParaRPr lang="en-US" sz="1520">
              <a:solidFill>
                <a:srgbClr val="111827"/>
              </a:solidFill>
              <a:latin typeface="NanumGothicCoding"/>
              <a:ea typeface="NanumGothicCoding"/>
              <a:cs typeface="NanumGothicCoding"/>
            </a:endParaRPr>
          </a:p>
          <a:p>
            <a:pPr marL="0" lvl="0" indent="0">
              <a:buNone/>
              <a:defRPr/>
            </a:pPr>
            <a:r>
              <a:rPr lang="en-US" sz="1520">
                <a:solidFill>
                  <a:srgbClr val="111827"/>
                </a:solidFill>
                <a:latin typeface="NanumGothicCoding"/>
                <a:ea typeface="NanumGothicCoding"/>
                <a:cs typeface="NanumGothicCoding"/>
              </a:rPr>
              <a:t>    prompt = request.json.get("prompt", "")</a:t>
            </a:r>
            <a:endParaRPr lang="en-US" sz="1520">
              <a:solidFill>
                <a:srgbClr val="111827"/>
              </a:solidFill>
              <a:latin typeface="NanumGothicCoding"/>
              <a:ea typeface="NanumGothicCoding"/>
              <a:cs typeface="NanumGothicCoding"/>
            </a:endParaRPr>
          </a:p>
          <a:p>
            <a:pPr marL="0" lvl="0" indent="0">
              <a:buNone/>
              <a:defRPr/>
            </a:pPr>
            <a:endParaRPr lang="en-US" sz="1520"/>
          </a:p>
          <a:p>
            <a:pPr marL="0" lvl="0" indent="0">
              <a:buNone/>
              <a:defRPr/>
            </a:pPr>
            <a:r>
              <a:rPr lang="en-US" sz="1520">
                <a:solidFill>
                  <a:srgbClr val="111827"/>
                </a:solidFill>
                <a:latin typeface="NanumGothicCoding"/>
                <a:ea typeface="NanumGothicCoding"/>
                <a:cs typeface="NanumGothicCoding"/>
              </a:rPr>
              <a:t>    payload = {</a:t>
            </a:r>
            <a:endParaRPr lang="en-US" sz="1520">
              <a:solidFill>
                <a:srgbClr val="111827"/>
              </a:solidFill>
              <a:latin typeface="NanumGothicCoding"/>
              <a:ea typeface="NanumGothicCoding"/>
              <a:cs typeface="NanumGothicCoding"/>
            </a:endParaRPr>
          </a:p>
          <a:p>
            <a:pPr marL="0" lvl="0" indent="0">
              <a:buNone/>
              <a:defRPr/>
            </a:pPr>
            <a:r>
              <a:rPr lang="en-US" sz="1520">
                <a:solidFill>
                  <a:srgbClr val="111827"/>
                </a:solidFill>
                <a:latin typeface="NanumGothicCoding"/>
                <a:ea typeface="NanumGothicCoding"/>
                <a:cs typeface="NanumGothicCoding"/>
              </a:rPr>
              <a:t>        "model": "qwen2.5:7b-instruct-q4_K_M",</a:t>
            </a:r>
            <a:endParaRPr lang="en-US" sz="1520">
              <a:solidFill>
                <a:srgbClr val="111827"/>
              </a:solidFill>
              <a:latin typeface="NanumGothicCoding"/>
              <a:ea typeface="NanumGothicCoding"/>
              <a:cs typeface="NanumGothicCoding"/>
            </a:endParaRPr>
          </a:p>
          <a:p>
            <a:pPr marL="0" lvl="0" indent="0">
              <a:buNone/>
              <a:defRPr/>
            </a:pPr>
            <a:r>
              <a:rPr lang="en-US" sz="1520">
                <a:solidFill>
                  <a:srgbClr val="111827"/>
                </a:solidFill>
                <a:latin typeface="NanumGothicCoding"/>
                <a:ea typeface="NanumGothicCoding"/>
                <a:cs typeface="NanumGothicCoding"/>
              </a:rPr>
              <a:t>        "prompt": prompt,</a:t>
            </a:r>
            <a:endParaRPr lang="en-US" sz="1520">
              <a:solidFill>
                <a:srgbClr val="111827"/>
              </a:solidFill>
              <a:latin typeface="NanumGothicCoding"/>
              <a:ea typeface="NanumGothicCoding"/>
              <a:cs typeface="NanumGothicCoding"/>
            </a:endParaRPr>
          </a:p>
          <a:p>
            <a:pPr marL="0" lvl="0" indent="0">
              <a:buNone/>
              <a:defRPr/>
            </a:pPr>
            <a:r>
              <a:rPr lang="en-US" sz="1520">
                <a:solidFill>
                  <a:srgbClr val="111827"/>
                </a:solidFill>
                <a:latin typeface="NanumGothicCoding"/>
                <a:ea typeface="NanumGothicCoding"/>
                <a:cs typeface="NanumGothicCoding"/>
              </a:rPr>
              <a:t>        "stream": False</a:t>
            </a:r>
            <a:endParaRPr lang="en-US" sz="1520">
              <a:solidFill>
                <a:srgbClr val="111827"/>
              </a:solidFill>
              <a:latin typeface="NanumGothicCoding"/>
              <a:ea typeface="NanumGothicCoding"/>
              <a:cs typeface="NanumGothicCoding"/>
            </a:endParaRPr>
          </a:p>
          <a:p>
            <a:pPr marL="0" lvl="0" indent="0">
              <a:buNone/>
              <a:defRPr/>
            </a:pPr>
            <a:r>
              <a:rPr lang="en-US" sz="1520">
                <a:solidFill>
                  <a:srgbClr val="111827"/>
                </a:solidFill>
                <a:latin typeface="NanumGothicCoding"/>
                <a:ea typeface="NanumGothicCoding"/>
                <a:cs typeface="NanumGothicCoding"/>
              </a:rPr>
              <a:t>    }</a:t>
            </a:r>
            <a:endParaRPr lang="en-US" sz="1520">
              <a:solidFill>
                <a:srgbClr val="111827"/>
              </a:solidFill>
              <a:latin typeface="NanumGothicCoding"/>
              <a:ea typeface="NanumGothicCoding"/>
              <a:cs typeface="NanumGothicCoding"/>
            </a:endParaRPr>
          </a:p>
          <a:p>
            <a:pPr marL="0" lvl="0" indent="0">
              <a:buNone/>
              <a:defRPr/>
            </a:pPr>
            <a:endParaRPr lang="en-US" sz="1520"/>
          </a:p>
          <a:p>
            <a:pPr marL="0" lvl="0" indent="0">
              <a:buNone/>
              <a:defRPr/>
            </a:pPr>
            <a:r>
              <a:rPr lang="en-US" sz="1520">
                <a:solidFill>
                  <a:srgbClr val="111827"/>
                </a:solidFill>
                <a:latin typeface="NanumGothicCoding"/>
                <a:ea typeface="NanumGothicCoding"/>
                <a:cs typeface="NanumGothicCoding"/>
              </a:rPr>
              <a:t>    response = requests.post(OLLAMA_API, json=payload, timeout=60)</a:t>
            </a:r>
            <a:endParaRPr lang="en-US" sz="1520">
              <a:solidFill>
                <a:srgbClr val="111827"/>
              </a:solidFill>
              <a:latin typeface="NanumGothicCoding"/>
              <a:ea typeface="NanumGothicCoding"/>
              <a:cs typeface="NanumGothicCoding"/>
            </a:endParaRPr>
          </a:p>
          <a:p>
            <a:pPr marL="0" lvl="0" indent="0">
              <a:buNone/>
              <a:defRPr/>
            </a:pPr>
            <a:r>
              <a:rPr lang="en-US" sz="1520">
                <a:solidFill>
                  <a:srgbClr val="111827"/>
                </a:solidFill>
                <a:latin typeface="NanumGothicCoding"/>
                <a:ea typeface="NanumGothicCoding"/>
                <a:cs typeface="NanumGothicCoding"/>
              </a:rPr>
              <a:t>    return jsonify({"answer": response.json().get("response", "")})</a:t>
            </a:r>
            <a:endParaRPr lang="en-US" sz="1520"/>
          </a:p>
        </p:txBody>
      </p:sp>
      <p:sp>
        <p:nvSpPr>
          <p:cNvPr id="8" name="Text 6"/>
          <p:cNvSpPr/>
          <p:nvPr/>
        </p:nvSpPr>
        <p:spPr>
          <a:xfrm>
            <a:off x="7388352" y="1719072"/>
            <a:ext cx="1828800" cy="384048"/>
          </a:xfrm>
          <a:prstGeom prst="rect">
            <a:avLst/>
          </a:prstGeom>
          <a:noFill/>
          <a:ln/>
        </p:spPr>
        <p:txBody>
          <a:bodyPr wrap="square" lIns="762" tIns="762" rIns="762" bIns="762" anchor="ctr">
            <a:normAutofit/>
          </a:bodyPr>
          <a:lstStyle/>
          <a:p>
            <a:pPr marL="0" lvl="0" indent="0" algn="l">
              <a:buNone/>
              <a:defRPr/>
            </a:pPr>
            <a:r>
              <a:rPr lang="en-US" sz="2300" b="1">
                <a:solidFill>
                  <a:srgbClr val="246bfe"/>
                </a:solidFill>
                <a:latin typeface="NanumBarunGothic"/>
                <a:ea typeface="NanumBarunGothic"/>
                <a:cs typeface="NanumBarunGothic"/>
              </a:rPr>
              <a:t>한 줄 요약</a:t>
            </a:r>
            <a:endParaRPr lang="en-US" sz="2300"/>
          </a:p>
        </p:txBody>
      </p:sp>
      <p:sp>
        <p:nvSpPr>
          <p:cNvPr id="9" name="Text 7"/>
          <p:cNvSpPr/>
          <p:nvPr/>
        </p:nvSpPr>
        <p:spPr>
          <a:xfrm>
            <a:off x="7388352" y="2240280"/>
            <a:ext cx="4114800" cy="1097280"/>
          </a:xfrm>
          <a:prstGeom prst="rect">
            <a:avLst/>
          </a:prstGeom>
          <a:solidFill>
            <a:srgbClr val="eaf2ff"/>
          </a:solidFill>
          <a:ln w="10160">
            <a:solidFill>
              <a:srgbClr val="eaf2ff"/>
            </a:solidFill>
          </a:ln>
        </p:spPr>
        <p:txBody>
          <a:bodyPr wrap="square" lIns="762" tIns="762" rIns="762" bIns="762" anchor="ctr">
            <a:normAutofit lnSpcReduction="10000"/>
          </a:bodyPr>
          <a:lstStyle/>
          <a:p>
            <a:pPr marL="0" lvl="0" indent="0" algn="ctr">
              <a:buNone/>
              <a:defRPr/>
            </a:pPr>
            <a:r>
              <a:rPr lang="en-US" sz="2400" b="1">
                <a:solidFill>
                  <a:srgbClr val="12314f"/>
                </a:solidFill>
                <a:latin typeface="NanumBarunGothic"/>
                <a:ea typeface="NanumBarunGothic"/>
                <a:cs typeface="NanumBarunGothic"/>
              </a:rPr>
              <a:t>사용자의 prompt를 받아</a:t>
            </a:r>
            <a:endParaRPr lang="en-US" sz="2400" b="1">
              <a:solidFill>
                <a:srgbClr val="12314f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 algn="ctr">
              <a:buNone/>
              <a:defRPr/>
            </a:pPr>
            <a:r>
              <a:rPr lang="en-US" sz="2400" b="1">
                <a:solidFill>
                  <a:srgbClr val="12314f"/>
                </a:solidFill>
                <a:latin typeface="NanumBarunGothic"/>
                <a:ea typeface="NanumBarunGothic"/>
                <a:cs typeface="NanumBarunGothic"/>
              </a:rPr>
              <a:t>Ollama에 전달하고,</a:t>
            </a:r>
            <a:endParaRPr lang="en-US" sz="2400" b="1">
              <a:solidFill>
                <a:srgbClr val="12314f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 algn="ctr">
              <a:buNone/>
              <a:defRPr/>
            </a:pPr>
            <a:r>
              <a:rPr lang="en-US" sz="2400" b="1">
                <a:solidFill>
                  <a:srgbClr val="12314f"/>
                </a:solidFill>
                <a:latin typeface="NanumBarunGothic"/>
                <a:ea typeface="NanumBarunGothic"/>
                <a:cs typeface="NanumBarunGothic"/>
              </a:rPr>
              <a:t>answer JSON으로 돌려준다.</a:t>
            </a:r>
            <a:endParaRPr lang="en-US" sz="2400"/>
          </a:p>
        </p:txBody>
      </p:sp>
      <p:sp>
        <p:nvSpPr>
          <p:cNvPr id="10" name="Text 8"/>
          <p:cNvSpPr/>
          <p:nvPr/>
        </p:nvSpPr>
        <p:spPr>
          <a:xfrm>
            <a:off x="7388352" y="3977640"/>
            <a:ext cx="2011680" cy="365760"/>
          </a:xfrm>
          <a:prstGeom prst="rect">
            <a:avLst/>
          </a:prstGeom>
          <a:noFill/>
          <a:ln/>
        </p:spPr>
        <p:txBody>
          <a:bodyPr wrap="square" lIns="762" tIns="762" rIns="762" bIns="762" anchor="ctr">
            <a:normAutofit lnSpcReduction="10000"/>
          </a:bodyPr>
          <a:lstStyle/>
          <a:p>
            <a:pPr marL="0" lvl="0" indent="0" algn="l">
              <a:buNone/>
              <a:defRPr/>
            </a:pPr>
            <a:r>
              <a:rPr lang="en-US" sz="2200" b="1">
                <a:solidFill>
                  <a:srgbClr val="246bfe"/>
                </a:solidFill>
                <a:latin typeface="NanumBarunGothic"/>
                <a:ea typeface="NanumBarunGothic"/>
                <a:cs typeface="NanumBarunGothic"/>
              </a:rPr>
              <a:t>POST 요청 예시</a:t>
            </a:r>
            <a:endParaRPr lang="en-US" sz="2200"/>
          </a:p>
        </p:txBody>
      </p:sp>
      <p:sp>
        <p:nvSpPr>
          <p:cNvPr id="11" name="Text 9"/>
          <p:cNvSpPr/>
          <p:nvPr/>
        </p:nvSpPr>
        <p:spPr>
          <a:xfrm>
            <a:off x="7388352" y="4480560"/>
            <a:ext cx="4114800" cy="804672"/>
          </a:xfrm>
          <a:prstGeom prst="rect">
            <a:avLst/>
          </a:prstGeom>
          <a:solidFill>
            <a:srgbClr val="f4f6fa"/>
          </a:solidFill>
          <a:ln>
            <a:solidFill>
              <a:srgbClr val="d9e0ea"/>
            </a:solidFill>
          </a:ln>
        </p:spPr>
        <p:txBody>
          <a:bodyPr wrap="square" lIns="1524" tIns="1524" rIns="1524" bIns="1524" anchor="t">
            <a:normAutofit/>
          </a:bodyPr>
          <a:lstStyle/>
          <a:p>
            <a:pPr marL="0" lvl="0" indent="0">
              <a:buNone/>
              <a:defRPr/>
            </a:pPr>
            <a:r>
              <a:rPr lang="en-US" sz="1600">
                <a:solidFill>
                  <a:srgbClr val="111827"/>
                </a:solidFill>
                <a:latin typeface="NanumGothicCoding"/>
                <a:ea typeface="NanumGothicCoding"/>
                <a:cs typeface="NanumGothicCoding"/>
              </a:rPr>
              <a:t>{</a:t>
            </a:r>
            <a:endParaRPr lang="en-US" sz="1600">
              <a:solidFill>
                <a:srgbClr val="111827"/>
              </a:solidFill>
              <a:latin typeface="NanumGothicCoding"/>
              <a:ea typeface="NanumGothicCoding"/>
              <a:cs typeface="NanumGothicCoding"/>
            </a:endParaRPr>
          </a:p>
          <a:p>
            <a:pPr marL="0" lvl="0" indent="0">
              <a:buNone/>
              <a:defRPr/>
            </a:pPr>
            <a:r>
              <a:rPr lang="en-US" sz="1600">
                <a:solidFill>
                  <a:srgbClr val="111827"/>
                </a:solidFill>
                <a:latin typeface="NanumGothicCoding"/>
                <a:ea typeface="NanumGothicCoding"/>
                <a:cs typeface="NanumGothicCoding"/>
              </a:rPr>
              <a:t>  "prompt": "LangChain을 쉽게 설명해줘"</a:t>
            </a:r>
            <a:endParaRPr lang="en-US" sz="1600">
              <a:solidFill>
                <a:srgbClr val="111827"/>
              </a:solidFill>
              <a:latin typeface="NanumGothicCoding"/>
              <a:ea typeface="NanumGothicCoding"/>
              <a:cs typeface="NanumGothicCoding"/>
            </a:endParaRPr>
          </a:p>
          <a:p>
            <a:pPr marL="0" lvl="0" indent="0">
              <a:buNone/>
              <a:defRPr/>
            </a:pPr>
            <a:r>
              <a:rPr lang="en-US" sz="1600">
                <a:solidFill>
                  <a:srgbClr val="111827"/>
                </a:solidFill>
                <a:latin typeface="NanumGothicCoding"/>
                <a:ea typeface="NanumGothicCoding"/>
                <a:cs typeface="NanumGothicCoding"/>
              </a:rPr>
              <a:t>}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0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>
                <a:solidFill>
                  <a:srgbClr val="64748b"/>
                </a:solidFill>
                <a:latin typeface="NanumBarunGothic"/>
                <a:ea typeface="NanumBarunGothic"/>
                <a:cs typeface="NanumBarunGothic"/>
              </a:rPr>
              <a:t>초보자용 LLM 응용 개발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3100" b="1">
                <a:solidFill>
                  <a:srgbClr val="12314f"/>
                </a:solidFill>
                <a:latin typeface="NanumSquare"/>
                <a:ea typeface="NanumSquare"/>
                <a:cs typeface="NanumSquare"/>
              </a:rPr>
              <a:t>3단계: LangChain 기본 구조</a:t>
            </a:r>
            <a:endParaRPr lang="en-US" sz="310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064240" cy="0"/>
          </a:xfrm>
          <a:prstGeom prst="line">
            <a:avLst/>
          </a:prstGeom>
          <a:noFill/>
          <a:ln w="15240">
            <a:solidFill>
              <a:srgbClr val="dcebff"/>
            </a:solidFill>
            <a:prstDash val="solid"/>
          </a:ln>
        </p:spPr>
        <p:txBody>
          <a:bodyPr wrap="square"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r">
              <a:buNone/>
              <a:defRPr/>
            </a:pPr>
            <a:r>
              <a:rPr lang="en-US" sz="900">
                <a:solidFill>
                  <a:srgbClr val="9aa5b1"/>
                </a:solidFill>
                <a:latin typeface="NanumBarunGothic"/>
                <a:ea typeface="NanumBarunGothic"/>
                <a:cs typeface="NanumBarunGothic"/>
              </a:rPr>
              <a:t>10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411480"/>
          </a:xfrm>
          <a:prstGeom prst="rect">
            <a:avLst/>
          </a:prstGeom>
          <a:noFill/>
          <a:ln/>
        </p:spPr>
        <p:txBody>
          <a:bodyPr wrap="square" lIns="762" tIns="762" rIns="762" bIns="762" anchor="ctr">
            <a:normAutofit/>
          </a:bodyPr>
          <a:lstStyle/>
          <a:p>
            <a:pPr marL="0" lvl="0" indent="0" algn="l">
              <a:buNone/>
              <a:defRPr/>
            </a:pPr>
            <a:r>
              <a:rPr lang="en-US" sz="2500" b="1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LangChain은 Prompt, LLM, 실행 단계를 일정한 흐름으로 묶어줍니다.</a:t>
            </a:r>
            <a:endParaRPr lang="en-US" sz="2500"/>
          </a:p>
        </p:txBody>
      </p:sp>
      <p:sp>
        <p:nvSpPr>
          <p:cNvPr id="8" name="Text 6"/>
          <p:cNvSpPr/>
          <p:nvPr/>
        </p:nvSpPr>
        <p:spPr>
          <a:xfrm>
            <a:off x="868680" y="2240280"/>
            <a:ext cx="438912" cy="438912"/>
          </a:xfrm>
          <a:prstGeom prst="rect">
            <a:avLst/>
          </a:prstGeom>
          <a:solidFill>
            <a:srgbClr val="246bfe"/>
          </a:solidFill>
          <a:ln>
            <a:solidFill>
              <a:srgbClr val="246bfe"/>
            </a:solidFill>
          </a:ln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1</a:t>
            </a:r>
            <a:endParaRPr lang="en-US" sz="1800"/>
          </a:p>
        </p:txBody>
      </p:sp>
      <p:sp>
        <p:nvSpPr>
          <p:cNvPr id="9" name="Text 7"/>
          <p:cNvSpPr/>
          <p:nvPr/>
        </p:nvSpPr>
        <p:spPr>
          <a:xfrm>
            <a:off x="1435608" y="2231136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lnSpcReduction="10000"/>
          </a:bodyPr>
          <a:lstStyle/>
          <a:p>
            <a:pPr marL="0" lvl="0" indent="0">
              <a:buNone/>
              <a:defRPr/>
            </a:pPr>
            <a:r>
              <a:rPr lang="en-US" sz="2100" b="1">
                <a:solidFill>
                  <a:srgbClr val="12314f"/>
                </a:solidFill>
                <a:latin typeface="NanumSquare"/>
                <a:ea typeface="NanumSquare"/>
                <a:cs typeface="NanumSquare"/>
              </a:rPr>
              <a:t>Prompt</a:t>
            </a:r>
            <a:endParaRPr lang="en-US" sz="2100"/>
          </a:p>
        </p:txBody>
      </p:sp>
      <p:sp>
        <p:nvSpPr>
          <p:cNvPr id="10" name="Text 8"/>
          <p:cNvSpPr/>
          <p:nvPr/>
        </p:nvSpPr>
        <p:spPr>
          <a:xfrm>
            <a:off x="1435607" y="2897088"/>
            <a:ext cx="2493569" cy="70408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 lnSpcReduction="10000"/>
          </a:bodyPr>
          <a:lstStyle/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역할·질문·답변 규칙을</a:t>
            </a:r>
            <a:endParaRPr lang="en-US" sz="20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문장으로 정의</a:t>
            </a:r>
            <a:endParaRPr lang="en-US" sz="2000"/>
          </a:p>
        </p:txBody>
      </p:sp>
      <p:sp>
        <p:nvSpPr>
          <p:cNvPr id="11" name="Text 9"/>
          <p:cNvSpPr/>
          <p:nvPr/>
        </p:nvSpPr>
        <p:spPr>
          <a:xfrm>
            <a:off x="3657600" y="2240280"/>
            <a:ext cx="438912" cy="43891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2</a:t>
            </a:r>
            <a:endParaRPr lang="en-US" sz="1800"/>
          </a:p>
        </p:txBody>
      </p:sp>
      <p:sp>
        <p:nvSpPr>
          <p:cNvPr id="12" name="Text 10"/>
          <p:cNvSpPr/>
          <p:nvPr/>
        </p:nvSpPr>
        <p:spPr>
          <a:xfrm>
            <a:off x="4224528" y="2231136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lnSpcReduction="10000"/>
          </a:bodyPr>
          <a:lstStyle/>
          <a:p>
            <a:pPr marL="0" lvl="0" indent="0">
              <a:buNone/>
              <a:defRPr/>
            </a:pPr>
            <a:r>
              <a:rPr lang="en-US" sz="2100" b="1">
                <a:solidFill>
                  <a:srgbClr val="12314f"/>
                </a:solidFill>
                <a:latin typeface="NanumSquare"/>
                <a:ea typeface="NanumSquare"/>
                <a:cs typeface="NanumSquare"/>
              </a:rPr>
              <a:t>LLM</a:t>
            </a:r>
            <a:endParaRPr lang="en-US" sz="2100"/>
          </a:p>
        </p:txBody>
      </p:sp>
      <p:sp>
        <p:nvSpPr>
          <p:cNvPr id="13" name="Text 11"/>
          <p:cNvSpPr/>
          <p:nvPr/>
        </p:nvSpPr>
        <p:spPr>
          <a:xfrm>
            <a:off x="4224528" y="2888850"/>
            <a:ext cx="1993392" cy="70408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/>
          </a:bodyPr>
          <a:lstStyle/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ChatOllama로</a:t>
            </a:r>
            <a:endParaRPr lang="en-US" sz="20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모델 객체 생성</a:t>
            </a:r>
            <a:endParaRPr lang="en-US" sz="2000"/>
          </a:p>
        </p:txBody>
      </p:sp>
      <p:sp>
        <p:nvSpPr>
          <p:cNvPr id="14" name="Text 12"/>
          <p:cNvSpPr/>
          <p:nvPr/>
        </p:nvSpPr>
        <p:spPr>
          <a:xfrm>
            <a:off x="6446520" y="2240280"/>
            <a:ext cx="438912" cy="438912"/>
          </a:xfrm>
          <a:prstGeom prst="rect">
            <a:avLst/>
          </a:prstGeom>
          <a:solidFill>
            <a:srgbClr val="00a7a5"/>
          </a:solidFill>
          <a:ln>
            <a:solidFill>
              <a:srgbClr val="00a7a5"/>
            </a:solidFill>
          </a:ln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3</a:t>
            </a:r>
            <a:endParaRPr lang="en-US" sz="1800"/>
          </a:p>
        </p:txBody>
      </p:sp>
      <p:sp>
        <p:nvSpPr>
          <p:cNvPr id="15" name="Text 13"/>
          <p:cNvSpPr/>
          <p:nvPr/>
        </p:nvSpPr>
        <p:spPr>
          <a:xfrm>
            <a:off x="7013448" y="2231136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lnSpcReduction="10000"/>
          </a:bodyPr>
          <a:lstStyle/>
          <a:p>
            <a:pPr marL="0" lvl="0" indent="0">
              <a:buNone/>
              <a:defRPr/>
            </a:pPr>
            <a:r>
              <a:rPr lang="en-US" sz="2100" b="1">
                <a:solidFill>
                  <a:srgbClr val="12314f"/>
                </a:solidFill>
                <a:latin typeface="NanumSquare"/>
                <a:ea typeface="NanumSquare"/>
                <a:cs typeface="NanumSquare"/>
              </a:rPr>
              <a:t>Chain</a:t>
            </a:r>
            <a:endParaRPr lang="en-US" sz="2100"/>
          </a:p>
        </p:txBody>
      </p:sp>
      <p:sp>
        <p:nvSpPr>
          <p:cNvPr id="16" name="Text 14"/>
          <p:cNvSpPr/>
          <p:nvPr/>
        </p:nvSpPr>
        <p:spPr>
          <a:xfrm>
            <a:off x="7013448" y="2888850"/>
            <a:ext cx="1993392" cy="70408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/>
          </a:bodyPr>
          <a:lstStyle/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prompt | llm</a:t>
            </a:r>
            <a:endParaRPr lang="en-US" sz="20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연결 파이프라인</a:t>
            </a:r>
            <a:endParaRPr lang="en-US" sz="2000"/>
          </a:p>
        </p:txBody>
      </p:sp>
      <p:sp>
        <p:nvSpPr>
          <p:cNvPr id="17" name="Text 15"/>
          <p:cNvSpPr/>
          <p:nvPr/>
        </p:nvSpPr>
        <p:spPr>
          <a:xfrm>
            <a:off x="9235440" y="2240280"/>
            <a:ext cx="438912" cy="43891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4</a:t>
            </a:r>
            <a:endParaRPr lang="en-US" sz="1800"/>
          </a:p>
        </p:txBody>
      </p:sp>
      <p:sp>
        <p:nvSpPr>
          <p:cNvPr id="18" name="Text 16"/>
          <p:cNvSpPr/>
          <p:nvPr/>
        </p:nvSpPr>
        <p:spPr>
          <a:xfrm>
            <a:off x="9802368" y="2231136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lnSpcReduction="10000"/>
          </a:bodyPr>
          <a:lstStyle/>
          <a:p>
            <a:pPr marL="0" lvl="0" indent="0">
              <a:buNone/>
              <a:defRPr/>
            </a:pPr>
            <a:r>
              <a:rPr lang="en-US" sz="2100" b="1">
                <a:solidFill>
                  <a:srgbClr val="12314f"/>
                </a:solidFill>
                <a:latin typeface="NanumSquare"/>
                <a:ea typeface="NanumSquare"/>
                <a:cs typeface="NanumSquare"/>
              </a:rPr>
              <a:t>Invoke</a:t>
            </a:r>
            <a:endParaRPr lang="en-US" sz="2100"/>
          </a:p>
        </p:txBody>
      </p:sp>
      <p:sp>
        <p:nvSpPr>
          <p:cNvPr id="19" name="Text 17"/>
          <p:cNvSpPr/>
          <p:nvPr/>
        </p:nvSpPr>
        <p:spPr>
          <a:xfrm>
            <a:off x="9802368" y="2888850"/>
            <a:ext cx="1993392" cy="70408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/>
          </a:bodyPr>
          <a:lstStyle/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입력값을 넣어</a:t>
            </a:r>
            <a:endParaRPr lang="en-US" sz="20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결과 실행</a:t>
            </a:r>
            <a:endParaRPr lang="en-US" sz="2000"/>
          </a:p>
        </p:txBody>
      </p:sp>
      <p:sp>
        <p:nvSpPr>
          <p:cNvPr id="20" name="Text 18"/>
          <p:cNvSpPr/>
          <p:nvPr/>
        </p:nvSpPr>
        <p:spPr>
          <a:xfrm>
            <a:off x="868680" y="4617720"/>
            <a:ext cx="2194560" cy="384048"/>
          </a:xfrm>
          <a:prstGeom prst="rect">
            <a:avLst/>
          </a:prstGeom>
          <a:noFill/>
          <a:ln/>
        </p:spPr>
        <p:txBody>
          <a:bodyPr wrap="square" lIns="762" tIns="762" rIns="762" bIns="762" anchor="ctr">
            <a:normAutofit/>
          </a:bodyPr>
          <a:lstStyle/>
          <a:p>
            <a:pPr marL="0" lvl="0" indent="0" algn="l">
              <a:buNone/>
              <a:defRPr/>
            </a:pPr>
            <a:r>
              <a:rPr lang="ko-KR" altLang="en-US" sz="2300" b="1">
                <a:solidFill>
                  <a:srgbClr val="246bfe"/>
                </a:solidFill>
                <a:latin typeface="NanumBarunGothic"/>
                <a:ea typeface="NanumBarunGothic"/>
                <a:cs typeface="NanumBarunGothic"/>
              </a:rPr>
              <a:t>개발</a:t>
            </a:r>
            <a:r>
              <a:rPr lang="en-US" sz="2300" b="1">
                <a:solidFill>
                  <a:srgbClr val="246bfe"/>
                </a:solidFill>
                <a:latin typeface="NanumBarunGothic"/>
                <a:ea typeface="NanumBarunGothic"/>
                <a:cs typeface="NanumBarunGothic"/>
              </a:rPr>
              <a:t>자 관점</a:t>
            </a:r>
            <a:endParaRPr lang="en-US" sz="2300" b="1">
              <a:solidFill>
                <a:srgbClr val="246bfe"/>
              </a:solidFill>
              <a:latin typeface="NanumBarunGothic"/>
              <a:ea typeface="NanumBarunGothic"/>
              <a:cs typeface="NanumBarunGothic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246120" y="4434840"/>
            <a:ext cx="8138160" cy="1188720"/>
          </a:xfrm>
          <a:prstGeom prst="rect">
            <a:avLst/>
          </a:prstGeom>
          <a:noFill/>
          <a:ln/>
        </p:spPr>
        <p:txBody>
          <a:bodyPr wrap="square" lIns="1016" tIns="1016" rIns="1016" bIns="1016" anchor="t">
            <a:normAutofit/>
          </a:bodyPr>
          <a:lstStyle/>
          <a:p>
            <a:pPr marL="0" lvl="0" indent="0">
              <a:buNone/>
              <a:defRPr/>
            </a:pPr>
            <a:r>
              <a:rPr lang="en-US" sz="22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• LangChain은 “마법”이 아니라 연결 규칙이다</a:t>
            </a:r>
            <a:endParaRPr lang="en-US" sz="22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2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• 코드 흐름을 표준화해 반복 실습이 쉬워진다</a:t>
            </a:r>
            <a:endParaRPr lang="en-US" sz="22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2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• 나중에 Retriever, RAG, Tool과 연결하기 좋다</a:t>
            </a:r>
            <a:endParaRPr lang="en-US" sz="2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1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>
                <a:solidFill>
                  <a:srgbClr val="64748b"/>
                </a:solidFill>
                <a:latin typeface="NanumBarunGothic"/>
                <a:ea typeface="NanumBarunGothic"/>
                <a:cs typeface="NanumBarunGothic"/>
              </a:rPr>
              <a:t>초보자용 LLM 응용 개발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3100" b="1">
                <a:solidFill>
                  <a:srgbClr val="12314f"/>
                </a:solidFill>
                <a:latin typeface="NanumSquare"/>
                <a:ea typeface="NanumSquare"/>
                <a:cs typeface="NanumSquare"/>
              </a:rPr>
              <a:t>Basic QA: 가장 작은 LLM 앱</a:t>
            </a:r>
            <a:endParaRPr lang="en-US" sz="310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064240" cy="0"/>
          </a:xfrm>
          <a:prstGeom prst="line">
            <a:avLst/>
          </a:prstGeom>
          <a:noFill/>
          <a:ln w="15240">
            <a:solidFill>
              <a:srgbClr val="dcebff"/>
            </a:solidFill>
            <a:prstDash val="solid"/>
          </a:ln>
        </p:spPr>
        <p:txBody>
          <a:bodyPr wrap="square"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r">
              <a:buNone/>
              <a:defRPr/>
            </a:pPr>
            <a:r>
              <a:rPr lang="en-US" sz="900">
                <a:solidFill>
                  <a:srgbClr val="9aa5b1"/>
                </a:solidFill>
                <a:latin typeface="NanumBarunGothic"/>
                <a:ea typeface="NanumBarunGothic"/>
                <a:cs typeface="NanumBarunGothic"/>
              </a:rPr>
              <a:t>11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685800" y="1444752"/>
            <a:ext cx="6492240" cy="4645152"/>
          </a:xfrm>
          <a:prstGeom prst="rect">
            <a:avLst/>
          </a:prstGeom>
          <a:solidFill>
            <a:srgbClr val="f4f6fa"/>
          </a:solidFill>
          <a:ln>
            <a:solidFill>
              <a:srgbClr val="d9e0ea"/>
            </a:solidFill>
          </a:ln>
        </p:spPr>
        <p:txBody>
          <a:bodyPr wrap="square" lIns="1524" tIns="1524" rIns="1524" bIns="1524" anchor="t">
            <a:normAutofit/>
          </a:bodyPr>
          <a:lstStyle/>
          <a:p>
            <a:pPr marL="0" lvl="0" indent="0">
              <a:buNone/>
              <a:defRPr/>
            </a:pPr>
            <a:r>
              <a:rPr lang="en-US" sz="1520">
                <a:solidFill>
                  <a:srgbClr val="111827"/>
                </a:solidFill>
                <a:latin typeface="NanumGothicCoding"/>
                <a:ea typeface="NanumGothicCoding"/>
                <a:cs typeface="NanumGothicCoding"/>
              </a:rPr>
              <a:t>llm = ChatOllama(</a:t>
            </a:r>
            <a:endParaRPr lang="en-US" sz="1520">
              <a:solidFill>
                <a:srgbClr val="111827"/>
              </a:solidFill>
              <a:latin typeface="NanumGothicCoding"/>
              <a:ea typeface="NanumGothicCoding"/>
              <a:cs typeface="NanumGothicCoding"/>
            </a:endParaRPr>
          </a:p>
          <a:p>
            <a:pPr marL="0" lvl="0" indent="0">
              <a:buNone/>
              <a:defRPr/>
            </a:pPr>
            <a:r>
              <a:rPr lang="en-US" sz="1520">
                <a:solidFill>
                  <a:srgbClr val="111827"/>
                </a:solidFill>
                <a:latin typeface="NanumGothicCoding"/>
                <a:ea typeface="NanumGothicCoding"/>
                <a:cs typeface="NanumGothicCoding"/>
              </a:rPr>
              <a:t>    model="qwen2.5:7b-instruct-q4_K_M",</a:t>
            </a:r>
            <a:endParaRPr lang="en-US" sz="1520">
              <a:solidFill>
                <a:srgbClr val="111827"/>
              </a:solidFill>
              <a:latin typeface="NanumGothicCoding"/>
              <a:ea typeface="NanumGothicCoding"/>
              <a:cs typeface="NanumGothicCoding"/>
            </a:endParaRPr>
          </a:p>
          <a:p>
            <a:pPr marL="0" lvl="0" indent="0">
              <a:buNone/>
              <a:defRPr/>
            </a:pPr>
            <a:r>
              <a:rPr lang="en-US" sz="1520">
                <a:solidFill>
                  <a:srgbClr val="111827"/>
                </a:solidFill>
                <a:latin typeface="NanumGothicCoding"/>
                <a:ea typeface="NanumGothicCoding"/>
                <a:cs typeface="NanumGothicCoding"/>
              </a:rPr>
              <a:t>    temperature=0.2</a:t>
            </a:r>
            <a:endParaRPr lang="en-US" sz="1520">
              <a:solidFill>
                <a:srgbClr val="111827"/>
              </a:solidFill>
              <a:latin typeface="NanumGothicCoding"/>
              <a:ea typeface="NanumGothicCoding"/>
              <a:cs typeface="NanumGothicCoding"/>
            </a:endParaRPr>
          </a:p>
          <a:p>
            <a:pPr marL="0" lvl="0" indent="0">
              <a:buNone/>
              <a:defRPr/>
            </a:pPr>
            <a:r>
              <a:rPr lang="en-US" sz="1520">
                <a:solidFill>
                  <a:srgbClr val="111827"/>
                </a:solidFill>
                <a:latin typeface="NanumGothicCoding"/>
                <a:ea typeface="NanumGothicCoding"/>
                <a:cs typeface="NanumGothicCoding"/>
              </a:rPr>
              <a:t>)</a:t>
            </a:r>
            <a:endParaRPr lang="en-US" sz="1520">
              <a:solidFill>
                <a:srgbClr val="111827"/>
              </a:solidFill>
              <a:latin typeface="NanumGothicCoding"/>
              <a:ea typeface="NanumGothicCoding"/>
              <a:cs typeface="NanumGothicCoding"/>
            </a:endParaRPr>
          </a:p>
          <a:p>
            <a:pPr marL="0" lvl="0" indent="0">
              <a:buNone/>
              <a:defRPr/>
            </a:pPr>
            <a:endParaRPr lang="en-US" sz="1520"/>
          </a:p>
          <a:p>
            <a:pPr marL="0" lvl="0" indent="0">
              <a:buNone/>
              <a:defRPr/>
            </a:pPr>
            <a:r>
              <a:rPr lang="en-US" sz="1520">
                <a:solidFill>
                  <a:srgbClr val="111827"/>
                </a:solidFill>
                <a:latin typeface="NanumGothicCoding"/>
                <a:ea typeface="NanumGothicCoding"/>
                <a:cs typeface="NanumGothicCoding"/>
              </a:rPr>
              <a:t>prompt = ChatPromptTemplate.from_messages([</a:t>
            </a:r>
            <a:endParaRPr lang="en-US" sz="1520">
              <a:solidFill>
                <a:srgbClr val="111827"/>
              </a:solidFill>
              <a:latin typeface="NanumGothicCoding"/>
              <a:ea typeface="NanumGothicCoding"/>
              <a:cs typeface="NanumGothicCoding"/>
            </a:endParaRPr>
          </a:p>
          <a:p>
            <a:pPr marL="0" lvl="0" indent="0">
              <a:buNone/>
              <a:defRPr/>
            </a:pPr>
            <a:r>
              <a:rPr lang="en-US" sz="1520">
                <a:solidFill>
                  <a:srgbClr val="111827"/>
                </a:solidFill>
                <a:latin typeface="NanumGothicCoding"/>
                <a:ea typeface="NanumGothicCoding"/>
                <a:cs typeface="NanumGothicCoding"/>
              </a:rPr>
              <a:t>    ("system", "You are a friendly tutor."),</a:t>
            </a:r>
            <a:endParaRPr lang="en-US" sz="1520">
              <a:solidFill>
                <a:srgbClr val="111827"/>
              </a:solidFill>
              <a:latin typeface="NanumGothicCoding"/>
              <a:ea typeface="NanumGothicCoding"/>
              <a:cs typeface="NanumGothicCoding"/>
            </a:endParaRPr>
          </a:p>
          <a:p>
            <a:pPr marL="0" lvl="0" indent="0">
              <a:buNone/>
              <a:defRPr/>
            </a:pPr>
            <a:r>
              <a:rPr lang="en-US" sz="1520">
                <a:solidFill>
                  <a:srgbClr val="111827"/>
                </a:solidFill>
                <a:latin typeface="NanumGothicCoding"/>
                <a:ea typeface="NanumGothicCoding"/>
                <a:cs typeface="NanumGothicCoding"/>
              </a:rPr>
              <a:t>    ("human", "Explain LangChain in simple terms.")</a:t>
            </a:r>
            <a:endParaRPr lang="en-US" sz="1520">
              <a:solidFill>
                <a:srgbClr val="111827"/>
              </a:solidFill>
              <a:latin typeface="NanumGothicCoding"/>
              <a:ea typeface="NanumGothicCoding"/>
              <a:cs typeface="NanumGothicCoding"/>
            </a:endParaRPr>
          </a:p>
          <a:p>
            <a:pPr marL="0" lvl="0" indent="0">
              <a:buNone/>
              <a:defRPr/>
            </a:pPr>
            <a:r>
              <a:rPr lang="en-US" sz="1520">
                <a:solidFill>
                  <a:srgbClr val="111827"/>
                </a:solidFill>
                <a:latin typeface="NanumGothicCoding"/>
                <a:ea typeface="NanumGothicCoding"/>
                <a:cs typeface="NanumGothicCoding"/>
              </a:rPr>
              <a:t>])</a:t>
            </a:r>
            <a:endParaRPr lang="en-US" sz="1520">
              <a:solidFill>
                <a:srgbClr val="111827"/>
              </a:solidFill>
              <a:latin typeface="NanumGothicCoding"/>
              <a:ea typeface="NanumGothicCoding"/>
              <a:cs typeface="NanumGothicCoding"/>
            </a:endParaRPr>
          </a:p>
          <a:p>
            <a:pPr marL="0" lvl="0" indent="0">
              <a:buNone/>
              <a:defRPr/>
            </a:pPr>
            <a:endParaRPr lang="en-US" sz="1520"/>
          </a:p>
          <a:p>
            <a:pPr marL="0" lvl="0" indent="0">
              <a:buNone/>
              <a:defRPr/>
            </a:pPr>
            <a:r>
              <a:rPr lang="en-US" sz="1520">
                <a:solidFill>
                  <a:srgbClr val="111827"/>
                </a:solidFill>
                <a:latin typeface="NanumGothicCoding"/>
                <a:ea typeface="NanumGothicCoding"/>
                <a:cs typeface="NanumGothicCoding"/>
              </a:rPr>
              <a:t>chain = prompt | llm</a:t>
            </a:r>
            <a:endParaRPr lang="en-US" sz="1520">
              <a:solidFill>
                <a:srgbClr val="111827"/>
              </a:solidFill>
              <a:latin typeface="NanumGothicCoding"/>
              <a:ea typeface="NanumGothicCoding"/>
              <a:cs typeface="NanumGothicCoding"/>
            </a:endParaRPr>
          </a:p>
          <a:p>
            <a:pPr marL="0" lvl="0" indent="0">
              <a:buNone/>
              <a:defRPr/>
            </a:pPr>
            <a:r>
              <a:rPr lang="en-US" sz="1520">
                <a:solidFill>
                  <a:srgbClr val="111827"/>
                </a:solidFill>
                <a:latin typeface="NanumGothicCoding"/>
                <a:ea typeface="NanumGothicCoding"/>
                <a:cs typeface="NanumGothicCoding"/>
              </a:rPr>
              <a:t>result = chain.invoke({})</a:t>
            </a:r>
            <a:endParaRPr lang="en-US" sz="1520"/>
          </a:p>
        </p:txBody>
      </p:sp>
      <p:sp>
        <p:nvSpPr>
          <p:cNvPr id="8" name="Text 6"/>
          <p:cNvSpPr/>
          <p:nvPr/>
        </p:nvSpPr>
        <p:spPr>
          <a:xfrm>
            <a:off x="7406640" y="1737360"/>
            <a:ext cx="1645920" cy="384048"/>
          </a:xfrm>
          <a:prstGeom prst="rect">
            <a:avLst/>
          </a:prstGeom>
          <a:noFill/>
          <a:ln/>
        </p:spPr>
        <p:txBody>
          <a:bodyPr wrap="square" lIns="762" tIns="762" rIns="762" bIns="762" anchor="ctr">
            <a:normAutofit/>
          </a:bodyPr>
          <a:lstStyle/>
          <a:p>
            <a:pPr marL="0" lvl="0" indent="0" algn="l">
              <a:buNone/>
              <a:defRPr/>
            </a:pPr>
            <a:r>
              <a:rPr lang="en-US" sz="2300" b="1">
                <a:solidFill>
                  <a:srgbClr val="246bfe"/>
                </a:solidFill>
                <a:latin typeface="NanumBarunGothic"/>
                <a:ea typeface="NanumBarunGothic"/>
                <a:cs typeface="NanumBarunGothic"/>
              </a:rPr>
              <a:t>성공 기준</a:t>
            </a:r>
            <a:endParaRPr lang="en-US" sz="2300"/>
          </a:p>
        </p:txBody>
      </p:sp>
      <p:sp>
        <p:nvSpPr>
          <p:cNvPr id="9" name="Text 7"/>
          <p:cNvSpPr/>
          <p:nvPr/>
        </p:nvSpPr>
        <p:spPr>
          <a:xfrm>
            <a:off x="7406640" y="2240280"/>
            <a:ext cx="4160520" cy="2011680"/>
          </a:xfrm>
          <a:prstGeom prst="rect">
            <a:avLst/>
          </a:prstGeom>
          <a:noFill/>
          <a:ln/>
        </p:spPr>
        <p:txBody>
          <a:bodyPr wrap="square" lIns="1016" tIns="1016" rIns="1016" bIns="1016" anchor="t">
            <a:normAutofit fontScale="92500" lnSpcReduction="10000"/>
          </a:bodyPr>
          <a:lstStyle/>
          <a:p>
            <a:pPr marL="0" lvl="0" indent="0">
              <a:buNone/>
              <a:defRPr/>
            </a:pPr>
            <a:r>
              <a:rPr lang="en-US" sz="22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• 터미널에 답변이 출력된다</a:t>
            </a:r>
            <a:endParaRPr lang="en-US" sz="22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2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• temperature를 낮추면 답변이 안정적이다</a:t>
            </a:r>
            <a:endParaRPr lang="en-US" sz="22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2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• system 메시지로 말투와 역할을 정한다</a:t>
            </a:r>
            <a:endParaRPr lang="en-US" sz="22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2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• human 메시지에 실제 질문을 넣는다</a:t>
            </a:r>
            <a:endParaRPr lang="en-US" sz="2200"/>
          </a:p>
        </p:txBody>
      </p:sp>
      <p:sp>
        <p:nvSpPr>
          <p:cNvPr id="10" name="Text 8"/>
          <p:cNvSpPr/>
          <p:nvPr/>
        </p:nvSpPr>
        <p:spPr>
          <a:xfrm>
            <a:off x="7406640" y="4800600"/>
            <a:ext cx="4160520" cy="777240"/>
          </a:xfrm>
          <a:prstGeom prst="rect">
            <a:avLst/>
          </a:prstGeom>
          <a:solidFill>
            <a:srgbClr val="fff4d6"/>
          </a:solidFill>
          <a:ln w="10160">
            <a:solidFill>
              <a:srgbClr val="fff4d6"/>
            </a:solidFill>
          </a:ln>
        </p:spPr>
        <p:txBody>
          <a:bodyPr wrap="square" lIns="762" tIns="762" rIns="762" bIns="762" anchor="ctr">
            <a:normAutofit lnSpcReduction="10000"/>
          </a:bodyPr>
          <a:lstStyle/>
          <a:p>
            <a:pPr marL="0" lvl="0" indent="0" algn="ctr">
              <a:buNone/>
              <a:defRPr/>
            </a:pPr>
            <a:r>
              <a:rPr lang="en-US" sz="2200" b="1">
                <a:solidFill>
                  <a:srgbClr val="12314f"/>
                </a:solidFill>
                <a:latin typeface="NanumBarunGothic"/>
                <a:ea typeface="NanumBarunGothic"/>
                <a:cs typeface="NanumBarunGothic"/>
              </a:rPr>
              <a:t>처음 목표는 “챗봇 완성”이 아니라</a:t>
            </a:r>
            <a:endParaRPr lang="en-US" sz="2200" b="1">
              <a:solidFill>
                <a:srgbClr val="12314f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 algn="ctr">
              <a:buNone/>
              <a:defRPr/>
            </a:pPr>
            <a:r>
              <a:rPr lang="en-US" sz="2200" b="1">
                <a:solidFill>
                  <a:srgbClr val="12314f"/>
                </a:solidFill>
                <a:latin typeface="NanumBarunGothic"/>
                <a:ea typeface="NanumBarunGothic"/>
                <a:cs typeface="NanumBarunGothic"/>
              </a:rPr>
              <a:t>한 번의 질문-답변 성공입니다.</a:t>
            </a:r>
            <a:endParaRPr lang="en-US" sz="2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>
                <a:solidFill>
                  <a:srgbClr val="64748b"/>
                </a:solidFill>
                <a:latin typeface="NanumBarunGothic"/>
                <a:ea typeface="NanumBarunGothic"/>
                <a:cs typeface="NanumBarunGothic"/>
              </a:rPr>
              <a:t>초보자용 LLM 응용 개발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3100" b="1">
                <a:solidFill>
                  <a:srgbClr val="12314f"/>
                </a:solidFill>
                <a:latin typeface="NanumSquare"/>
                <a:ea typeface="NanumSquare"/>
                <a:cs typeface="NanumSquare"/>
              </a:rPr>
              <a:t>4단계: RAG는 왜 필요한가?</a:t>
            </a:r>
            <a:endParaRPr lang="en-US" sz="310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064240" cy="0"/>
          </a:xfrm>
          <a:prstGeom prst="line">
            <a:avLst/>
          </a:prstGeom>
          <a:noFill/>
          <a:ln w="15240">
            <a:solidFill>
              <a:srgbClr val="dcebff"/>
            </a:solidFill>
            <a:prstDash val="solid"/>
          </a:ln>
        </p:spPr>
        <p:txBody>
          <a:bodyPr wrap="square"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r">
              <a:buNone/>
              <a:defRPr/>
            </a:pPr>
            <a:r>
              <a:rPr lang="en-US" sz="900">
                <a:solidFill>
                  <a:srgbClr val="9aa5b1"/>
                </a:solidFill>
                <a:latin typeface="NanumBarunGothic"/>
                <a:ea typeface="NanumBarunGothic"/>
                <a:cs typeface="NanumBarunGothic"/>
              </a:rPr>
              <a:t>12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411480"/>
          </a:xfrm>
          <a:prstGeom prst="rect">
            <a:avLst/>
          </a:prstGeom>
          <a:noFill/>
          <a:ln/>
        </p:spPr>
        <p:txBody>
          <a:bodyPr wrap="square" lIns="762" tIns="762" rIns="762" bIns="762" anchor="ctr">
            <a:normAutofit/>
          </a:bodyPr>
          <a:lstStyle/>
          <a:p>
            <a:pPr marL="0" lvl="0" indent="0" algn="l">
              <a:buNone/>
              <a:defRPr/>
            </a:pPr>
            <a:r>
              <a:rPr lang="en-US" sz="2500" b="1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LLM이 모르는 내 문서를 검색해서, 답변의 근거로 붙여주는 방식입니다.</a:t>
            </a:r>
            <a:endParaRPr lang="en-US" sz="2500"/>
          </a:p>
        </p:txBody>
      </p:sp>
      <p:sp>
        <p:nvSpPr>
          <p:cNvPr id="8" name="Text 6"/>
          <p:cNvSpPr/>
          <p:nvPr/>
        </p:nvSpPr>
        <p:spPr>
          <a:xfrm>
            <a:off x="822960" y="2148840"/>
            <a:ext cx="3383280" cy="384048"/>
          </a:xfrm>
          <a:prstGeom prst="rect">
            <a:avLst/>
          </a:prstGeom>
          <a:noFill/>
          <a:ln/>
        </p:spPr>
        <p:txBody>
          <a:bodyPr wrap="square" lIns="1016" tIns="1016" rIns="1016" bIns="1016" anchor="ctr">
            <a:normAutofit/>
          </a:bodyPr>
          <a:lstStyle/>
          <a:p>
            <a:pPr marL="0" lvl="0" indent="0">
              <a:buNone/>
              <a:defRPr/>
            </a:pPr>
            <a:r>
              <a:rPr lang="en-US" sz="2100" b="1">
                <a:solidFill>
                  <a:srgbClr val="ef4444"/>
                </a:solidFill>
                <a:latin typeface="NanumSquare"/>
                <a:ea typeface="NanumSquare"/>
                <a:cs typeface="NanumSquare"/>
              </a:rPr>
              <a:t>일반 LLM 답변</a:t>
            </a:r>
            <a:endParaRPr lang="en-US" sz="2100"/>
          </a:p>
        </p:txBody>
      </p:sp>
      <p:sp>
        <p:nvSpPr>
          <p:cNvPr id="9" name="Text 7"/>
          <p:cNvSpPr/>
          <p:nvPr/>
        </p:nvSpPr>
        <p:spPr>
          <a:xfrm>
            <a:off x="822960" y="2762562"/>
            <a:ext cx="3383280" cy="1463040"/>
          </a:xfrm>
          <a:prstGeom prst="rect">
            <a:avLst/>
          </a:prstGeom>
          <a:noFill/>
          <a:ln/>
        </p:spPr>
        <p:txBody>
          <a:bodyPr wrap="square" lIns="1016" tIns="1016" rIns="1016" bIns="1016" anchor="t">
            <a:normAutofit/>
          </a:bodyPr>
          <a:lstStyle/>
          <a:p>
            <a:pPr marL="0" lvl="0" indent="0">
              <a:buNone/>
              <a:defRPr/>
            </a:pPr>
            <a:r>
              <a:rPr lang="en-US" sz="21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사전 학습 지식에 의존</a:t>
            </a:r>
            <a:endParaRPr lang="en-US" sz="21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1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최신 자료·사내 문서에 약함</a:t>
            </a:r>
            <a:endParaRPr lang="en-US" sz="21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1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그럴듯한 오답 위험</a:t>
            </a:r>
            <a:endParaRPr lang="en-US" sz="2100"/>
          </a:p>
        </p:txBody>
      </p:sp>
      <p:sp>
        <p:nvSpPr>
          <p:cNvPr id="10" name="Text 8"/>
          <p:cNvSpPr/>
          <p:nvPr/>
        </p:nvSpPr>
        <p:spPr>
          <a:xfrm>
            <a:off x="4526280" y="2148840"/>
            <a:ext cx="3383280" cy="384048"/>
          </a:xfrm>
          <a:prstGeom prst="rect">
            <a:avLst/>
          </a:prstGeom>
          <a:noFill/>
          <a:ln/>
        </p:spPr>
        <p:txBody>
          <a:bodyPr wrap="square" lIns="1016" tIns="1016" rIns="1016" bIns="1016" anchor="ctr">
            <a:normAutofit/>
          </a:bodyPr>
          <a:lstStyle/>
          <a:p>
            <a:pPr marL="0" lvl="0" indent="0">
              <a:buNone/>
              <a:defRPr/>
            </a:pPr>
            <a:r>
              <a:rPr lang="en-US" sz="2100" b="1">
                <a:solidFill>
                  <a:srgbClr val="00a7a5"/>
                </a:solidFill>
                <a:latin typeface="NanumSquare"/>
                <a:ea typeface="NanumSquare"/>
                <a:cs typeface="NanumSquare"/>
              </a:rPr>
              <a:t>RAG 답변</a:t>
            </a:r>
            <a:endParaRPr lang="en-US" sz="2100"/>
          </a:p>
        </p:txBody>
      </p:sp>
      <p:sp>
        <p:nvSpPr>
          <p:cNvPr id="11" name="Text 9"/>
          <p:cNvSpPr/>
          <p:nvPr/>
        </p:nvSpPr>
        <p:spPr>
          <a:xfrm>
            <a:off x="4526280" y="2762562"/>
            <a:ext cx="3383280" cy="1463040"/>
          </a:xfrm>
          <a:prstGeom prst="rect">
            <a:avLst/>
          </a:prstGeom>
          <a:noFill/>
          <a:ln/>
        </p:spPr>
        <p:txBody>
          <a:bodyPr wrap="square" lIns="1016" tIns="1016" rIns="1016" bIns="1016" anchor="t">
            <a:normAutofit/>
          </a:bodyPr>
          <a:lstStyle/>
          <a:p>
            <a:pPr marL="0" lvl="0" indent="0">
              <a:buNone/>
              <a:defRPr/>
            </a:pPr>
            <a:r>
              <a:rPr lang="en-US" sz="21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관련 문서 조각을 먼저 검색</a:t>
            </a:r>
            <a:endParaRPr lang="en-US" sz="21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1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그 문서만 근거로 답변</a:t>
            </a:r>
            <a:endParaRPr lang="en-US" sz="21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1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출처와 통제가 쉬움</a:t>
            </a:r>
            <a:endParaRPr lang="en-US" sz="2100"/>
          </a:p>
        </p:txBody>
      </p:sp>
      <p:sp>
        <p:nvSpPr>
          <p:cNvPr id="12" name="Text 10"/>
          <p:cNvSpPr/>
          <p:nvPr/>
        </p:nvSpPr>
        <p:spPr>
          <a:xfrm>
            <a:off x="8229600" y="2148840"/>
            <a:ext cx="3200400" cy="384048"/>
          </a:xfrm>
          <a:prstGeom prst="rect">
            <a:avLst/>
          </a:prstGeom>
          <a:noFill/>
          <a:ln/>
        </p:spPr>
        <p:txBody>
          <a:bodyPr wrap="square" lIns="1016" tIns="1016" rIns="1016" bIns="1016" anchor="ctr">
            <a:normAutofit/>
          </a:bodyPr>
          <a:lstStyle/>
          <a:p>
            <a:pPr marL="0" lvl="0" indent="0">
              <a:buNone/>
              <a:defRPr/>
            </a:pPr>
            <a:r>
              <a:rPr lang="ko-KR" altLang="en-US" sz="2100" b="1">
                <a:solidFill>
                  <a:srgbClr val="246bfe"/>
                </a:solidFill>
                <a:latin typeface="NanumSquare"/>
                <a:ea typeface="NanumSquare"/>
                <a:cs typeface="NanumSquare"/>
              </a:rPr>
              <a:t>개발</a:t>
            </a:r>
            <a:r>
              <a:rPr lang="en-US" sz="2100" b="1">
                <a:solidFill>
                  <a:srgbClr val="246bfe"/>
                </a:solidFill>
                <a:latin typeface="NanumSquare"/>
                <a:ea typeface="NanumSquare"/>
                <a:cs typeface="NanumSquare"/>
              </a:rPr>
              <a:t>자 이해</a:t>
            </a:r>
            <a:endParaRPr lang="en-US" sz="2100" b="1">
              <a:solidFill>
                <a:srgbClr val="246bfe"/>
              </a:solidFill>
              <a:latin typeface="NanumSquare"/>
              <a:ea typeface="NanumSquare"/>
              <a:cs typeface="NanumSquare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29600" y="2762562"/>
            <a:ext cx="3200400" cy="1463040"/>
          </a:xfrm>
          <a:prstGeom prst="rect">
            <a:avLst/>
          </a:prstGeom>
          <a:noFill/>
          <a:ln/>
        </p:spPr>
        <p:txBody>
          <a:bodyPr wrap="square" lIns="1016" tIns="1016" rIns="1016" bIns="1016" anchor="t">
            <a:normAutofit/>
          </a:bodyPr>
          <a:lstStyle/>
          <a:p>
            <a:pPr marL="0" lvl="0" indent="0">
              <a:buNone/>
              <a:defRPr/>
            </a:pPr>
            <a:r>
              <a:rPr lang="en-US" sz="21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“책을 펴놓고 답하는 LLM”</a:t>
            </a:r>
            <a:endParaRPr lang="en-US" sz="21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1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문서에 없으면 없다고 답하게 함</a:t>
            </a:r>
            <a:endParaRPr lang="en-US" sz="2100"/>
          </a:p>
        </p:txBody>
      </p:sp>
      <p:sp>
        <p:nvSpPr>
          <p:cNvPr id="14" name="Text 12"/>
          <p:cNvSpPr/>
          <p:nvPr/>
        </p:nvSpPr>
        <p:spPr>
          <a:xfrm>
            <a:off x="822960" y="5074920"/>
            <a:ext cx="10515600" cy="530352"/>
          </a:xfrm>
          <a:prstGeom prst="rect">
            <a:avLst/>
          </a:prstGeom>
          <a:solidFill>
            <a:srgbClr val="eaf2ff"/>
          </a:solidFill>
          <a:ln w="10160">
            <a:solidFill>
              <a:srgbClr val="eaf2ff"/>
            </a:solidFill>
          </a:ln>
        </p:spPr>
        <p:txBody>
          <a:bodyPr wrap="square" lIns="762" tIns="762" rIns="762" bIns="762" anchor="ctr">
            <a:normAutofit/>
          </a:bodyPr>
          <a:lstStyle/>
          <a:p>
            <a:pPr marL="0" lvl="0" indent="0" algn="ctr">
              <a:buNone/>
              <a:defRPr/>
            </a:pPr>
            <a:r>
              <a:rPr lang="en-US" sz="2500" b="1">
                <a:solidFill>
                  <a:srgbClr val="12314f"/>
                </a:solidFill>
                <a:latin typeface="NanumBarunGothic"/>
                <a:ea typeface="NanumBarunGothic"/>
                <a:cs typeface="NanumBarunGothic"/>
              </a:rPr>
              <a:t>핵심 규칙: “제공된 문서에 근거해서만 답하라. 없으면 없다고 말하라.”</a:t>
            </a:r>
            <a:endParaRPr lang="en-US" sz="25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3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>
                <a:solidFill>
                  <a:srgbClr val="64748b"/>
                </a:solidFill>
                <a:latin typeface="NanumBarunGothic"/>
                <a:ea typeface="NanumBarunGothic"/>
                <a:cs typeface="NanumBarunGothic"/>
              </a:rPr>
              <a:t>초보자용 LLM 응용 개발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3100" b="1">
                <a:solidFill>
                  <a:srgbClr val="12314f"/>
                </a:solidFill>
                <a:latin typeface="NanumSquare"/>
                <a:ea typeface="NanumSquare"/>
                <a:cs typeface="NanumSquare"/>
              </a:rPr>
              <a:t>RAG 전체 흐름</a:t>
            </a:r>
            <a:endParaRPr lang="en-US" sz="310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064240" cy="0"/>
          </a:xfrm>
          <a:prstGeom prst="line">
            <a:avLst/>
          </a:prstGeom>
          <a:noFill/>
          <a:ln w="15240">
            <a:solidFill>
              <a:srgbClr val="dcebff"/>
            </a:solidFill>
            <a:prstDash val="solid"/>
          </a:ln>
        </p:spPr>
        <p:txBody>
          <a:bodyPr wrap="square"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r">
              <a:buNone/>
              <a:defRPr/>
            </a:pPr>
            <a:r>
              <a:rPr lang="en-US" sz="900">
                <a:solidFill>
                  <a:srgbClr val="9aa5b1"/>
                </a:solidFill>
                <a:latin typeface="NanumBarunGothic"/>
                <a:ea typeface="NanumBarunGothic"/>
                <a:cs typeface="NanumBarunGothic"/>
              </a:rPr>
              <a:t>13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411480"/>
          </a:xfrm>
          <a:prstGeom prst="rect">
            <a:avLst/>
          </a:prstGeom>
          <a:noFill/>
          <a:ln/>
        </p:spPr>
        <p:txBody>
          <a:bodyPr wrap="square" lIns="762" tIns="762" rIns="762" bIns="762" anchor="ctr">
            <a:normAutofit/>
          </a:bodyPr>
          <a:lstStyle/>
          <a:p>
            <a:pPr marL="0" lvl="0" indent="0" algn="l">
              <a:buNone/>
              <a:defRPr/>
            </a:pPr>
            <a:r>
              <a:rPr lang="en-US" sz="2500" b="1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RAG는 Retrieve → Augment → Generate 세 단계로 이해하면 됩니다.</a:t>
            </a:r>
            <a:endParaRPr lang="en-US" sz="250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438912" cy="438912"/>
          </a:xfrm>
          <a:prstGeom prst="rect">
            <a:avLst/>
          </a:prstGeom>
          <a:solidFill>
            <a:srgbClr val="246bfe"/>
          </a:solidFill>
          <a:ln>
            <a:solidFill>
              <a:srgbClr val="246bfe"/>
            </a:solidFill>
          </a:ln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1</a:t>
            </a:r>
            <a:endParaRPr lang="en-US" sz="1800"/>
          </a:p>
        </p:txBody>
      </p:sp>
      <p:sp>
        <p:nvSpPr>
          <p:cNvPr id="9" name="Text 7"/>
          <p:cNvSpPr/>
          <p:nvPr/>
        </p:nvSpPr>
        <p:spPr>
          <a:xfrm>
            <a:off x="1481328" y="2368296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lnSpcReduction="10000"/>
          </a:bodyPr>
          <a:lstStyle/>
          <a:p>
            <a:pPr marL="0" lvl="0" indent="0">
              <a:buNone/>
              <a:defRPr/>
            </a:pPr>
            <a:r>
              <a:rPr lang="en-US" sz="2100" b="1">
                <a:solidFill>
                  <a:srgbClr val="12314f"/>
                </a:solidFill>
                <a:latin typeface="NanumSquare"/>
                <a:ea typeface="NanumSquare"/>
                <a:cs typeface="NanumSquare"/>
              </a:rPr>
              <a:t>Retrieve</a:t>
            </a:r>
            <a:endParaRPr lang="en-US" sz="2100"/>
          </a:p>
        </p:txBody>
      </p:sp>
      <p:sp>
        <p:nvSpPr>
          <p:cNvPr id="10" name="Text 8"/>
          <p:cNvSpPr/>
          <p:nvPr/>
        </p:nvSpPr>
        <p:spPr>
          <a:xfrm>
            <a:off x="1481328" y="3124859"/>
            <a:ext cx="2359152" cy="74980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/>
          </a:bodyPr>
          <a:lstStyle/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질문과 관련된</a:t>
            </a:r>
            <a:endParaRPr lang="en-US" sz="20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문서 조각 검색</a:t>
            </a:r>
            <a:endParaRPr lang="en-US" sz="2000"/>
          </a:p>
        </p:txBody>
      </p:sp>
      <p:sp>
        <p:nvSpPr>
          <p:cNvPr id="11" name="Text 9"/>
          <p:cNvSpPr/>
          <p:nvPr/>
        </p:nvSpPr>
        <p:spPr>
          <a:xfrm>
            <a:off x="4572000" y="2377440"/>
            <a:ext cx="438912" cy="43891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2</a:t>
            </a:r>
            <a:endParaRPr lang="en-US" sz="1800"/>
          </a:p>
        </p:txBody>
      </p:sp>
      <p:sp>
        <p:nvSpPr>
          <p:cNvPr id="12" name="Text 10"/>
          <p:cNvSpPr/>
          <p:nvPr/>
        </p:nvSpPr>
        <p:spPr>
          <a:xfrm>
            <a:off x="5138928" y="2368296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lnSpcReduction="10000"/>
          </a:bodyPr>
          <a:lstStyle/>
          <a:p>
            <a:pPr marL="0" lvl="0" indent="0">
              <a:buNone/>
              <a:defRPr/>
            </a:pPr>
            <a:r>
              <a:rPr lang="en-US" sz="2100" b="1">
                <a:solidFill>
                  <a:srgbClr val="12314f"/>
                </a:solidFill>
                <a:latin typeface="NanumSquare"/>
                <a:ea typeface="NanumSquare"/>
                <a:cs typeface="NanumSquare"/>
              </a:rPr>
              <a:t>Augment</a:t>
            </a:r>
            <a:endParaRPr lang="en-US" sz="2100"/>
          </a:p>
        </p:txBody>
      </p:sp>
      <p:sp>
        <p:nvSpPr>
          <p:cNvPr id="13" name="Text 11"/>
          <p:cNvSpPr/>
          <p:nvPr/>
        </p:nvSpPr>
        <p:spPr>
          <a:xfrm>
            <a:off x="5138928" y="3124859"/>
            <a:ext cx="2359152" cy="74980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/>
          </a:bodyPr>
          <a:lstStyle/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검색된 내용을</a:t>
            </a:r>
            <a:endParaRPr lang="en-US" sz="20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프롬프트에 추가</a:t>
            </a:r>
            <a:endParaRPr lang="en-US" sz="2000"/>
          </a:p>
        </p:txBody>
      </p:sp>
      <p:sp>
        <p:nvSpPr>
          <p:cNvPr id="14" name="Text 12"/>
          <p:cNvSpPr/>
          <p:nvPr/>
        </p:nvSpPr>
        <p:spPr>
          <a:xfrm>
            <a:off x="8229600" y="2377440"/>
            <a:ext cx="438912" cy="438912"/>
          </a:xfrm>
          <a:prstGeom prst="rect">
            <a:avLst/>
          </a:prstGeom>
          <a:solidFill>
            <a:srgbClr val="00a7a5"/>
          </a:solidFill>
          <a:ln>
            <a:solidFill>
              <a:srgbClr val="00a7a5"/>
            </a:solidFill>
          </a:ln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3</a:t>
            </a:r>
            <a:endParaRPr lang="en-US" sz="1800"/>
          </a:p>
        </p:txBody>
      </p:sp>
      <p:sp>
        <p:nvSpPr>
          <p:cNvPr id="15" name="Text 13"/>
          <p:cNvSpPr/>
          <p:nvPr/>
        </p:nvSpPr>
        <p:spPr>
          <a:xfrm>
            <a:off x="8796528" y="2368296"/>
            <a:ext cx="2359152" cy="31089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lnSpcReduction="10000"/>
          </a:bodyPr>
          <a:lstStyle/>
          <a:p>
            <a:pPr marL="0" lvl="0" indent="0">
              <a:buNone/>
              <a:defRPr/>
            </a:pPr>
            <a:r>
              <a:rPr lang="en-US" sz="2100" b="1">
                <a:solidFill>
                  <a:srgbClr val="12314f"/>
                </a:solidFill>
                <a:latin typeface="NanumSquare"/>
                <a:ea typeface="NanumSquare"/>
                <a:cs typeface="NanumSquare"/>
              </a:rPr>
              <a:t>Generate</a:t>
            </a:r>
            <a:endParaRPr lang="en-US" sz="2100"/>
          </a:p>
        </p:txBody>
      </p:sp>
      <p:sp>
        <p:nvSpPr>
          <p:cNvPr id="16" name="Text 14"/>
          <p:cNvSpPr/>
          <p:nvPr/>
        </p:nvSpPr>
        <p:spPr>
          <a:xfrm>
            <a:off x="8796528" y="3124859"/>
            <a:ext cx="2359152" cy="749808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rmAutofit lnSpcReduction="10000"/>
          </a:bodyPr>
          <a:lstStyle/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LLM이 문서를 근거로</a:t>
            </a:r>
            <a:endParaRPr lang="en-US" sz="20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0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답변 생성</a:t>
            </a:r>
            <a:endParaRPr lang="en-US" sz="2000"/>
          </a:p>
        </p:txBody>
      </p:sp>
      <p:sp>
        <p:nvSpPr>
          <p:cNvPr id="17" name="Text 15"/>
          <p:cNvSpPr/>
          <p:nvPr/>
        </p:nvSpPr>
        <p:spPr>
          <a:xfrm>
            <a:off x="1097280" y="4754880"/>
            <a:ext cx="2103120" cy="384048"/>
          </a:xfrm>
          <a:prstGeom prst="rect">
            <a:avLst/>
          </a:prstGeom>
          <a:noFill/>
          <a:ln/>
        </p:spPr>
        <p:txBody>
          <a:bodyPr wrap="square" lIns="762" tIns="762" rIns="762" bIns="762" anchor="ctr">
            <a:normAutofit/>
          </a:bodyPr>
          <a:lstStyle/>
          <a:p>
            <a:pPr marL="0" lvl="0" indent="0" algn="l">
              <a:buNone/>
              <a:defRPr/>
            </a:pPr>
            <a:r>
              <a:rPr lang="en-US" sz="2300" b="1">
                <a:solidFill>
                  <a:srgbClr val="246bfe"/>
                </a:solidFill>
                <a:latin typeface="NanumBarunGothic"/>
                <a:ea typeface="NanumBarunGothic"/>
                <a:cs typeface="NanumBarunGothic"/>
              </a:rPr>
              <a:t>RAG의 본질</a:t>
            </a:r>
            <a:endParaRPr lang="en-US" sz="2300"/>
          </a:p>
        </p:txBody>
      </p:sp>
      <p:sp>
        <p:nvSpPr>
          <p:cNvPr id="18" name="Text 16"/>
          <p:cNvSpPr/>
          <p:nvPr/>
        </p:nvSpPr>
        <p:spPr>
          <a:xfrm>
            <a:off x="3246120" y="4599432"/>
            <a:ext cx="7589520" cy="566928"/>
          </a:xfrm>
          <a:prstGeom prst="rect">
            <a:avLst/>
          </a:prstGeom>
          <a:solidFill>
            <a:srgbClr val="fff4d6"/>
          </a:solidFill>
          <a:ln w="10160">
            <a:solidFill>
              <a:srgbClr val="fff4d6"/>
            </a:solidFill>
          </a:ln>
        </p:spPr>
        <p:txBody>
          <a:bodyPr wrap="square" lIns="762" tIns="762" rIns="762" bIns="762" anchor="ctr">
            <a:normAutofit/>
          </a:bodyPr>
          <a:lstStyle/>
          <a:p>
            <a:pPr marL="0" lvl="0" indent="0" algn="ctr">
              <a:buNone/>
              <a:defRPr/>
            </a:pPr>
            <a:r>
              <a:rPr lang="en-US" sz="2900" b="1">
                <a:solidFill>
                  <a:srgbClr val="12314f"/>
                </a:solidFill>
                <a:latin typeface="NanumBarunGothic"/>
                <a:ea typeface="NanumBarunGothic"/>
                <a:cs typeface="NanumBarunGothic"/>
              </a:rPr>
              <a:t>검색 결과를 “프롬프트 재료”로 넣는 것</a:t>
            </a:r>
            <a:endParaRPr lang="en-US" sz="29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초보자용 LLM 응용 개발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2314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RAG ① Ingestion: 문서를 인덱스로 만들기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064240" cy="0"/>
          </a:xfrm>
          <a:prstGeom prst="line">
            <a:avLst/>
          </a:prstGeom>
          <a:noFill/>
          <a:ln w="15240">
            <a:solidFill>
              <a:srgbClr val="DCE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문서를 읽고, 작은 조각으로 나눈 뒤, 벡터 DB에 저장합니다.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777240" y="2212848"/>
            <a:ext cx="438912" cy="438912"/>
          </a:xfrm>
          <a:prstGeom prst="rect">
            <a:avLst/>
          </a:prstGeom>
          <a:solidFill>
            <a:srgbClr val="246BFE"/>
          </a:solidFill>
          <a:ln>
            <a:solidFill>
              <a:srgbClr val="246BF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44168" y="2203704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2314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Loader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44168" y="2919084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data/*.txt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문서 읽기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971800" y="2212848"/>
            <a:ext cx="438912" cy="43891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38728" y="2203704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2314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Splitter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538728" y="2919084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500자 단위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50자 겹침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166360" y="2212848"/>
            <a:ext cx="438912" cy="438912"/>
          </a:xfrm>
          <a:prstGeom prst="rect">
            <a:avLst/>
          </a:prstGeom>
          <a:solidFill>
            <a:srgbClr val="00A7A5"/>
          </a:solidFill>
          <a:ln>
            <a:solidFill>
              <a:srgbClr val="00A7A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733288" y="2203704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2314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Embedding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5733288" y="2919084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nomic-embed-text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숫자 벡터화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726680" y="2212848"/>
            <a:ext cx="438912" cy="43891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93608" y="2203704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2314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FAISS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8293608" y="2919084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검색 가능한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인덱스 저장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921240" y="2212848"/>
            <a:ext cx="438912" cy="438912"/>
          </a:xfrm>
          <a:prstGeom prst="rect">
            <a:avLst/>
          </a:prstGeom>
          <a:solidFill>
            <a:srgbClr val="12314F"/>
          </a:solidFill>
          <a:ln>
            <a:solidFill>
              <a:srgbClr val="12314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488168" y="2203704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2314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Index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0488168" y="2919084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faiss_index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폴더 생성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68680" y="4251960"/>
            <a:ext cx="10424160" cy="1097280"/>
          </a:xfrm>
          <a:prstGeom prst="rect">
            <a:avLst/>
          </a:prstGeom>
          <a:solidFill>
            <a:srgbClr val="F4F6FA"/>
          </a:solidFill>
          <a:ln>
            <a:solidFill>
              <a:srgbClr val="D9E0EA"/>
            </a:solidFill>
          </a:ln>
        </p:spPr>
        <p:txBody>
          <a:bodyPr wrap="square" lIns="1524" tIns="1524" rIns="1524" bIns="1524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11827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documents = loader.load()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111827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chunks = splitter.split_documents(documents)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111827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embeddings = OllamaEmbeddings(model="nomic-embed-text")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111827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db = FAISS.from_documents(chunks, embeddings)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111827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db.save_local(str(INDEX_DIR))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초보자용 LLM 응용 개발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2314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RAG ② QA: 문서를 근거로 답하기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064240" cy="0"/>
          </a:xfrm>
          <a:prstGeom prst="line">
            <a:avLst/>
          </a:prstGeom>
          <a:noFill/>
          <a:ln w="15240">
            <a:solidFill>
              <a:srgbClr val="DCE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질문을 검색어처럼 사용해 관련 문서 조각을 찾고, 그 조각만 LLM에 제공합니다.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77240" y="2240280"/>
            <a:ext cx="438912" cy="438912"/>
          </a:xfrm>
          <a:prstGeom prst="rect">
            <a:avLst/>
          </a:prstGeom>
          <a:solidFill>
            <a:srgbClr val="246BFE"/>
          </a:solidFill>
          <a:ln>
            <a:solidFill>
              <a:srgbClr val="246BF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44168" y="2231136"/>
            <a:ext cx="1490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2314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Question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44168" y="2954754"/>
            <a:ext cx="14904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사용자 질문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971800" y="2240280"/>
            <a:ext cx="438912" cy="43891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38728" y="2231136"/>
            <a:ext cx="1490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2314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Retriever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538728" y="2954754"/>
            <a:ext cx="14904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관련 문서 검색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166360" y="2240280"/>
            <a:ext cx="438912" cy="438912"/>
          </a:xfrm>
          <a:prstGeom prst="rect">
            <a:avLst/>
          </a:prstGeom>
          <a:solidFill>
            <a:srgbClr val="00A7A5"/>
          </a:solidFill>
          <a:ln>
            <a:solidFill>
              <a:srgbClr val="00A7A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733288" y="2231136"/>
            <a:ext cx="1490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2314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Context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5733288" y="2954754"/>
            <a:ext cx="14904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문서 조각 결합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360920" y="2240280"/>
            <a:ext cx="438912" cy="43891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927848" y="2231136"/>
            <a:ext cx="1490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2314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Prompt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927848" y="2954754"/>
            <a:ext cx="14904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문서만 사용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555480" y="2240280"/>
            <a:ext cx="438912" cy="438912"/>
          </a:xfrm>
          <a:prstGeom prst="rect">
            <a:avLst/>
          </a:prstGeom>
          <a:solidFill>
            <a:srgbClr val="12314F"/>
          </a:solidFill>
          <a:ln>
            <a:solidFill>
              <a:srgbClr val="12314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122408" y="2231136"/>
            <a:ext cx="1490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2314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Answer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0122408" y="2954754"/>
            <a:ext cx="14904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근거 답변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68680" y="4160520"/>
            <a:ext cx="5760720" cy="1417320"/>
          </a:xfrm>
          <a:prstGeom prst="rect">
            <a:avLst/>
          </a:prstGeom>
          <a:solidFill>
            <a:srgbClr val="F4F6FA"/>
          </a:solidFill>
          <a:ln>
            <a:solidFill>
              <a:srgbClr val="D9E0EA"/>
            </a:solidFill>
          </a:ln>
        </p:spPr>
        <p:txBody>
          <a:bodyPr wrap="square" lIns="1524" tIns="1524" rIns="1524" bIns="1524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111827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docs = retriever.invoke(question)</a:t>
            </a:r>
            <a:endParaRPr lang="en-US" sz="1620" dirty="0"/>
          </a:p>
          <a:p>
            <a:pPr marL="0" indent="0">
              <a:buNone/>
            </a:pPr>
            <a:r>
              <a:rPr lang="en-US" sz="1620" dirty="0">
                <a:solidFill>
                  <a:srgbClr val="111827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context = "</a:t>
            </a:r>
            <a:endParaRPr lang="en-US" sz="1620" dirty="0"/>
          </a:p>
          <a:p>
            <a:pPr marL="0" indent="0">
              <a:buNone/>
            </a:pPr>
            <a:r>
              <a:rPr lang="en-US" sz="1620" dirty="0">
                <a:solidFill>
                  <a:srgbClr val="111827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".join(doc.page_content for doc in docs)</a:t>
            </a:r>
            <a:endParaRPr lang="en-US" sz="1620" dirty="0"/>
          </a:p>
          <a:p>
            <a:pPr marL="0" indent="0">
              <a:buNone/>
            </a:pPr>
            <a:r>
              <a:rPr lang="en-US" sz="1620" dirty="0">
                <a:solidFill>
                  <a:srgbClr val="111827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answer = (prompt | llm).invoke({</a:t>
            </a:r>
            <a:endParaRPr lang="en-US" sz="1620" dirty="0"/>
          </a:p>
          <a:p>
            <a:pPr marL="0" indent="0">
              <a:buNone/>
            </a:pPr>
            <a:r>
              <a:rPr lang="en-US" sz="1620" dirty="0">
                <a:solidFill>
                  <a:srgbClr val="111827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   "context": context,</a:t>
            </a:r>
            <a:endParaRPr lang="en-US" sz="1620" dirty="0"/>
          </a:p>
          <a:p>
            <a:pPr marL="0" indent="0">
              <a:buNone/>
            </a:pPr>
            <a:r>
              <a:rPr lang="en-US" sz="1620" dirty="0">
                <a:solidFill>
                  <a:srgbClr val="111827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    "question": question</a:t>
            </a:r>
            <a:endParaRPr lang="en-US" sz="1620" dirty="0"/>
          </a:p>
          <a:p>
            <a:pPr marL="0" indent="0">
              <a:buNone/>
            </a:pPr>
            <a:r>
              <a:rPr lang="en-US" sz="1620" dirty="0">
                <a:solidFill>
                  <a:srgbClr val="111827"/>
                </a:solidFill>
                <a:latin typeface="NanumGothicCoding" pitchFamily="34" charset="0"/>
                <a:ea typeface="NanumGothicCoding" pitchFamily="34" charset="-122"/>
                <a:cs typeface="NanumGothicCoding" pitchFamily="34" charset="-120"/>
              </a:rPr>
              <a:t>})</a:t>
            </a:r>
            <a:endParaRPr lang="en-US" sz="1620" dirty="0"/>
          </a:p>
        </p:txBody>
      </p:sp>
      <p:sp>
        <p:nvSpPr>
          <p:cNvPr id="24" name="Text 22"/>
          <p:cNvSpPr/>
          <p:nvPr/>
        </p:nvSpPr>
        <p:spPr>
          <a:xfrm>
            <a:off x="6903720" y="4160520"/>
            <a:ext cx="201168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46BFE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프롬프트 규칙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903720" y="4617720"/>
            <a:ext cx="4297680" cy="960120"/>
          </a:xfrm>
          <a:prstGeom prst="rect">
            <a:avLst/>
          </a:prstGeom>
          <a:solidFill>
            <a:srgbClr val="EAF2FF"/>
          </a:solidFill>
          <a:ln w="10160">
            <a:solidFill>
              <a:srgbClr val="EAF2FF"/>
            </a:solidFill>
          </a:ln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2314F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Answer using ONLY the context.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b="1" dirty="0">
                <a:solidFill>
                  <a:srgbClr val="12314F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If not in context, say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b="1" dirty="0">
                <a:solidFill>
                  <a:srgbClr val="12314F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“Not found in document.”</a:t>
            </a:r>
            <a:endParaRPr lang="en-US" sz="2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초보자용 LLM 응용 개발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2314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실습 실행 순서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064240" cy="0"/>
          </a:xfrm>
          <a:prstGeom prst="line">
            <a:avLst/>
          </a:prstGeom>
          <a:noFill/>
          <a:ln w="15240">
            <a:solidFill>
              <a:srgbClr val="DCE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아래 순서대로 하면 어디에서 막혔는지 쉽게 찾을 수 있습니다.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685800" y="2148840"/>
            <a:ext cx="438912" cy="438912"/>
          </a:xfrm>
          <a:prstGeom prst="rect">
            <a:avLst/>
          </a:prstGeom>
          <a:solidFill>
            <a:srgbClr val="246BFE"/>
          </a:solidFill>
          <a:ln>
            <a:solidFill>
              <a:srgbClr val="246BF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52728" y="2139696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2314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Ollama 실행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252728" y="2690316"/>
            <a:ext cx="22677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ollama serve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모델 pull 확인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657600" y="2148840"/>
            <a:ext cx="438912" cy="43891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224528" y="2139696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2314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Basic QA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224528" y="2690316"/>
            <a:ext cx="22677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01_basic_qa.py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단독 실행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629400" y="2148840"/>
            <a:ext cx="438912" cy="438912"/>
          </a:xfrm>
          <a:prstGeom prst="rect">
            <a:avLst/>
          </a:prstGeom>
          <a:solidFill>
            <a:srgbClr val="00A7A5"/>
          </a:solidFill>
          <a:ln>
            <a:solidFill>
              <a:srgbClr val="00A7A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196328" y="2139696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2314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문서 준비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7196328" y="2690316"/>
            <a:ext cx="22677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data/*.txt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학습자료 넣기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85800" y="3977640"/>
            <a:ext cx="438912" cy="43891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52728" y="3968496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2314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인덱싱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252728" y="4543830"/>
            <a:ext cx="22677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02_ingest.py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faiss_index 생성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657600" y="3977640"/>
            <a:ext cx="438912" cy="438912"/>
          </a:xfrm>
          <a:prstGeom prst="rect">
            <a:avLst/>
          </a:prstGeom>
          <a:solidFill>
            <a:srgbClr val="12314F"/>
          </a:solidFill>
          <a:ln>
            <a:solidFill>
              <a:srgbClr val="12314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224528" y="3968496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2314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RAG 질의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4224528" y="4543830"/>
            <a:ext cx="22677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03_rag_qa.py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문서 기반 답변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629400" y="3977640"/>
            <a:ext cx="438912" cy="43891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6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196328" y="3968496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2314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웹 API화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7196328" y="4543830"/>
            <a:ext cx="226771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Flask /chat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POST 테스트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68680" y="5806440"/>
            <a:ext cx="1005840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2314F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주의: RAG QA 전에 반드시 Ingestion을 먼저 실행해야 합니다.</a:t>
            </a:r>
            <a:endParaRPr lang="en-US" sz="2300" dirty="0"/>
          </a:p>
        </p:txBody>
      </p:sp>
    </p:spTree>
  </p:cSld>
  <p:clrMapOvr>
    <a:masterClrMapping/>
  </p:clrMapOvr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7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>
                <a:solidFill>
                  <a:srgbClr val="64748b"/>
                </a:solidFill>
                <a:latin typeface="NanumBarunGothic"/>
                <a:ea typeface="NanumBarunGothic"/>
                <a:cs typeface="NanumBarunGothic"/>
              </a:rPr>
              <a:t>초보자용 LLM 응용 개발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ko-KR" altLang="en-US" sz="3100" b="1">
                <a:solidFill>
                  <a:srgbClr val="12314f"/>
                </a:solidFill>
                <a:latin typeface="NanumSquare"/>
                <a:ea typeface="NanumSquare"/>
                <a:cs typeface="NanumSquare"/>
              </a:rPr>
              <a:t>개발</a:t>
            </a:r>
            <a:r>
              <a:rPr lang="en-US" sz="3100" b="1">
                <a:solidFill>
                  <a:srgbClr val="12314f"/>
                </a:solidFill>
                <a:latin typeface="NanumSquare"/>
                <a:ea typeface="NanumSquare"/>
                <a:cs typeface="NanumSquare"/>
              </a:rPr>
              <a:t>자가 자주 만나는 오류</a:t>
            </a:r>
            <a:endParaRPr lang="en-US" sz="3100" b="1">
              <a:solidFill>
                <a:srgbClr val="12314f"/>
              </a:solidFill>
              <a:latin typeface="NanumSquare"/>
              <a:ea typeface="NanumSquare"/>
              <a:cs typeface="NanumSquare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064240" cy="0"/>
          </a:xfrm>
          <a:prstGeom prst="line">
            <a:avLst/>
          </a:prstGeom>
          <a:noFill/>
          <a:ln w="15240">
            <a:solidFill>
              <a:srgbClr val="dcebff"/>
            </a:solidFill>
            <a:prstDash val="solid"/>
          </a:ln>
        </p:spPr>
        <p:txBody>
          <a:bodyPr wrap="square"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r">
              <a:buNone/>
              <a:defRPr/>
            </a:pPr>
            <a:r>
              <a:rPr lang="en-US" sz="900">
                <a:solidFill>
                  <a:srgbClr val="9aa5b1"/>
                </a:solidFill>
                <a:latin typeface="NanumBarunGothic"/>
                <a:ea typeface="NanumBarunGothic"/>
                <a:cs typeface="NanumBarunGothic"/>
              </a:rPr>
              <a:t>17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411480"/>
          </a:xfrm>
          <a:prstGeom prst="rect">
            <a:avLst/>
          </a:prstGeom>
          <a:noFill/>
          <a:ln/>
        </p:spPr>
        <p:txBody>
          <a:bodyPr wrap="square" lIns="762" tIns="762" rIns="762" bIns="762" anchor="ctr">
            <a:normAutofit/>
          </a:bodyPr>
          <a:lstStyle/>
          <a:p>
            <a:pPr marL="0" lvl="0" indent="0" algn="l">
              <a:buNone/>
              <a:defRPr/>
            </a:pPr>
            <a:r>
              <a:rPr lang="en-US" sz="2500" b="1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오류는 대부분 서버 상태, 모델 이름, 파일 경로에서 발생합니다.</a:t>
            </a:r>
            <a:endParaRPr lang="en-US" sz="2500"/>
          </a:p>
        </p:txBody>
      </p:sp>
      <p:sp>
        <p:nvSpPr>
          <p:cNvPr id="8" name="Text 6"/>
          <p:cNvSpPr/>
          <p:nvPr/>
        </p:nvSpPr>
        <p:spPr>
          <a:xfrm>
            <a:off x="777240" y="2057400"/>
            <a:ext cx="3429000" cy="384048"/>
          </a:xfrm>
          <a:prstGeom prst="rect">
            <a:avLst/>
          </a:prstGeom>
          <a:noFill/>
          <a:ln/>
        </p:spPr>
        <p:txBody>
          <a:bodyPr wrap="square" lIns="1016" tIns="1016" rIns="1016" bIns="1016" anchor="ctr">
            <a:normAutofit/>
          </a:bodyPr>
          <a:lstStyle/>
          <a:p>
            <a:pPr marL="0" lvl="0" indent="0">
              <a:buNone/>
              <a:defRPr/>
            </a:pPr>
            <a:r>
              <a:rPr lang="en-US" sz="2100" b="1">
                <a:solidFill>
                  <a:srgbClr val="ef4444"/>
                </a:solidFill>
                <a:latin typeface="NanumSquare"/>
                <a:ea typeface="NanumSquare"/>
                <a:cs typeface="NanumSquare"/>
              </a:rPr>
              <a:t>연결 실패</a:t>
            </a:r>
            <a:endParaRPr lang="en-US" sz="2100"/>
          </a:p>
        </p:txBody>
      </p:sp>
      <p:sp>
        <p:nvSpPr>
          <p:cNvPr id="9" name="Text 7"/>
          <p:cNvSpPr/>
          <p:nvPr/>
        </p:nvSpPr>
        <p:spPr>
          <a:xfrm>
            <a:off x="777240" y="2621694"/>
            <a:ext cx="3429000" cy="914400"/>
          </a:xfrm>
          <a:prstGeom prst="rect">
            <a:avLst/>
          </a:prstGeom>
          <a:noFill/>
          <a:ln/>
        </p:spPr>
        <p:txBody>
          <a:bodyPr wrap="square" lIns="1016" tIns="1016" rIns="1016" bIns="1016" anchor="t">
            <a:normAutofit/>
          </a:bodyPr>
          <a:lstStyle/>
          <a:p>
            <a:pPr marL="0" lvl="0" indent="0">
              <a:buNone/>
              <a:defRPr/>
            </a:pPr>
            <a:r>
              <a:rPr lang="en-US" sz="21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Ollama 실행 여부 확인</a:t>
            </a:r>
            <a:endParaRPr lang="en-US" sz="21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1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11434 포트 확인</a:t>
            </a:r>
            <a:endParaRPr lang="en-US" sz="2100"/>
          </a:p>
        </p:txBody>
      </p:sp>
      <p:sp>
        <p:nvSpPr>
          <p:cNvPr id="10" name="Text 8"/>
          <p:cNvSpPr/>
          <p:nvPr/>
        </p:nvSpPr>
        <p:spPr>
          <a:xfrm>
            <a:off x="4434840" y="2057400"/>
            <a:ext cx="3429000" cy="384048"/>
          </a:xfrm>
          <a:prstGeom prst="rect">
            <a:avLst/>
          </a:prstGeom>
          <a:noFill/>
          <a:ln/>
        </p:spPr>
        <p:txBody>
          <a:bodyPr wrap="square" lIns="1016" tIns="1016" rIns="1016" bIns="1016" anchor="ctr">
            <a:normAutofit/>
          </a:bodyPr>
          <a:lstStyle/>
          <a:p>
            <a:pPr marL="0" lvl="0" indent="0">
              <a:buNone/>
              <a:defRPr/>
            </a:pPr>
            <a:r>
              <a:rPr lang="en-US" sz="2100" b="1">
                <a:solidFill>
                  <a:srgbClr val="f59e0b"/>
                </a:solidFill>
                <a:latin typeface="NanumSquare"/>
                <a:ea typeface="NanumSquare"/>
                <a:cs typeface="NanumSquare"/>
              </a:rPr>
              <a:t>모델 없음</a:t>
            </a:r>
            <a:endParaRPr lang="en-US" sz="2100"/>
          </a:p>
        </p:txBody>
      </p:sp>
      <p:sp>
        <p:nvSpPr>
          <p:cNvPr id="11" name="Text 9"/>
          <p:cNvSpPr/>
          <p:nvPr/>
        </p:nvSpPr>
        <p:spPr>
          <a:xfrm>
            <a:off x="4434840" y="2621694"/>
            <a:ext cx="3429000" cy="914400"/>
          </a:xfrm>
          <a:prstGeom prst="rect">
            <a:avLst/>
          </a:prstGeom>
          <a:noFill/>
          <a:ln/>
        </p:spPr>
        <p:txBody>
          <a:bodyPr wrap="square" lIns="1016" tIns="1016" rIns="1016" bIns="1016" anchor="t">
            <a:normAutofit/>
          </a:bodyPr>
          <a:lstStyle/>
          <a:p>
            <a:pPr marL="0" lvl="0" indent="0">
              <a:buNone/>
              <a:defRPr/>
            </a:pPr>
            <a:r>
              <a:rPr lang="en-US" sz="21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코드의 model 이름과</a:t>
            </a:r>
            <a:endParaRPr lang="en-US" sz="21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1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ollama list 결과 비교</a:t>
            </a:r>
            <a:endParaRPr lang="en-US" sz="2100"/>
          </a:p>
        </p:txBody>
      </p:sp>
      <p:sp>
        <p:nvSpPr>
          <p:cNvPr id="12" name="Text 10"/>
          <p:cNvSpPr/>
          <p:nvPr/>
        </p:nvSpPr>
        <p:spPr>
          <a:xfrm>
            <a:off x="8092440" y="2057400"/>
            <a:ext cx="3246120" cy="384048"/>
          </a:xfrm>
          <a:prstGeom prst="rect">
            <a:avLst/>
          </a:prstGeom>
          <a:noFill/>
          <a:ln/>
        </p:spPr>
        <p:txBody>
          <a:bodyPr wrap="square" lIns="1016" tIns="1016" rIns="1016" bIns="1016" anchor="ctr">
            <a:normAutofit/>
          </a:bodyPr>
          <a:lstStyle/>
          <a:p>
            <a:pPr marL="0" lvl="0" indent="0">
              <a:buNone/>
              <a:defRPr/>
            </a:pPr>
            <a:r>
              <a:rPr lang="en-US" sz="2100" b="1">
                <a:solidFill>
                  <a:srgbClr val="00a7a5"/>
                </a:solidFill>
                <a:latin typeface="NanumSquare"/>
                <a:ea typeface="NanumSquare"/>
                <a:cs typeface="NanumSquare"/>
              </a:rPr>
              <a:t>문서 없음</a:t>
            </a:r>
            <a:endParaRPr lang="en-US" sz="2100"/>
          </a:p>
        </p:txBody>
      </p:sp>
      <p:sp>
        <p:nvSpPr>
          <p:cNvPr id="13" name="Text 11"/>
          <p:cNvSpPr/>
          <p:nvPr/>
        </p:nvSpPr>
        <p:spPr>
          <a:xfrm>
            <a:off x="8092440" y="2621694"/>
            <a:ext cx="3246120" cy="914400"/>
          </a:xfrm>
          <a:prstGeom prst="rect">
            <a:avLst/>
          </a:prstGeom>
          <a:noFill/>
          <a:ln/>
        </p:spPr>
        <p:txBody>
          <a:bodyPr wrap="square" lIns="1016" tIns="1016" rIns="1016" bIns="1016" anchor="t">
            <a:normAutofit/>
          </a:bodyPr>
          <a:lstStyle/>
          <a:p>
            <a:pPr marL="0" lvl="0" indent="0">
              <a:buNone/>
              <a:defRPr/>
            </a:pPr>
            <a:r>
              <a:rPr lang="en-US" sz="21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data 폴더 위치와</a:t>
            </a:r>
            <a:endParaRPr lang="en-US" sz="21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1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.txt 파일 존재 확인</a:t>
            </a:r>
            <a:endParaRPr lang="en-US" sz="2100"/>
          </a:p>
        </p:txBody>
      </p:sp>
      <p:sp>
        <p:nvSpPr>
          <p:cNvPr id="14" name="Text 12"/>
          <p:cNvSpPr/>
          <p:nvPr/>
        </p:nvSpPr>
        <p:spPr>
          <a:xfrm>
            <a:off x="777240" y="4251960"/>
            <a:ext cx="3429000" cy="384048"/>
          </a:xfrm>
          <a:prstGeom prst="rect">
            <a:avLst/>
          </a:prstGeom>
          <a:noFill/>
          <a:ln/>
        </p:spPr>
        <p:txBody>
          <a:bodyPr wrap="square" lIns="1016" tIns="1016" rIns="1016" bIns="1016" anchor="ctr">
            <a:normAutofit/>
          </a:bodyPr>
          <a:lstStyle/>
          <a:p>
            <a:pPr marL="0" lvl="0" indent="0">
              <a:buNone/>
              <a:defRPr/>
            </a:pPr>
            <a:r>
              <a:rPr lang="en-US" sz="2100" b="1">
                <a:solidFill>
                  <a:srgbClr val="246bfe"/>
                </a:solidFill>
                <a:latin typeface="NanumSquare"/>
                <a:ea typeface="NanumSquare"/>
                <a:cs typeface="NanumSquare"/>
              </a:rPr>
              <a:t>FAISS 오류</a:t>
            </a:r>
            <a:endParaRPr lang="en-US" sz="2100"/>
          </a:p>
        </p:txBody>
      </p:sp>
      <p:sp>
        <p:nvSpPr>
          <p:cNvPr id="15" name="Text 13"/>
          <p:cNvSpPr/>
          <p:nvPr/>
        </p:nvSpPr>
        <p:spPr>
          <a:xfrm>
            <a:off x="777240" y="4816254"/>
            <a:ext cx="3429000" cy="777240"/>
          </a:xfrm>
          <a:prstGeom prst="rect">
            <a:avLst/>
          </a:prstGeom>
          <a:noFill/>
          <a:ln/>
        </p:spPr>
        <p:txBody>
          <a:bodyPr wrap="square" lIns="1016" tIns="1016" rIns="1016" bIns="1016" anchor="t">
            <a:normAutofit/>
          </a:bodyPr>
          <a:lstStyle/>
          <a:p>
            <a:pPr marL="0" lvl="0" indent="0">
              <a:buNone/>
              <a:defRPr/>
            </a:pPr>
            <a:r>
              <a:rPr lang="en-US" sz="21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인덱싱을 먼저 실행했는지</a:t>
            </a:r>
            <a:endParaRPr lang="en-US" sz="21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1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faiss_index 폴더 확인</a:t>
            </a:r>
            <a:endParaRPr lang="en-US" sz="2100"/>
          </a:p>
        </p:txBody>
      </p:sp>
      <p:sp>
        <p:nvSpPr>
          <p:cNvPr id="16" name="Text 14"/>
          <p:cNvSpPr/>
          <p:nvPr/>
        </p:nvSpPr>
        <p:spPr>
          <a:xfrm>
            <a:off x="4434840" y="4251960"/>
            <a:ext cx="3429000" cy="384048"/>
          </a:xfrm>
          <a:prstGeom prst="rect">
            <a:avLst/>
          </a:prstGeom>
          <a:noFill/>
          <a:ln/>
        </p:spPr>
        <p:txBody>
          <a:bodyPr wrap="square" lIns="1016" tIns="1016" rIns="1016" bIns="1016" anchor="ctr">
            <a:normAutofit/>
          </a:bodyPr>
          <a:lstStyle/>
          <a:p>
            <a:pPr marL="0" lvl="0" indent="0">
              <a:buNone/>
              <a:defRPr/>
            </a:pPr>
            <a:r>
              <a:rPr lang="en-US" sz="2100" b="1">
                <a:solidFill>
                  <a:srgbClr val="7c3aed"/>
                </a:solidFill>
                <a:latin typeface="NanumSquare"/>
                <a:ea typeface="NanumSquare"/>
                <a:cs typeface="NanumSquare"/>
              </a:rPr>
              <a:t>응답 느림</a:t>
            </a:r>
            <a:endParaRPr lang="en-US" sz="2100"/>
          </a:p>
        </p:txBody>
      </p:sp>
      <p:sp>
        <p:nvSpPr>
          <p:cNvPr id="17" name="Text 15"/>
          <p:cNvSpPr/>
          <p:nvPr/>
        </p:nvSpPr>
        <p:spPr>
          <a:xfrm>
            <a:off x="4434840" y="4816254"/>
            <a:ext cx="3429000" cy="777240"/>
          </a:xfrm>
          <a:prstGeom prst="rect">
            <a:avLst/>
          </a:prstGeom>
          <a:noFill/>
          <a:ln/>
        </p:spPr>
        <p:txBody>
          <a:bodyPr wrap="square" lIns="1016" tIns="1016" rIns="1016" bIns="1016" anchor="t">
            <a:normAutofit fontScale="92500" lnSpcReduction="10000"/>
          </a:bodyPr>
          <a:lstStyle/>
          <a:p>
            <a:pPr marL="0" lvl="0" indent="0">
              <a:buNone/>
              <a:defRPr/>
            </a:pPr>
            <a:r>
              <a:rPr lang="en-US" sz="21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모델 크기 축소</a:t>
            </a:r>
            <a:endParaRPr lang="en-US" sz="21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1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timeout 증가</a:t>
            </a:r>
            <a:endParaRPr lang="en-US" sz="21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1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입력 길이 축소</a:t>
            </a:r>
            <a:endParaRPr lang="en-US" sz="2100"/>
          </a:p>
        </p:txBody>
      </p:sp>
      <p:sp>
        <p:nvSpPr>
          <p:cNvPr id="18" name="Text 16"/>
          <p:cNvSpPr/>
          <p:nvPr/>
        </p:nvSpPr>
        <p:spPr>
          <a:xfrm>
            <a:off x="8092440" y="4251960"/>
            <a:ext cx="3246120" cy="384048"/>
          </a:xfrm>
          <a:prstGeom prst="rect">
            <a:avLst/>
          </a:prstGeom>
          <a:noFill/>
          <a:ln/>
        </p:spPr>
        <p:txBody>
          <a:bodyPr wrap="square" lIns="1016" tIns="1016" rIns="1016" bIns="1016" anchor="ctr">
            <a:normAutofit/>
          </a:bodyPr>
          <a:lstStyle/>
          <a:p>
            <a:pPr marL="0" lvl="0" indent="0">
              <a:buNone/>
              <a:defRPr/>
            </a:pPr>
            <a:r>
              <a:rPr lang="en-US" sz="2100" b="1">
                <a:solidFill>
                  <a:srgbClr val="12314f"/>
                </a:solidFill>
                <a:latin typeface="NanumSquare"/>
                <a:ea typeface="NanumSquare"/>
                <a:cs typeface="NanumSquare"/>
              </a:rPr>
              <a:t>엉뚱한 답변</a:t>
            </a:r>
            <a:endParaRPr lang="en-US" sz="2100"/>
          </a:p>
        </p:txBody>
      </p:sp>
      <p:sp>
        <p:nvSpPr>
          <p:cNvPr id="19" name="Text 17"/>
          <p:cNvSpPr/>
          <p:nvPr/>
        </p:nvSpPr>
        <p:spPr>
          <a:xfrm>
            <a:off x="8092440" y="4816254"/>
            <a:ext cx="3246120" cy="777240"/>
          </a:xfrm>
          <a:prstGeom prst="rect">
            <a:avLst/>
          </a:prstGeom>
          <a:noFill/>
          <a:ln/>
        </p:spPr>
        <p:txBody>
          <a:bodyPr wrap="square" lIns="1016" tIns="1016" rIns="1016" bIns="1016" anchor="t">
            <a:normAutofit/>
          </a:bodyPr>
          <a:lstStyle/>
          <a:p>
            <a:pPr marL="0" lvl="0" indent="0">
              <a:buNone/>
              <a:defRPr/>
            </a:pPr>
            <a:r>
              <a:rPr lang="en-US" sz="21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system prompt 강화</a:t>
            </a:r>
            <a:endParaRPr lang="en-US" sz="21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1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“문서만 사용” 규칙 강화</a:t>
            </a:r>
            <a:endParaRPr lang="en-US" sz="2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초보자용 LLM 응용 개발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2314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미니 프로젝트: 수업자료 Q&amp;A API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064240" cy="0"/>
          </a:xfrm>
          <a:prstGeom prst="line">
            <a:avLst/>
          </a:prstGeom>
          <a:noFill/>
          <a:ln w="15240">
            <a:solidFill>
              <a:srgbClr val="DCE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789920" cy="411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최종 산출물은 “내 자료를 읽고 답하는 간단한 웹 API”입니다.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868680" y="2331720"/>
            <a:ext cx="438912" cy="438912"/>
          </a:xfrm>
          <a:prstGeom prst="rect">
            <a:avLst/>
          </a:prstGeom>
          <a:solidFill>
            <a:srgbClr val="246BFE"/>
          </a:solidFill>
          <a:ln>
            <a:solidFill>
              <a:srgbClr val="246BF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35608" y="2322576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2314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자료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435608" y="2980289"/>
            <a:ext cx="1810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강의안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매뉴얼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FAQ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29000" y="2331720"/>
            <a:ext cx="438912" cy="43891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995928" y="2322576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2314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인덱스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995928" y="2980289"/>
            <a:ext cx="1810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분할·임베딩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FAISS 저장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89320" y="2331720"/>
            <a:ext cx="438912" cy="438912"/>
          </a:xfrm>
          <a:prstGeom prst="rect">
            <a:avLst/>
          </a:prstGeom>
          <a:solidFill>
            <a:srgbClr val="00A7A5"/>
          </a:solidFill>
          <a:ln>
            <a:solidFill>
              <a:srgbClr val="00A7A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56248" y="2322576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2314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질의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556248" y="2980289"/>
            <a:ext cx="1810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질문 입력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관련 문서 검색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549640" y="2331720"/>
            <a:ext cx="438912" cy="43891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16568" y="2322576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2314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답변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116568" y="2980289"/>
            <a:ext cx="18105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근거 기반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72033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요약·안내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68680" y="4800600"/>
            <a:ext cx="237744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46BFE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완성 판단 기준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3337560" y="4645152"/>
            <a:ext cx="7589520" cy="621792"/>
          </a:xfrm>
          <a:prstGeom prst="rect">
            <a:avLst/>
          </a:prstGeom>
          <a:solidFill>
            <a:srgbClr val="EAF2FF"/>
          </a:solidFill>
          <a:ln w="10160">
            <a:solidFill>
              <a:srgbClr val="EAF2FF"/>
            </a:solidFill>
          </a:ln>
        </p:spPr>
        <p:txBody>
          <a:bodyPr wrap="square" lIns="762" tIns="762" rIns="762" bIns="762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2314F"/>
                </a:solidFill>
                <a:latin typeface="NanumBarunGothic" pitchFamily="34" charset="0"/>
                <a:ea typeface="NanumBarunGothic" pitchFamily="34" charset="-122"/>
                <a:cs typeface="NanumBarunGothic" pitchFamily="34" charset="-120"/>
              </a:rPr>
              <a:t>웹 API가 JSON 답변을 반환하고, 답변이 내가 넣은 문서 내용에 근거한다.</a:t>
            </a:r>
            <a:endParaRPr lang="en-US" sz="2500" dirty="0"/>
          </a:p>
        </p:txBody>
      </p:sp>
    </p:spTree>
  </p:cSld>
  <p:clrMapOvr>
    <a:masterClrMapping/>
  </p:clrMapOvr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9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48603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>
                <a:solidFill>
                  <a:srgbClr val="64748b"/>
                </a:solidFill>
                <a:latin typeface="NanumBarunGothic"/>
                <a:ea typeface="NanumBarunGothic"/>
                <a:cs typeface="NanumBarunGothic"/>
              </a:rPr>
              <a:t>초보자용 LLM 응용 개발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3100" b="1">
                <a:solidFill>
                  <a:srgbClr val="12314f"/>
                </a:solidFill>
                <a:latin typeface="NanumSquare"/>
                <a:ea typeface="NanumSquare"/>
                <a:cs typeface="NanumSquare"/>
              </a:rPr>
              <a:t>정리</a:t>
            </a:r>
            <a:endParaRPr lang="en-US" sz="310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064240" cy="0"/>
          </a:xfrm>
          <a:prstGeom prst="line">
            <a:avLst/>
          </a:prstGeom>
          <a:noFill/>
          <a:ln w="15240">
            <a:solidFill>
              <a:srgbClr val="dcebff"/>
            </a:solidFill>
            <a:prstDash val="solid"/>
          </a:ln>
        </p:spPr>
        <p:txBody>
          <a:bodyPr wrap="square"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1384280" y="644652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r">
              <a:buNone/>
              <a:defRPr/>
            </a:pPr>
            <a:r>
              <a:rPr lang="en-US" sz="900">
                <a:solidFill>
                  <a:srgbClr val="9aa5b1"/>
                </a:solidFill>
                <a:latin typeface="NanumBarunGothic"/>
                <a:ea typeface="NanumBarunGothic"/>
                <a:cs typeface="NanumBarunGothic"/>
              </a:rPr>
              <a:t>19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731520" y="1600200"/>
            <a:ext cx="10789920" cy="548640"/>
          </a:xfrm>
          <a:prstGeom prst="rect">
            <a:avLst/>
          </a:prstGeom>
          <a:noFill/>
          <a:ln/>
        </p:spPr>
        <p:txBody>
          <a:bodyPr wrap="square" lIns="762" tIns="762" rIns="762" bIns="762" anchor="ctr">
            <a:normAutofit lnSpcReduction="10000"/>
          </a:bodyPr>
          <a:lstStyle/>
          <a:p>
            <a:pPr marL="0" lvl="0" indent="0" algn="l">
              <a:buNone/>
              <a:defRPr/>
            </a:pPr>
            <a:r>
              <a:rPr lang="en-US" sz="2700" b="1">
                <a:solidFill>
                  <a:srgbClr val="12314f"/>
                </a:solidFill>
                <a:latin typeface="NanumBarunGothic"/>
                <a:ea typeface="NanumBarunGothic"/>
                <a:cs typeface="NanumBarunGothic"/>
              </a:rPr>
              <a:t>LLM 응용 개발은 “모델 + 코드 + 데이터 + API”를 연결하는 작업입니다.</a:t>
            </a:r>
            <a:endParaRPr lang="en-US" sz="2700"/>
          </a:p>
        </p:txBody>
      </p:sp>
      <p:sp>
        <p:nvSpPr>
          <p:cNvPr id="8" name="Text 6"/>
          <p:cNvSpPr/>
          <p:nvPr/>
        </p:nvSpPr>
        <p:spPr>
          <a:xfrm>
            <a:off x="1005840" y="2468880"/>
            <a:ext cx="10058400" cy="2377440"/>
          </a:xfrm>
          <a:prstGeom prst="rect">
            <a:avLst/>
          </a:prstGeom>
          <a:noFill/>
          <a:ln/>
        </p:spPr>
        <p:txBody>
          <a:bodyPr wrap="square" lIns="1016" tIns="1016" rIns="1016" bIns="1016" anchor="t">
            <a:normAutofit/>
          </a:bodyPr>
          <a:lstStyle/>
          <a:p>
            <a:pPr marL="0" lvl="0" indent="0">
              <a:buNone/>
              <a:defRPr/>
            </a:pPr>
            <a:r>
              <a:rPr lang="en-US" sz="24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• Ollama: 로컬 LLM을 API처럼 호출한다</a:t>
            </a:r>
            <a:endParaRPr lang="en-US" sz="24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4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• Flask: 사용자 요청과 LLM 응답을 제어한다</a:t>
            </a:r>
            <a:endParaRPr lang="en-US" sz="24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4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• LangChain: Prompt와 LLM 흐름을 표준화한다</a:t>
            </a:r>
            <a:endParaRPr lang="en-US" sz="24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4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• RAG: 내 문서를 검색해 근거 기반 답변을 만든다</a:t>
            </a:r>
            <a:endParaRPr lang="en-US" sz="2400">
              <a:solidFill>
                <a:srgbClr val="172033"/>
              </a:solidFill>
              <a:latin typeface="NanumBarunGothic"/>
              <a:ea typeface="NanumBarunGothic"/>
              <a:cs typeface="NanumBarunGothic"/>
            </a:endParaRPr>
          </a:p>
          <a:p>
            <a:pPr marL="0" lvl="0" indent="0">
              <a:buNone/>
              <a:defRPr/>
            </a:pPr>
            <a:r>
              <a:rPr lang="en-US" sz="24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• </a:t>
            </a:r>
            <a:r>
              <a:rPr lang="ko-KR" altLang="en-US" sz="24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개발</a:t>
            </a:r>
            <a:r>
              <a:rPr lang="en-US" sz="2400">
                <a:solidFill>
                  <a:srgbClr val="172033"/>
                </a:solidFill>
                <a:latin typeface="NanumBarunGothic"/>
                <a:ea typeface="NanumBarunGothic"/>
                <a:cs typeface="NanumBarunGothic"/>
              </a:rPr>
              <a:t>자는 Basic QA → Flask → RAG 순서로 확장한다</a:t>
            </a:r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1005840" y="5559552"/>
            <a:ext cx="2011680" cy="411480"/>
          </a:xfrm>
          <a:prstGeom prst="rect">
            <a:avLst/>
          </a:prstGeom>
          <a:noFill/>
          <a:ln/>
        </p:spPr>
        <p:txBody>
          <a:bodyPr wrap="square" lIns="762" tIns="762" rIns="762" bIns="762" anchor="ctr">
            <a:normAutofit fontScale="92500" lnSpcReduction="10000"/>
          </a:bodyPr>
          <a:lstStyle/>
          <a:p>
            <a:pPr marL="0" lvl="0" indent="0" algn="l">
              <a:buNone/>
              <a:defRPr/>
            </a:pPr>
            <a:r>
              <a:rPr lang="en-US" sz="3100" b="1">
                <a:solidFill>
                  <a:srgbClr val="246bfe"/>
                </a:solidFill>
                <a:latin typeface="NanumBarunGothic"/>
                <a:ea typeface="NanumBarunGothic"/>
                <a:cs typeface="NanumBarunGothic"/>
              </a:rPr>
              <a:t>Q &amp; A</a:t>
            </a:r>
            <a:endParaRPr lang="en-US" sz="3100"/>
          </a:p>
        </p:txBody>
      </p:sp>
      <p:sp>
        <p:nvSpPr>
          <p:cNvPr id="10" name="Text 8"/>
          <p:cNvSpPr/>
          <p:nvPr/>
        </p:nvSpPr>
        <p:spPr>
          <a:xfrm>
            <a:off x="8869680" y="5577840"/>
            <a:ext cx="2377440" cy="347472"/>
          </a:xfrm>
          <a:prstGeom prst="rect">
            <a:avLst/>
          </a:prstGeom>
          <a:noFill/>
          <a:ln/>
        </p:spPr>
        <p:txBody>
          <a:bodyPr wrap="square" lIns="762" tIns="762" rIns="762" bIns="762" anchor="ctr">
            <a:normAutofit lnSpcReduction="10000"/>
          </a:bodyPr>
          <a:lstStyle/>
          <a:p>
            <a:pPr marL="0" lvl="0" indent="0" algn="r">
              <a:buNone/>
              <a:defRPr/>
            </a:pPr>
            <a:r>
              <a:rPr lang="en-US" sz="2400" b="1"/>
              <a:t>Thank for you</a:t>
            </a:r>
            <a:endParaRPr lang="en-US" sz="24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Square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BarunGothic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OpenAI</ep:Company>
  <ep:Words>1008</ep:Words>
  <ep:PresentationFormat>와이드스크린</ep:PresentationFormat>
  <ep:Paragraphs>389</ep:Paragraphs>
  <ep:Slides>18</ep:Slides>
  <ep:Notes>18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ep:HeadingPairs>
  <ep:TitlesOfParts>
    <vt:vector size="19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2026-08-19T02:51:55.000</dcterms:created>
  <dc:creator>OpenAI</dc:creator>
  <cp:lastModifiedBy>김완석</cp:lastModifiedBy>
  <dcterms:modified xsi:type="dcterms:W3CDTF">2026-08-25T01:25:22.783</dcterms:modified>
  <cp:revision>7</cp:revision>
  <dc:subject>초보자용 LLM 응용 개발 교육자료</dc:subject>
  <dc:title>초보자용 LLM 응용 개발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